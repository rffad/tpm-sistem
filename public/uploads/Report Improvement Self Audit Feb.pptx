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7" r:id="rId4"/>
    <p:sldId id="260" r:id="rId5"/>
    <p:sldId id="259" r:id="rId6"/>
    <p:sldId id="262" r:id="rId7"/>
    <p:sldId id="266"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04" autoAdjust="0"/>
    <p:restoredTop sz="95824" autoAdjust="0"/>
  </p:normalViewPr>
  <p:slideViewPr>
    <p:cSldViewPr snapToGrid="0">
      <p:cViewPr varScale="1">
        <p:scale>
          <a:sx n="95" d="100"/>
          <a:sy n="95" d="100"/>
        </p:scale>
        <p:origin x="125"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827529088134762"/>
          <c:y val="0.17290133797940538"/>
          <c:w val="0.51796428084467072"/>
          <c:h val="0.63979539413433406"/>
        </c:manualLayout>
      </c:layout>
      <c:radarChart>
        <c:radarStyle val="marker"/>
        <c:varyColors val="0"/>
        <c:ser>
          <c:idx val="0"/>
          <c:order val="0"/>
          <c:tx>
            <c:strRef>
              <c:f>Sheet1!$B$6</c:f>
              <c:strCache>
                <c:ptCount val="1"/>
                <c:pt idx="0">
                  <c:v>TARGET</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Sheet1!$A$7:$A$11</c:f>
              <c:strCache>
                <c:ptCount val="5"/>
                <c:pt idx="0">
                  <c:v>MSK</c:v>
                </c:pt>
                <c:pt idx="1">
                  <c:v>KT</c:v>
                </c:pt>
                <c:pt idx="2">
                  <c:v>PSSP</c:v>
                </c:pt>
                <c:pt idx="3">
                  <c:v>PNG </c:v>
                </c:pt>
                <c:pt idx="4">
                  <c:v>KAO</c:v>
                </c:pt>
              </c:strCache>
            </c:strRef>
          </c:cat>
          <c:val>
            <c:numRef>
              <c:f>Sheet1!$B$7:$B$11</c:f>
              <c:numCache>
                <c:formatCode>General</c:formatCode>
                <c:ptCount val="5"/>
                <c:pt idx="0">
                  <c:v>3</c:v>
                </c:pt>
                <c:pt idx="1">
                  <c:v>3</c:v>
                </c:pt>
                <c:pt idx="2">
                  <c:v>3</c:v>
                </c:pt>
                <c:pt idx="3">
                  <c:v>3</c:v>
                </c:pt>
                <c:pt idx="4">
                  <c:v>3</c:v>
                </c:pt>
              </c:numCache>
            </c:numRef>
          </c:val>
          <c:extLst>
            <c:ext xmlns:c16="http://schemas.microsoft.com/office/drawing/2014/chart" uri="{C3380CC4-5D6E-409C-BE32-E72D297353CC}">
              <c16:uniqueId val="{00000000-7E8F-445D-A281-D590B75C48C3}"/>
            </c:ext>
          </c:extLst>
        </c:ser>
        <c:ser>
          <c:idx val="1"/>
          <c:order val="1"/>
          <c:tx>
            <c:strRef>
              <c:f>Sheet1!$C$6</c:f>
              <c:strCache>
                <c:ptCount val="1"/>
                <c:pt idx="0">
                  <c:v>SELF AUDIT</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Sheet1!$A$7:$A$11</c:f>
              <c:strCache>
                <c:ptCount val="5"/>
                <c:pt idx="0">
                  <c:v>MSK</c:v>
                </c:pt>
                <c:pt idx="1">
                  <c:v>KT</c:v>
                </c:pt>
                <c:pt idx="2">
                  <c:v>PSSP</c:v>
                </c:pt>
                <c:pt idx="3">
                  <c:v>PNG </c:v>
                </c:pt>
                <c:pt idx="4">
                  <c:v>KAO</c:v>
                </c:pt>
              </c:strCache>
            </c:strRef>
          </c:cat>
          <c:val>
            <c:numRef>
              <c:f>Sheet1!$C$7:$C$11</c:f>
              <c:numCache>
                <c:formatCode>General</c:formatCode>
                <c:ptCount val="5"/>
                <c:pt idx="0">
                  <c:v>0</c:v>
                </c:pt>
                <c:pt idx="1">
                  <c:v>3</c:v>
                </c:pt>
                <c:pt idx="2">
                  <c:v>0</c:v>
                </c:pt>
                <c:pt idx="3">
                  <c:v>0</c:v>
                </c:pt>
                <c:pt idx="4">
                  <c:v>2</c:v>
                </c:pt>
              </c:numCache>
            </c:numRef>
          </c:val>
          <c:extLst>
            <c:ext xmlns:c16="http://schemas.microsoft.com/office/drawing/2014/chart" uri="{C3380CC4-5D6E-409C-BE32-E72D297353CC}">
              <c16:uniqueId val="{00000001-7E8F-445D-A281-D590B75C48C3}"/>
            </c:ext>
          </c:extLst>
        </c:ser>
        <c:ser>
          <c:idx val="2"/>
          <c:order val="2"/>
          <c:tx>
            <c:strRef>
              <c:f>Sheet1!$D$6</c:f>
              <c:strCache>
                <c:ptCount val="1"/>
                <c:pt idx="0">
                  <c:v>YIMM VERIF</c:v>
                </c:pt>
              </c:strCache>
            </c:strRef>
          </c:tx>
          <c:spPr>
            <a:ln w="28575" cap="rnd">
              <a:solidFill>
                <a:srgbClr val="FF0000"/>
              </a:solidFill>
              <a:round/>
            </a:ln>
            <a:effectLst/>
          </c:spPr>
          <c:marker>
            <c:symbol val="circle"/>
            <c:size val="5"/>
            <c:spPr>
              <a:solidFill>
                <a:srgbClr val="FF0000"/>
              </a:solidFill>
              <a:ln w="9525">
                <a:solidFill>
                  <a:schemeClr val="accent3"/>
                </a:solidFill>
              </a:ln>
              <a:effectLst/>
            </c:spPr>
          </c:marker>
          <c:cat>
            <c:strRef>
              <c:f>Sheet1!$A$7:$A$11</c:f>
              <c:strCache>
                <c:ptCount val="5"/>
                <c:pt idx="0">
                  <c:v>MSK</c:v>
                </c:pt>
                <c:pt idx="1">
                  <c:v>KT</c:v>
                </c:pt>
                <c:pt idx="2">
                  <c:v>PSSP</c:v>
                </c:pt>
                <c:pt idx="3">
                  <c:v>PNG </c:v>
                </c:pt>
                <c:pt idx="4">
                  <c:v>KAO</c:v>
                </c:pt>
              </c:strCache>
            </c:strRef>
          </c:cat>
          <c:val>
            <c:numRef>
              <c:f>Sheet1!$D$7:$D$11</c:f>
              <c:numCache>
                <c:formatCode>General</c:formatCode>
                <c:ptCount val="5"/>
              </c:numCache>
            </c:numRef>
          </c:val>
          <c:extLst>
            <c:ext xmlns:c16="http://schemas.microsoft.com/office/drawing/2014/chart" uri="{C3380CC4-5D6E-409C-BE32-E72D297353CC}">
              <c16:uniqueId val="{00000002-7E8F-445D-A281-D590B75C48C3}"/>
            </c:ext>
          </c:extLst>
        </c:ser>
        <c:dLbls>
          <c:showLegendKey val="0"/>
          <c:showVal val="0"/>
          <c:showCatName val="0"/>
          <c:showSerName val="0"/>
          <c:showPercent val="0"/>
          <c:showBubbleSize val="0"/>
        </c:dLbls>
        <c:axId val="658604920"/>
        <c:axId val="658608200"/>
      </c:radarChart>
      <c:catAx>
        <c:axId val="6586049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id-ID"/>
          </a:p>
        </c:txPr>
        <c:crossAx val="658608200"/>
        <c:crosses val="autoZero"/>
        <c:auto val="1"/>
        <c:lblAlgn val="ctr"/>
        <c:lblOffset val="100"/>
        <c:noMultiLvlLbl val="0"/>
      </c:catAx>
      <c:valAx>
        <c:axId val="658608200"/>
        <c:scaling>
          <c:orientation val="minMax"/>
          <c:max val="5"/>
          <c:min val="0"/>
        </c:scaling>
        <c:delete val="0"/>
        <c:axPos val="l"/>
        <c:majorGridlines>
          <c:spPr>
            <a:ln w="9525" cap="flat" cmpd="sng" algn="ctr">
              <a:solidFill>
                <a:schemeClr val="tx1"/>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id-ID"/>
          </a:p>
        </c:txPr>
        <c:crossAx val="658604920"/>
        <c:crosses val="autoZero"/>
        <c:crossBetween val="between"/>
        <c:majorUnit val="1"/>
      </c:valAx>
      <c:spPr>
        <a:noFill/>
        <a:ln>
          <a:noFill/>
        </a:ln>
        <a:effectLst/>
      </c:spPr>
    </c:plotArea>
    <c:legend>
      <c:legendPos val="t"/>
      <c:layout>
        <c:manualLayout>
          <c:xMode val="edge"/>
          <c:yMode val="edge"/>
          <c:x val="0.10032047491481792"/>
          <c:y val="0.86421050280327916"/>
          <c:w val="0.82107293453537644"/>
          <c:h val="7.5184614353682233E-2"/>
        </c:manualLayout>
      </c:layout>
      <c:overlay val="0"/>
      <c:spPr>
        <a:noFill/>
        <a:ln>
          <a:noFill/>
        </a:ln>
        <a:effectLst/>
      </c:spPr>
      <c:txPr>
        <a:bodyPr rot="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id-ID"/>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id-ID"/>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5171D98-C530-412A-88C7-3DD3B5ECF298}"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DA60AD-648D-464F-9966-4778EB1A217E}" type="slidenum">
              <a:rPr lang="en-US" smtClean="0"/>
              <a:t>‹#›</a:t>
            </a:fld>
            <a:endParaRPr lang="en-US"/>
          </a:p>
        </p:txBody>
      </p:sp>
    </p:spTree>
    <p:extLst>
      <p:ext uri="{BB962C8B-B14F-4D97-AF65-F5344CB8AC3E}">
        <p14:creationId xmlns:p14="http://schemas.microsoft.com/office/powerpoint/2010/main" val="27591309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5171D98-C530-412A-88C7-3DD3B5ECF298}"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DA60AD-648D-464F-9966-4778EB1A217E}" type="slidenum">
              <a:rPr lang="en-US" smtClean="0"/>
              <a:t>‹#›</a:t>
            </a:fld>
            <a:endParaRPr lang="en-US"/>
          </a:p>
        </p:txBody>
      </p:sp>
    </p:spTree>
    <p:extLst>
      <p:ext uri="{BB962C8B-B14F-4D97-AF65-F5344CB8AC3E}">
        <p14:creationId xmlns:p14="http://schemas.microsoft.com/office/powerpoint/2010/main" val="26687083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171D98-C530-412A-88C7-3DD3B5ECF298}"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DA60AD-648D-464F-9966-4778EB1A217E}" type="slidenum">
              <a:rPr lang="en-US" smtClean="0"/>
              <a:t>‹#›</a:t>
            </a:fld>
            <a:endParaRPr lang="en-US"/>
          </a:p>
        </p:txBody>
      </p:sp>
    </p:spTree>
    <p:extLst>
      <p:ext uri="{BB962C8B-B14F-4D97-AF65-F5344CB8AC3E}">
        <p14:creationId xmlns:p14="http://schemas.microsoft.com/office/powerpoint/2010/main" val="31349567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5171D98-C530-412A-88C7-3DD3B5ECF298}" type="datetimeFigureOut">
              <a:rPr lang="en-US" smtClean="0"/>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DA60AD-648D-464F-9966-4778EB1A217E}" type="slidenum">
              <a:rPr lang="en-US" smtClean="0"/>
              <a:t>‹#›</a:t>
            </a:fld>
            <a:endParaRPr lang="en-US"/>
          </a:p>
        </p:txBody>
      </p:sp>
    </p:spTree>
    <p:extLst>
      <p:ext uri="{BB962C8B-B14F-4D97-AF65-F5344CB8AC3E}">
        <p14:creationId xmlns:p14="http://schemas.microsoft.com/office/powerpoint/2010/main" val="8916246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5171D98-C530-412A-88C7-3DD3B5ECF298}" type="datetimeFigureOut">
              <a:rPr lang="en-US" smtClean="0"/>
              <a:t>2/17/2026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7DA60AD-648D-464F-9966-4778EB1A217E}" type="slidenum">
              <a:rPr lang="en-US" smtClean="0"/>
              <a:t>‹#›</a:t>
            </a:fld>
            <a:endParaRPr lang="en-US"/>
          </a:p>
        </p:txBody>
      </p:sp>
    </p:spTree>
    <p:extLst>
      <p:ext uri="{BB962C8B-B14F-4D97-AF65-F5344CB8AC3E}">
        <p14:creationId xmlns:p14="http://schemas.microsoft.com/office/powerpoint/2010/main" val="1491832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5171D98-C530-412A-88C7-3DD3B5ECF298}" type="datetimeFigureOut">
              <a:rPr lang="en-US" smtClean="0"/>
              <a:t>2/17/2026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7DA60AD-648D-464F-9966-4778EB1A217E}" type="slidenum">
              <a:rPr lang="en-US" smtClean="0"/>
              <a:t>‹#›</a:t>
            </a:fld>
            <a:endParaRPr lang="en-US"/>
          </a:p>
        </p:txBody>
      </p:sp>
    </p:spTree>
    <p:extLst>
      <p:ext uri="{BB962C8B-B14F-4D97-AF65-F5344CB8AC3E}">
        <p14:creationId xmlns:p14="http://schemas.microsoft.com/office/powerpoint/2010/main" val="39446961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171D98-C530-412A-88C7-3DD3B5ECF298}" type="datetimeFigureOut">
              <a:rPr lang="en-US" smtClean="0"/>
              <a:t>2/17/2026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7DA60AD-648D-464F-9966-4778EB1A217E}" type="slidenum">
              <a:rPr lang="en-US" smtClean="0"/>
              <a:t>‹#›</a:t>
            </a:fld>
            <a:endParaRPr lang="en-US"/>
          </a:p>
        </p:txBody>
      </p:sp>
    </p:spTree>
    <p:extLst>
      <p:ext uri="{BB962C8B-B14F-4D97-AF65-F5344CB8AC3E}">
        <p14:creationId xmlns:p14="http://schemas.microsoft.com/office/powerpoint/2010/main" val="3679307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5171D98-C530-412A-88C7-3DD3B5ECF298}" type="datetimeFigureOut">
              <a:rPr lang="en-US" smtClean="0"/>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DA60AD-648D-464F-9966-4778EB1A217E}" type="slidenum">
              <a:rPr lang="en-US" smtClean="0"/>
              <a:t>‹#›</a:t>
            </a:fld>
            <a:endParaRPr lang="en-US"/>
          </a:p>
        </p:txBody>
      </p:sp>
    </p:spTree>
    <p:extLst>
      <p:ext uri="{BB962C8B-B14F-4D97-AF65-F5344CB8AC3E}">
        <p14:creationId xmlns:p14="http://schemas.microsoft.com/office/powerpoint/2010/main" val="16724631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5171D98-C530-412A-88C7-3DD3B5ECF298}" type="datetimeFigureOut">
              <a:rPr lang="en-US" smtClean="0"/>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DA60AD-648D-464F-9966-4778EB1A217E}" type="slidenum">
              <a:rPr lang="en-US" smtClean="0"/>
              <a:t>‹#›</a:t>
            </a:fld>
            <a:endParaRPr lang="en-US"/>
          </a:p>
        </p:txBody>
      </p:sp>
    </p:spTree>
    <p:extLst>
      <p:ext uri="{BB962C8B-B14F-4D97-AF65-F5344CB8AC3E}">
        <p14:creationId xmlns:p14="http://schemas.microsoft.com/office/powerpoint/2010/main" val="16634004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5171D98-C530-412A-88C7-3DD3B5ECF298}"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DA60AD-648D-464F-9966-4778EB1A217E}" type="slidenum">
              <a:rPr lang="en-US" smtClean="0"/>
              <a:t>‹#›</a:t>
            </a:fld>
            <a:endParaRPr lang="en-US"/>
          </a:p>
        </p:txBody>
      </p:sp>
    </p:spTree>
    <p:extLst>
      <p:ext uri="{BB962C8B-B14F-4D97-AF65-F5344CB8AC3E}">
        <p14:creationId xmlns:p14="http://schemas.microsoft.com/office/powerpoint/2010/main" val="1209732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5171D98-C530-412A-88C7-3DD3B5ECF298}"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DA60AD-648D-464F-9966-4778EB1A217E}" type="slidenum">
              <a:rPr lang="en-US" smtClean="0"/>
              <a:t>‹#›</a:t>
            </a:fld>
            <a:endParaRPr lang="en-US"/>
          </a:p>
        </p:txBody>
      </p:sp>
    </p:spTree>
    <p:extLst>
      <p:ext uri="{BB962C8B-B14F-4D97-AF65-F5344CB8AC3E}">
        <p14:creationId xmlns:p14="http://schemas.microsoft.com/office/powerpoint/2010/main" val="42840400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171D98-C530-412A-88C7-3DD3B5ECF298}" type="datetimeFigureOut">
              <a:rPr lang="en-US" smtClean="0"/>
              <a:t>2/17/2026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DA60AD-648D-464F-9966-4778EB1A217E}" type="slidenum">
              <a:rPr lang="en-US" smtClean="0"/>
              <a:t>‹#›</a:t>
            </a:fld>
            <a:endParaRPr lang="en-US"/>
          </a:p>
        </p:txBody>
      </p:sp>
    </p:spTree>
    <p:extLst>
      <p:ext uri="{BB962C8B-B14F-4D97-AF65-F5344CB8AC3E}">
        <p14:creationId xmlns:p14="http://schemas.microsoft.com/office/powerpoint/2010/main" val="5730492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emf"/></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15.jpe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rrow: Pentagon 11">
            <a:extLst>
              <a:ext uri="{FF2B5EF4-FFF2-40B4-BE49-F238E27FC236}">
                <a16:creationId xmlns:a16="http://schemas.microsoft.com/office/drawing/2014/main" id="{30D94E45-07AC-9A11-94C3-2CF7DEAB4B08}"/>
              </a:ext>
            </a:extLst>
          </p:cNvPr>
          <p:cNvSpPr/>
          <p:nvPr/>
        </p:nvSpPr>
        <p:spPr>
          <a:xfrm>
            <a:off x="3416300" y="1464532"/>
            <a:ext cx="379413" cy="692150"/>
          </a:xfrm>
          <a:prstGeom prst="homePlate">
            <a:avLst/>
          </a:prstGeom>
          <a:gradFill flip="none" rotWithShape="1">
            <a:gsLst>
              <a:gs pos="0">
                <a:schemeClr val="accent1">
                  <a:shade val="30000"/>
                  <a:satMod val="115000"/>
                </a:schemeClr>
              </a:gs>
              <a:gs pos="64000">
                <a:schemeClr val="accent1">
                  <a:shade val="67500"/>
                  <a:satMod val="115000"/>
                </a:schemeClr>
              </a:gs>
              <a:gs pos="100000">
                <a:schemeClr val="bg1"/>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white"/>
              </a:solidFill>
              <a:effectLst/>
              <a:uLnTx/>
              <a:uFillTx/>
              <a:latin typeface="Arial"/>
              <a:ea typeface="+mn-ea"/>
              <a:cs typeface="+mn-cs"/>
            </a:endParaRPr>
          </a:p>
        </p:txBody>
      </p:sp>
      <p:sp>
        <p:nvSpPr>
          <p:cNvPr id="5" name="テキスト ボックス 22">
            <a:extLst>
              <a:ext uri="{FF2B5EF4-FFF2-40B4-BE49-F238E27FC236}">
                <a16:creationId xmlns:a16="http://schemas.microsoft.com/office/drawing/2014/main" id="{32AEEA9F-A41C-B001-57DC-8D66210E0B5F}"/>
              </a:ext>
            </a:extLst>
          </p:cNvPr>
          <p:cNvSpPr txBox="1">
            <a:spLocks noChangeArrowheads="1"/>
          </p:cNvSpPr>
          <p:nvPr/>
        </p:nvSpPr>
        <p:spPr bwMode="auto">
          <a:xfrm>
            <a:off x="0" y="3694454"/>
            <a:ext cx="33194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7800" indent="-177800" defTabSz="91281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91281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91281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91281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91281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91281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91281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91281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91281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177800" marR="0" lvl="0" indent="-177800" algn="l" defTabSz="912813" rtl="0" eaLnBrk="1" fontAlgn="auto" latinLnBrk="0" hangingPunct="1">
              <a:lnSpc>
                <a:spcPct val="100000"/>
              </a:lnSpc>
              <a:spcBef>
                <a:spcPct val="0"/>
              </a:spcBef>
              <a:spcAft>
                <a:spcPts val="0"/>
              </a:spcAft>
              <a:buClrTx/>
              <a:buSzTx/>
              <a:buFont typeface="Wingdings" panose="05000000000000000000" pitchFamily="2" charset="2"/>
              <a:buChar char="n"/>
              <a:tabLst/>
              <a:defRPr/>
            </a:pPr>
            <a:r>
              <a:rPr kumimoji="1" lang="en-US" altLang="ja-JP" sz="1400" b="1" i="0" u="none" strike="noStrike" kern="1200" cap="none" spc="0" normalizeH="0" baseline="0" noProof="0" dirty="0">
                <a:ln>
                  <a:noFill/>
                </a:ln>
                <a:solidFill>
                  <a:srgbClr val="002060"/>
                </a:solidFill>
                <a:effectLst/>
                <a:uLnTx/>
                <a:uFillTx/>
                <a:latin typeface="Arial" panose="020B0604020202020204" pitchFamily="34" charset="0"/>
                <a:ea typeface="Tahoma" panose="020B0604030504040204" pitchFamily="34" charset="0"/>
                <a:cs typeface="Arial" panose="020B0604020202020204" pitchFamily="34" charset="0"/>
              </a:rPr>
              <a:t> Status Line (% Progress)</a:t>
            </a:r>
          </a:p>
        </p:txBody>
      </p:sp>
      <p:sp>
        <p:nvSpPr>
          <p:cNvPr id="6" name="Rectangle 5">
            <a:extLst>
              <a:ext uri="{FF2B5EF4-FFF2-40B4-BE49-F238E27FC236}">
                <a16:creationId xmlns:a16="http://schemas.microsoft.com/office/drawing/2014/main" id="{AA0395EE-D47F-1D99-C001-9086FC86F457}"/>
              </a:ext>
            </a:extLst>
          </p:cNvPr>
          <p:cNvSpPr/>
          <p:nvPr/>
        </p:nvSpPr>
        <p:spPr>
          <a:xfrm>
            <a:off x="104776" y="6130614"/>
            <a:ext cx="3214687" cy="646331"/>
          </a:xfrm>
          <a:prstGeom prst="rect">
            <a:avLst/>
          </a:prstGeom>
        </p:spPr>
        <p:txBody>
          <a:bodyPr wrap="square">
            <a:spAutoFit/>
          </a:bodyPr>
          <a:lstStyle>
            <a:lvl1pPr defTabSz="842963">
              <a:defRPr>
                <a:solidFill>
                  <a:schemeClr val="tx1"/>
                </a:solidFill>
                <a:latin typeface="Calibri" panose="020F0502020204030204" pitchFamily="34" charset="0"/>
              </a:defRPr>
            </a:lvl1pPr>
            <a:lvl2pPr marL="742950" indent="-285750" defTabSz="842963">
              <a:defRPr>
                <a:solidFill>
                  <a:schemeClr val="tx1"/>
                </a:solidFill>
                <a:latin typeface="Calibri" panose="020F0502020204030204" pitchFamily="34" charset="0"/>
              </a:defRPr>
            </a:lvl2pPr>
            <a:lvl3pPr marL="1143000" indent="-228600" defTabSz="842963">
              <a:defRPr>
                <a:solidFill>
                  <a:schemeClr val="tx1"/>
                </a:solidFill>
                <a:latin typeface="Calibri" panose="020F0502020204030204" pitchFamily="34" charset="0"/>
              </a:defRPr>
            </a:lvl3pPr>
            <a:lvl4pPr marL="1600200" indent="-228600" defTabSz="842963">
              <a:defRPr>
                <a:solidFill>
                  <a:schemeClr val="tx1"/>
                </a:solidFill>
                <a:latin typeface="Calibri" panose="020F0502020204030204" pitchFamily="34" charset="0"/>
              </a:defRPr>
            </a:lvl4pPr>
            <a:lvl5pPr marL="2057400" indent="-228600" defTabSz="842963">
              <a:defRPr>
                <a:solidFill>
                  <a:schemeClr val="tx1"/>
                </a:solidFill>
                <a:latin typeface="Calibri" panose="020F0502020204030204" pitchFamily="34" charset="0"/>
              </a:defRPr>
            </a:lvl5pPr>
            <a:lvl6pPr marL="2514600" indent="-228600" defTabSz="842963" eaLnBrk="0" fontAlgn="base" hangingPunct="0">
              <a:spcBef>
                <a:spcPct val="0"/>
              </a:spcBef>
              <a:spcAft>
                <a:spcPct val="0"/>
              </a:spcAft>
              <a:defRPr>
                <a:solidFill>
                  <a:schemeClr val="tx1"/>
                </a:solidFill>
                <a:latin typeface="Calibri" panose="020F0502020204030204" pitchFamily="34" charset="0"/>
              </a:defRPr>
            </a:lvl6pPr>
            <a:lvl7pPr marL="2971800" indent="-228600" defTabSz="842963" eaLnBrk="0" fontAlgn="base" hangingPunct="0">
              <a:spcBef>
                <a:spcPct val="0"/>
              </a:spcBef>
              <a:spcAft>
                <a:spcPct val="0"/>
              </a:spcAft>
              <a:defRPr>
                <a:solidFill>
                  <a:schemeClr val="tx1"/>
                </a:solidFill>
                <a:latin typeface="Calibri" panose="020F0502020204030204" pitchFamily="34" charset="0"/>
              </a:defRPr>
            </a:lvl7pPr>
            <a:lvl8pPr marL="3429000" indent="-228600" defTabSz="842963" eaLnBrk="0" fontAlgn="base" hangingPunct="0">
              <a:spcBef>
                <a:spcPct val="0"/>
              </a:spcBef>
              <a:spcAft>
                <a:spcPct val="0"/>
              </a:spcAft>
              <a:defRPr>
                <a:solidFill>
                  <a:schemeClr val="tx1"/>
                </a:solidFill>
                <a:latin typeface="Calibri" panose="020F0502020204030204" pitchFamily="34" charset="0"/>
              </a:defRPr>
            </a:lvl8pPr>
            <a:lvl9pPr marL="3886200" indent="-228600" defTabSz="842963"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l" defTabSz="842963" rtl="0" eaLnBrk="1" fontAlgn="auto" latinLnBrk="0" hangingPunct="1">
              <a:lnSpc>
                <a:spcPct val="100000"/>
              </a:lnSpc>
              <a:spcBef>
                <a:spcPts val="0"/>
              </a:spcBef>
              <a:spcAft>
                <a:spcPts val="0"/>
              </a:spcAft>
              <a:buClrTx/>
              <a:buSzTx/>
              <a:buFontTx/>
              <a:buNone/>
              <a:tabLst/>
              <a:defRPr/>
            </a:pPr>
            <a:r>
              <a:rPr kumimoji="1" lang="en-US" altLang="en-US" sz="1200" b="1" i="0" u="sng" strike="noStrike" kern="1200" cap="none" spc="0" normalizeH="0" baseline="0" noProof="0" dirty="0">
                <a:ln>
                  <a:noFill/>
                </a:ln>
                <a:solidFill>
                  <a:prstClr val="black"/>
                </a:solidFill>
                <a:effectLst/>
                <a:uLnTx/>
                <a:uFillTx/>
                <a:latin typeface="Arial" panose="020B0604020202020204" pitchFamily="34" charset="0"/>
                <a:ea typeface="游ゴシック Light" panose="020B0300000000000000" pitchFamily="34" charset="-128"/>
                <a:cs typeface="Arial" panose="020B0604020202020204" pitchFamily="34" charset="0"/>
              </a:rPr>
              <a:t>Item Part :</a:t>
            </a:r>
          </a:p>
          <a:p>
            <a:pPr marL="0" marR="0" lvl="0" indent="0" algn="l" defTabSz="842963" rtl="0" eaLnBrk="1" fontAlgn="auto" latinLnBrk="0" hangingPunct="1">
              <a:lnSpc>
                <a:spcPct val="100000"/>
              </a:lnSpc>
              <a:spcBef>
                <a:spcPts val="0"/>
              </a:spcBef>
              <a:spcAft>
                <a:spcPts val="0"/>
              </a:spcAft>
              <a:buClrTx/>
              <a:buSzTx/>
              <a:buFontTx/>
              <a:buNone/>
              <a:tabLst/>
              <a:defRPr/>
            </a:pPr>
            <a:r>
              <a:rPr kumimoji="1" lang="en-US" altLang="en-US" sz="1200" dirty="0">
                <a:solidFill>
                  <a:prstClr val="black"/>
                </a:solidFill>
                <a:latin typeface="Arial" panose="020B0604020202020204" pitchFamily="34" charset="0"/>
                <a:ea typeface="游ゴシック Light" panose="020B0300000000000000" pitchFamily="34" charset="-128"/>
                <a:cs typeface="Arial" panose="020B0604020202020204" pitchFamily="34" charset="0"/>
              </a:rPr>
              <a:t>All Part</a:t>
            </a:r>
            <a:endParaRPr kumimoji="1" lang="en-US" altLang="en-US" sz="1200" i="0" strike="noStrike" kern="1200" cap="none" spc="0" normalizeH="0" baseline="0" noProof="0" dirty="0">
              <a:ln>
                <a:noFill/>
              </a:ln>
              <a:solidFill>
                <a:prstClr val="black"/>
              </a:solidFill>
              <a:effectLst/>
              <a:uLnTx/>
              <a:uFillTx/>
              <a:latin typeface="Arial" panose="020B0604020202020204" pitchFamily="34" charset="0"/>
              <a:ea typeface="游ゴシック Light" panose="020B0300000000000000" pitchFamily="34" charset="-128"/>
              <a:cs typeface="Arial" panose="020B0604020202020204" pitchFamily="34" charset="0"/>
            </a:endParaRPr>
          </a:p>
          <a:p>
            <a:pPr marL="0" marR="0" lvl="0" indent="0" algn="l" defTabSz="842963" rtl="0" eaLnBrk="1" fontAlgn="auto" latinLnBrk="0" hangingPunct="1">
              <a:lnSpc>
                <a:spcPct val="100000"/>
              </a:lnSpc>
              <a:spcBef>
                <a:spcPts val="0"/>
              </a:spcBef>
              <a:spcAft>
                <a:spcPts val="0"/>
              </a:spcAft>
              <a:buClrTx/>
              <a:buSzTx/>
              <a:buFontTx/>
              <a:buNone/>
              <a:tabLst/>
              <a:defRPr/>
            </a:pPr>
            <a:endParaRPr kumimoji="1" lang="en-US" altLang="en-US" sz="1200" b="1" i="0" u="none" strike="noStrike" kern="1200" cap="none" spc="0" normalizeH="0" baseline="0" noProof="0" dirty="0">
              <a:ln>
                <a:noFill/>
              </a:ln>
              <a:solidFill>
                <a:prstClr val="black"/>
              </a:solidFill>
              <a:effectLst/>
              <a:uLnTx/>
              <a:uFillTx/>
              <a:latin typeface="Arial" panose="020B0604020202020204" pitchFamily="34" charset="0"/>
              <a:ea typeface="游ゴシック Light" panose="020B0300000000000000" pitchFamily="34" charset="-128"/>
              <a:cs typeface="Arial" panose="020B0604020202020204" pitchFamily="34" charset="0"/>
            </a:endParaRPr>
          </a:p>
        </p:txBody>
      </p:sp>
      <p:graphicFrame>
        <p:nvGraphicFramePr>
          <p:cNvPr id="7" name="Table 6">
            <a:extLst>
              <a:ext uri="{FF2B5EF4-FFF2-40B4-BE49-F238E27FC236}">
                <a16:creationId xmlns:a16="http://schemas.microsoft.com/office/drawing/2014/main" id="{B55B5DA0-20B6-BB67-7240-84DD11687E40}"/>
              </a:ext>
            </a:extLst>
          </p:cNvPr>
          <p:cNvGraphicFramePr>
            <a:graphicFrameLocks noGrp="1"/>
          </p:cNvGraphicFramePr>
          <p:nvPr>
            <p:extLst>
              <p:ext uri="{D42A27DB-BD31-4B8C-83A1-F6EECF244321}">
                <p14:modId xmlns:p14="http://schemas.microsoft.com/office/powerpoint/2010/main" val="132750217"/>
              </p:ext>
            </p:extLst>
          </p:nvPr>
        </p:nvGraphicFramePr>
        <p:xfrm>
          <a:off x="104776" y="4023535"/>
          <a:ext cx="3265493" cy="2058105"/>
        </p:xfrm>
        <a:graphic>
          <a:graphicData uri="http://schemas.openxmlformats.org/drawingml/2006/table">
            <a:tbl>
              <a:tblPr firstRow="1" bandRow="1">
                <a:tableStyleId>{5C22544A-7EE6-4342-B048-85BDC9FD1C3A}</a:tableStyleId>
              </a:tblPr>
              <a:tblGrid>
                <a:gridCol w="828369">
                  <a:extLst>
                    <a:ext uri="{9D8B030D-6E8A-4147-A177-3AD203B41FA5}">
                      <a16:colId xmlns:a16="http://schemas.microsoft.com/office/drawing/2014/main" val="20003"/>
                    </a:ext>
                  </a:extLst>
                </a:gridCol>
                <a:gridCol w="734228">
                  <a:extLst>
                    <a:ext uri="{9D8B030D-6E8A-4147-A177-3AD203B41FA5}">
                      <a16:colId xmlns:a16="http://schemas.microsoft.com/office/drawing/2014/main" val="20004"/>
                    </a:ext>
                  </a:extLst>
                </a:gridCol>
                <a:gridCol w="751739">
                  <a:extLst>
                    <a:ext uri="{9D8B030D-6E8A-4147-A177-3AD203B41FA5}">
                      <a16:colId xmlns:a16="http://schemas.microsoft.com/office/drawing/2014/main" val="4118505005"/>
                    </a:ext>
                  </a:extLst>
                </a:gridCol>
                <a:gridCol w="951157">
                  <a:extLst>
                    <a:ext uri="{9D8B030D-6E8A-4147-A177-3AD203B41FA5}">
                      <a16:colId xmlns:a16="http://schemas.microsoft.com/office/drawing/2014/main" val="3119614529"/>
                    </a:ext>
                  </a:extLst>
                </a:gridCol>
              </a:tblGrid>
              <a:tr h="417192">
                <a:tc>
                  <a:txBody>
                    <a:bodyPr/>
                    <a:lstStyle/>
                    <a:p>
                      <a:pPr algn="ctr"/>
                      <a:r>
                        <a:rPr lang="en-US" sz="1100" b="1" dirty="0">
                          <a:solidFill>
                            <a:schemeClr val="bg1">
                              <a:lumMod val="95000"/>
                            </a:schemeClr>
                          </a:solidFill>
                          <a:latin typeface="Arial" panose="020B0604020202020204" pitchFamily="34" charset="0"/>
                          <a:cs typeface="Arial" panose="020B0604020202020204" pitchFamily="34" charset="0"/>
                        </a:rPr>
                        <a:t>Validation </a:t>
                      </a:r>
                    </a:p>
                    <a:p>
                      <a:pPr algn="ctr"/>
                      <a:r>
                        <a:rPr lang="en-US" sz="1100" b="1" dirty="0">
                          <a:solidFill>
                            <a:schemeClr val="bg1">
                              <a:lumMod val="95000"/>
                            </a:schemeClr>
                          </a:solidFill>
                          <a:latin typeface="Arial" panose="020B0604020202020204" pitchFamily="34" charset="0"/>
                          <a:cs typeface="Arial" panose="020B0604020202020204" pitchFamily="34" charset="0"/>
                        </a:rPr>
                        <a:t>WI</a:t>
                      </a:r>
                      <a:endParaRPr lang="en-ID" sz="1100" b="1" dirty="0">
                        <a:solidFill>
                          <a:schemeClr val="bg1">
                            <a:lumMod val="95000"/>
                          </a:schemeClr>
                        </a:solidFill>
                        <a:latin typeface="Arial" panose="020B0604020202020204" pitchFamily="34" charset="0"/>
                        <a:cs typeface="Arial" panose="020B0604020202020204" pitchFamily="34" charset="0"/>
                      </a:endParaRPr>
                    </a:p>
                  </a:txBody>
                  <a:tcPr marL="3601" marR="3601" marT="3604" marB="3604"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accent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B3041"/>
                    </a:solidFill>
                  </a:tcPr>
                </a:tc>
                <a:tc>
                  <a:txBody>
                    <a:bodyPr/>
                    <a:lstStyle/>
                    <a:p>
                      <a:pPr algn="ctr"/>
                      <a:r>
                        <a:rPr lang="en-US" sz="1100" b="1">
                          <a:solidFill>
                            <a:schemeClr val="bg1">
                              <a:lumMod val="95000"/>
                            </a:schemeClr>
                          </a:solidFill>
                          <a:latin typeface="Arial" panose="020B0604020202020204" pitchFamily="34" charset="0"/>
                          <a:cs typeface="Arial" panose="020B0604020202020204" pitchFamily="34" charset="0"/>
                        </a:rPr>
                        <a:t>Education</a:t>
                      </a:r>
                    </a:p>
                  </a:txBody>
                  <a:tcPr marL="3601" marR="3601" marT="3604" marB="3604"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accent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B3041"/>
                    </a:solidFill>
                  </a:tcPr>
                </a:tc>
                <a:tc>
                  <a:txBody>
                    <a:bodyPr/>
                    <a:lstStyle/>
                    <a:p>
                      <a:pPr algn="ctr"/>
                      <a:r>
                        <a:rPr lang="en-ID" sz="1100" b="1" dirty="0">
                          <a:solidFill>
                            <a:schemeClr val="bg1">
                              <a:lumMod val="95000"/>
                            </a:schemeClr>
                          </a:solidFill>
                          <a:latin typeface="Arial" panose="020B0604020202020204" pitchFamily="34" charset="0"/>
                          <a:cs typeface="Arial" panose="020B0604020202020204" pitchFamily="34" charset="0"/>
                        </a:rPr>
                        <a:t>Evaluation</a:t>
                      </a:r>
                    </a:p>
                  </a:txBody>
                  <a:tcPr marL="3601" marR="3601" marT="3604" marB="3604"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accent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B3041"/>
                    </a:solidFill>
                  </a:tcPr>
                </a:tc>
                <a:tc>
                  <a:txBody>
                    <a:bodyPr/>
                    <a:lstStyle/>
                    <a:p>
                      <a:pPr algn="ctr"/>
                      <a:r>
                        <a:rPr lang="en-ID" sz="1100" b="1" dirty="0" err="1">
                          <a:solidFill>
                            <a:schemeClr val="bg1">
                              <a:lumMod val="95000"/>
                            </a:schemeClr>
                          </a:solidFill>
                          <a:latin typeface="Arial" panose="020B0604020202020204" pitchFamily="34" charset="0"/>
                          <a:cs typeface="Arial" panose="020B0604020202020204" pitchFamily="34" charset="0"/>
                        </a:rPr>
                        <a:t>Controling</a:t>
                      </a:r>
                      <a:endParaRPr lang="en-ID" sz="1100" b="1" dirty="0">
                        <a:solidFill>
                          <a:schemeClr val="bg1">
                            <a:lumMod val="95000"/>
                          </a:schemeClr>
                        </a:solidFill>
                        <a:latin typeface="Arial" panose="020B0604020202020204" pitchFamily="34" charset="0"/>
                        <a:cs typeface="Arial" panose="020B0604020202020204" pitchFamily="34" charset="0"/>
                      </a:endParaRPr>
                    </a:p>
                  </a:txBody>
                  <a:tcPr marL="3601" marR="3601" marT="3604" marB="3604" anchor="ctr">
                    <a:lnL w="12700" cap="flat" cmpd="sng" algn="ctr">
                      <a:solidFill>
                        <a:schemeClr val="bg1"/>
                      </a:solidFill>
                      <a:prstDash val="solid"/>
                      <a:round/>
                      <a:headEnd type="none" w="med" len="med"/>
                      <a:tailEnd type="none" w="med" len="med"/>
                    </a:lnL>
                    <a:lnR w="6350" cap="flat" cmpd="sng" algn="ctr">
                      <a:solidFill>
                        <a:schemeClr val="accent1">
                          <a:lumMod val="50000"/>
                        </a:schemeClr>
                      </a:solidFill>
                      <a:prstDash val="solid"/>
                      <a:round/>
                      <a:headEnd type="none" w="med" len="med"/>
                      <a:tailEnd type="none" w="med" len="med"/>
                    </a:lnR>
                    <a:lnT w="6350" cap="flat" cmpd="sng" algn="ctr">
                      <a:solidFill>
                        <a:schemeClr val="accent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B3041"/>
                    </a:solidFill>
                  </a:tcPr>
                </a:tc>
                <a:extLst>
                  <a:ext uri="{0D108BD9-81ED-4DB2-BD59-A6C34878D82A}">
                    <a16:rowId xmlns:a16="http://schemas.microsoft.com/office/drawing/2014/main" val="10000"/>
                  </a:ext>
                </a:extLst>
              </a:tr>
              <a:tr h="13629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800" b="1" dirty="0">
                          <a:solidFill>
                            <a:schemeClr val="tx1"/>
                          </a:solidFill>
                          <a:latin typeface="Arial" panose="020B0604020202020204" pitchFamily="34" charset="0"/>
                          <a:cs typeface="Arial" panose="020B0604020202020204" pitchFamily="34" charset="0"/>
                        </a:rPr>
                        <a:t>Main : </a:t>
                      </a:r>
                      <a:r>
                        <a:rPr lang="id-ID" altLang="en-US" sz="800" b="1" dirty="0">
                          <a:solidFill>
                            <a:schemeClr val="tx1"/>
                          </a:solidFill>
                          <a:latin typeface="Arial" panose="020B0604020202020204" pitchFamily="34" charset="0"/>
                          <a:cs typeface="Arial" panose="020B0604020202020204" pitchFamily="34" charset="0"/>
                        </a:rPr>
                        <a:t>3</a:t>
                      </a:r>
                      <a:r>
                        <a:rPr lang="en-US" altLang="en-US" sz="800" b="1" dirty="0">
                          <a:solidFill>
                            <a:schemeClr val="tx1"/>
                          </a:solidFill>
                          <a:latin typeface="Arial" panose="020B0604020202020204" pitchFamily="34" charset="0"/>
                          <a:cs typeface="Arial" panose="020B0604020202020204" pitchFamily="34" charset="0"/>
                        </a:rPr>
                        <a:t>/3 WI</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800" b="1" dirty="0">
                          <a:solidFill>
                            <a:schemeClr val="tx1"/>
                          </a:solidFill>
                          <a:latin typeface="Arial" panose="020B0604020202020204" pitchFamily="34" charset="0"/>
                          <a:cs typeface="Arial" panose="020B0604020202020204" pitchFamily="34" charset="0"/>
                        </a:rPr>
                        <a:t>Support : </a:t>
                      </a:r>
                      <a:r>
                        <a:rPr lang="id-ID" altLang="en-US" sz="800" b="1" dirty="0">
                          <a:solidFill>
                            <a:schemeClr val="tx1"/>
                          </a:solidFill>
                          <a:latin typeface="Arial" panose="020B0604020202020204" pitchFamily="34" charset="0"/>
                          <a:cs typeface="Arial" panose="020B0604020202020204" pitchFamily="34" charset="0"/>
                        </a:rPr>
                        <a:t>3</a:t>
                      </a:r>
                      <a:r>
                        <a:rPr lang="en-US" altLang="en-US" sz="800" b="1" dirty="0">
                          <a:solidFill>
                            <a:schemeClr val="tx1"/>
                          </a:solidFill>
                          <a:latin typeface="Arial" panose="020B0604020202020204" pitchFamily="34" charset="0"/>
                          <a:cs typeface="Arial" panose="020B0604020202020204" pitchFamily="34" charset="0"/>
                        </a:rPr>
                        <a:t>/3 WI</a:t>
                      </a:r>
                    </a:p>
                  </a:txBody>
                  <a:tcPr marL="3601" marR="3601" marT="3604" marB="3604"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gridSpan="2">
                  <a:txBody>
                    <a:bodyPr/>
                    <a:lstStyle/>
                    <a:p>
                      <a:pPr algn="l"/>
                      <a:r>
                        <a:rPr lang="en-ID" sz="800" b="1" dirty="0" err="1">
                          <a:solidFill>
                            <a:schemeClr val="tx1"/>
                          </a:solidFill>
                          <a:latin typeface="Arial" panose="020B0604020202020204" pitchFamily="34" charset="0"/>
                          <a:cs typeface="Arial" panose="020B0604020202020204" pitchFamily="34" charset="0"/>
                        </a:rPr>
                        <a:t>Sudah</a:t>
                      </a:r>
                      <a:r>
                        <a:rPr lang="en-ID" sz="800" b="1" dirty="0">
                          <a:solidFill>
                            <a:schemeClr val="tx1"/>
                          </a:solidFill>
                          <a:latin typeface="Arial" panose="020B0604020202020204" pitchFamily="34" charset="0"/>
                          <a:cs typeface="Arial" panose="020B0604020202020204" pitchFamily="34" charset="0"/>
                        </a:rPr>
                        <a:t> OK</a:t>
                      </a:r>
                    </a:p>
                  </a:txBody>
                  <a:tcPr marL="3601" marR="3601" marT="3604" marB="3604"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hMerge="1">
                  <a:txBody>
                    <a:bodyPr/>
                    <a:lstStyle/>
                    <a:p>
                      <a:pPr algn="l"/>
                      <a:endParaRPr lang="en-ID" sz="1000" b="1">
                        <a:solidFill>
                          <a:schemeClr val="tx1"/>
                        </a:solidFill>
                        <a:latin typeface="Arial" panose="020B0604020202020204" pitchFamily="34" charset="0"/>
                        <a:cs typeface="Arial" panose="020B0604020202020204" pitchFamily="34" charset="0"/>
                      </a:endParaRPr>
                    </a:p>
                  </a:txBody>
                  <a:tcPr marL="3601" marR="3601" marT="3604" marB="3604"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ID" sz="800" b="0" dirty="0">
                          <a:solidFill>
                            <a:schemeClr val="tx1"/>
                          </a:solidFill>
                          <a:latin typeface="Arial" panose="020B0604020202020204" pitchFamily="34" charset="0"/>
                          <a:cs typeface="Arial" panose="020B0604020202020204" pitchFamily="34" charset="0"/>
                        </a:rPr>
                        <a:t>C/S Patrol : OK</a:t>
                      </a:r>
                    </a:p>
                    <a:p>
                      <a:pPr algn="l"/>
                      <a:r>
                        <a:rPr lang="en-ID" sz="800" b="0" dirty="0" err="1">
                          <a:solidFill>
                            <a:schemeClr val="tx1"/>
                          </a:solidFill>
                          <a:latin typeface="Arial" panose="020B0604020202020204" pitchFamily="34" charset="0"/>
                          <a:cs typeface="Arial" panose="020B0604020202020204" pitchFamily="34" charset="0"/>
                        </a:rPr>
                        <a:t>Assesment</a:t>
                      </a:r>
                      <a:r>
                        <a:rPr lang="en-ID" sz="800" b="0" dirty="0">
                          <a:solidFill>
                            <a:schemeClr val="tx1"/>
                          </a:solidFill>
                          <a:latin typeface="Arial" panose="020B0604020202020204" pitchFamily="34" charset="0"/>
                          <a:cs typeface="Arial" panose="020B0604020202020204" pitchFamily="34" charset="0"/>
                        </a:rPr>
                        <a:t> Leader : 1 Leader</a:t>
                      </a:r>
                    </a:p>
                    <a:p>
                      <a:pPr algn="l"/>
                      <a:r>
                        <a:rPr lang="en-ID" sz="800" b="0" dirty="0">
                          <a:solidFill>
                            <a:schemeClr val="tx1"/>
                          </a:solidFill>
                          <a:latin typeface="Arial" panose="020B0604020202020204" pitchFamily="34" charset="0"/>
                          <a:cs typeface="Arial" panose="020B0604020202020204" pitchFamily="34" charset="0"/>
                        </a:rPr>
                        <a:t>Monitoring Patrol Leader : </a:t>
                      </a:r>
                      <a:r>
                        <a:rPr lang="id-ID" sz="800" b="0" dirty="0">
                          <a:solidFill>
                            <a:schemeClr val="tx1"/>
                          </a:solidFill>
                          <a:latin typeface="Arial" panose="020B0604020202020204" pitchFamily="34" charset="0"/>
                          <a:cs typeface="Arial" panose="020B0604020202020204" pitchFamily="34" charset="0"/>
                        </a:rPr>
                        <a:t>2</a:t>
                      </a:r>
                      <a:r>
                        <a:rPr lang="en-ID" sz="800" b="0" dirty="0">
                          <a:solidFill>
                            <a:schemeClr val="tx1"/>
                          </a:solidFill>
                          <a:latin typeface="Arial" panose="020B0604020202020204" pitchFamily="34" charset="0"/>
                          <a:cs typeface="Arial" panose="020B0604020202020204" pitchFamily="34" charset="0"/>
                        </a:rPr>
                        <a:t> OP/day</a:t>
                      </a:r>
                    </a:p>
                    <a:p>
                      <a:pPr algn="l"/>
                      <a:r>
                        <a:rPr lang="en-ID" sz="800" b="0" dirty="0">
                          <a:solidFill>
                            <a:schemeClr val="tx1"/>
                          </a:solidFill>
                          <a:latin typeface="Arial" panose="020B0604020202020204" pitchFamily="34" charset="0"/>
                          <a:cs typeface="Arial" panose="020B0604020202020204" pitchFamily="34" charset="0"/>
                        </a:rPr>
                        <a:t>Self Audit : OK</a:t>
                      </a:r>
                    </a:p>
                  </a:txBody>
                  <a:tcPr marL="3601" marR="3601" marT="3604" marB="3604" anchor="ctr">
                    <a:lnL w="12700" cap="flat" cmpd="sng" algn="ctr">
                      <a:solidFill>
                        <a:schemeClr val="bg1">
                          <a:lumMod val="85000"/>
                        </a:schemeClr>
                      </a:solidFill>
                      <a:prstDash val="solid"/>
                      <a:round/>
                      <a:headEnd type="none" w="med" len="med"/>
                      <a:tailEnd type="none" w="med" len="med"/>
                    </a:lnL>
                    <a:lnR w="6350" cap="flat" cmpd="sng" algn="ctr">
                      <a:solidFill>
                        <a:schemeClr val="accent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7800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en-US" sz="800" b="1" dirty="0">
                          <a:solidFill>
                            <a:schemeClr val="tx1"/>
                          </a:solidFill>
                          <a:latin typeface="Arial" panose="020B0604020202020204" pitchFamily="34" charset="0"/>
                          <a:cs typeface="Arial" panose="020B0604020202020204" pitchFamily="34" charset="0"/>
                        </a:rPr>
                        <a:t>1</a:t>
                      </a:r>
                      <a:r>
                        <a:rPr lang="id-ID" altLang="en-US" sz="800" b="1" dirty="0">
                          <a:solidFill>
                            <a:schemeClr val="tx1"/>
                          </a:solidFill>
                          <a:latin typeface="Arial" panose="020B0604020202020204" pitchFamily="34" charset="0"/>
                          <a:cs typeface="Arial" panose="020B0604020202020204" pitchFamily="34" charset="0"/>
                        </a:rPr>
                        <a:t>00</a:t>
                      </a:r>
                      <a:r>
                        <a:rPr lang="en-US" altLang="en-US" sz="800" b="1" dirty="0">
                          <a:solidFill>
                            <a:schemeClr val="tx1"/>
                          </a:solidFill>
                          <a:latin typeface="Arial" panose="020B0604020202020204" pitchFamily="34" charset="0"/>
                          <a:cs typeface="Arial" panose="020B0604020202020204" pitchFamily="34" charset="0"/>
                        </a:rPr>
                        <a:t>%</a:t>
                      </a:r>
                    </a:p>
                  </a:txBody>
                  <a:tcPr marL="3601" marR="3601" marT="3604" marB="3604"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a:txBody>
                    <a:bodyPr/>
                    <a:lstStyle/>
                    <a:p>
                      <a:pPr algn="ctr"/>
                      <a:r>
                        <a:rPr lang="en-ID" sz="800" b="1" dirty="0">
                          <a:solidFill>
                            <a:schemeClr val="tx1"/>
                          </a:solidFill>
                          <a:latin typeface="Arial" panose="020B0604020202020204" pitchFamily="34" charset="0"/>
                          <a:cs typeface="Arial" panose="020B0604020202020204" pitchFamily="34" charset="0"/>
                        </a:rPr>
                        <a:t>100 %</a:t>
                      </a:r>
                    </a:p>
                  </a:txBody>
                  <a:tcPr marL="3601" marR="3601" marT="3604" marB="3604"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a:txBody>
                    <a:bodyPr/>
                    <a:lstStyle/>
                    <a:p>
                      <a:pPr algn="ctr"/>
                      <a:r>
                        <a:rPr lang="en-ID" sz="800" b="1" dirty="0">
                          <a:solidFill>
                            <a:schemeClr val="tx1"/>
                          </a:solidFill>
                          <a:latin typeface="Arial" panose="020B0604020202020204" pitchFamily="34" charset="0"/>
                          <a:cs typeface="Arial" panose="020B0604020202020204" pitchFamily="34" charset="0"/>
                        </a:rPr>
                        <a:t>100 %</a:t>
                      </a:r>
                    </a:p>
                  </a:txBody>
                  <a:tcPr marL="3601" marR="3601" marT="3604" marB="3604"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a:txBody>
                    <a:bodyPr/>
                    <a:lstStyle/>
                    <a:p>
                      <a:pPr algn="ctr"/>
                      <a:r>
                        <a:rPr lang="en-ID" sz="800" b="1" dirty="0">
                          <a:solidFill>
                            <a:schemeClr val="tx1"/>
                          </a:solidFill>
                          <a:latin typeface="Arial" panose="020B0604020202020204" pitchFamily="34" charset="0"/>
                          <a:cs typeface="Arial" panose="020B0604020202020204" pitchFamily="34" charset="0"/>
                        </a:rPr>
                        <a:t>100 %</a:t>
                      </a:r>
                    </a:p>
                  </a:txBody>
                  <a:tcPr marL="3601" marR="3601" marT="3604" marB="3604" anchor="ctr">
                    <a:lnL w="12700" cap="flat" cmpd="sng" algn="ctr">
                      <a:solidFill>
                        <a:schemeClr val="bg1">
                          <a:lumMod val="85000"/>
                        </a:schemeClr>
                      </a:solidFill>
                      <a:prstDash val="solid"/>
                      <a:round/>
                      <a:headEnd type="none" w="med" len="med"/>
                      <a:tailEnd type="none" w="med" len="med"/>
                    </a:lnL>
                    <a:lnR w="6350" cap="flat" cmpd="sng" algn="ctr">
                      <a:solidFill>
                        <a:schemeClr val="accent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889703205"/>
                  </a:ext>
                </a:extLst>
              </a:tr>
            </a:tbl>
          </a:graphicData>
        </a:graphic>
      </p:graphicFrame>
      <p:sp>
        <p:nvSpPr>
          <p:cNvPr id="8" name="テキスト ボックス 22">
            <a:extLst>
              <a:ext uri="{FF2B5EF4-FFF2-40B4-BE49-F238E27FC236}">
                <a16:creationId xmlns:a16="http://schemas.microsoft.com/office/drawing/2014/main" id="{85280EBD-48B7-092D-6938-85DFD99B4F66}"/>
              </a:ext>
            </a:extLst>
          </p:cNvPr>
          <p:cNvSpPr txBox="1">
            <a:spLocks noChangeArrowheads="1"/>
          </p:cNvSpPr>
          <p:nvPr/>
        </p:nvSpPr>
        <p:spPr bwMode="auto">
          <a:xfrm>
            <a:off x="3668379" y="2897698"/>
            <a:ext cx="38639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7800" indent="-177800" defTabSz="91281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91281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91281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91281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91281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91281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91281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91281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91281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177800" marR="0" lvl="0" indent="-177800" algn="l" defTabSz="912813" rtl="0" eaLnBrk="1" fontAlgn="auto" latinLnBrk="0" hangingPunct="1">
              <a:lnSpc>
                <a:spcPct val="100000"/>
              </a:lnSpc>
              <a:spcBef>
                <a:spcPct val="0"/>
              </a:spcBef>
              <a:spcAft>
                <a:spcPts val="0"/>
              </a:spcAft>
              <a:buClrTx/>
              <a:buSzTx/>
              <a:buFont typeface="Wingdings" panose="05000000000000000000" pitchFamily="2" charset="2"/>
              <a:buChar char="n"/>
              <a:tabLst/>
              <a:defRPr/>
            </a:pPr>
            <a:r>
              <a:rPr kumimoji="1" lang="en-US" altLang="ja-JP" sz="1400" b="1" i="0" u="none" strike="noStrike" kern="1200" cap="none" spc="0" normalizeH="0" baseline="0" noProof="0" dirty="0">
                <a:ln>
                  <a:noFill/>
                </a:ln>
                <a:solidFill>
                  <a:srgbClr val="002060"/>
                </a:solidFill>
                <a:effectLst/>
                <a:uLnTx/>
                <a:uFillTx/>
                <a:latin typeface="Arial" panose="020B0604020202020204" pitchFamily="34" charset="0"/>
                <a:ea typeface="Tahoma" panose="020B0604030504040204" pitchFamily="34" charset="0"/>
                <a:cs typeface="Arial" panose="020B0604020202020204" pitchFamily="34" charset="0"/>
              </a:rPr>
              <a:t> Result Audit</a:t>
            </a:r>
          </a:p>
        </p:txBody>
      </p:sp>
      <p:graphicFrame>
        <p:nvGraphicFramePr>
          <p:cNvPr id="9" name="Table 8">
            <a:extLst>
              <a:ext uri="{FF2B5EF4-FFF2-40B4-BE49-F238E27FC236}">
                <a16:creationId xmlns:a16="http://schemas.microsoft.com/office/drawing/2014/main" id="{47BD35F9-EE50-FA9F-0ED4-D3883EFA2573}"/>
              </a:ext>
            </a:extLst>
          </p:cNvPr>
          <p:cNvGraphicFramePr>
            <a:graphicFrameLocks noGrp="1"/>
          </p:cNvGraphicFramePr>
          <p:nvPr>
            <p:extLst>
              <p:ext uri="{D42A27DB-BD31-4B8C-83A1-F6EECF244321}">
                <p14:modId xmlns:p14="http://schemas.microsoft.com/office/powerpoint/2010/main" val="3287320980"/>
              </p:ext>
            </p:extLst>
          </p:nvPr>
        </p:nvGraphicFramePr>
        <p:xfrm>
          <a:off x="3576050" y="6260857"/>
          <a:ext cx="8453395" cy="557175"/>
        </p:xfrm>
        <a:graphic>
          <a:graphicData uri="http://schemas.openxmlformats.org/drawingml/2006/table">
            <a:tbl>
              <a:tblPr firstRow="1" bandRow="1">
                <a:tableStyleId>{5C22544A-7EE6-4342-B048-85BDC9FD1C3A}</a:tableStyleId>
              </a:tblPr>
              <a:tblGrid>
                <a:gridCol w="8453395">
                  <a:extLst>
                    <a:ext uri="{9D8B030D-6E8A-4147-A177-3AD203B41FA5}">
                      <a16:colId xmlns:a16="http://schemas.microsoft.com/office/drawing/2014/main" val="20000"/>
                    </a:ext>
                  </a:extLst>
                </a:gridCol>
              </a:tblGrid>
              <a:tr h="133481">
                <a:tc>
                  <a:txBody>
                    <a:bodyPr/>
                    <a:lstStyle/>
                    <a:p>
                      <a:pPr algn="ctr"/>
                      <a:r>
                        <a:rPr lang="en-US" sz="1050" dirty="0">
                          <a:latin typeface="Arial" panose="020B0604020202020204" pitchFamily="34" charset="0"/>
                          <a:cs typeface="Arial" panose="020B0604020202020204" pitchFamily="34" charset="0"/>
                        </a:rPr>
                        <a:t>Others Point</a:t>
                      </a:r>
                      <a:endParaRPr lang="en-ID" sz="1050" dirty="0">
                        <a:latin typeface="Arial" panose="020B0604020202020204" pitchFamily="34" charset="0"/>
                        <a:cs typeface="Arial" panose="020B0604020202020204" pitchFamily="34" charset="0"/>
                      </a:endParaRPr>
                    </a:p>
                  </a:txBody>
                  <a:tcPr marL="7200" marR="7200" marT="7212" marB="7212" anchor="ctr">
                    <a:lnL w="9525" cap="flat" cmpd="sng" algn="ctr">
                      <a:solidFill>
                        <a:schemeClr val="accent1">
                          <a:lumMod val="50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accent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382731">
                <a:tc>
                  <a:txBody>
                    <a:bodyPr/>
                    <a:lstStyle/>
                    <a:p>
                      <a:pPr marL="228600" indent="-228600" algn="l">
                        <a:buFont typeface="Arial" panose="020B0604020202020204" pitchFamily="34" charset="0"/>
                        <a:buAutoNum type="arabicPeriod"/>
                      </a:pPr>
                      <a:r>
                        <a:rPr lang="id-ID" sz="1050" b="0" kern="1200" dirty="0">
                          <a:solidFill>
                            <a:prstClr val="black"/>
                          </a:solidFill>
                          <a:latin typeface="Arial" panose="020B0604020202020204" pitchFamily="34" charset="0"/>
                          <a:ea typeface="Calibri" panose="020F0502020204030204" pitchFamily="34" charset="0"/>
                          <a:cs typeface="Arial" panose="020B0604020202020204" pitchFamily="34" charset="0"/>
                        </a:rPr>
                        <a:t>Mengadakan tempat untuk part dandory , seting dan karantina</a:t>
                      </a:r>
                      <a:endParaRPr lang="fi-FI" sz="1050" b="0" kern="1200" dirty="0">
                        <a:solidFill>
                          <a:prstClr val="black"/>
                        </a:solidFill>
                        <a:latin typeface="Arial" panose="020B0604020202020204" pitchFamily="34" charset="0"/>
                        <a:ea typeface="Calibri" panose="020F0502020204030204" pitchFamily="34" charset="0"/>
                        <a:cs typeface="Arial" panose="020B0604020202020204" pitchFamily="34" charset="0"/>
                      </a:endParaRPr>
                    </a:p>
                  </a:txBody>
                  <a:tcPr marL="7200" marR="7200" marT="7212" marB="7212"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10" name="Table 9">
            <a:extLst>
              <a:ext uri="{FF2B5EF4-FFF2-40B4-BE49-F238E27FC236}">
                <a16:creationId xmlns:a16="http://schemas.microsoft.com/office/drawing/2014/main" id="{F6AE0A21-4790-DA93-FAF2-C12CE9F9AD64}"/>
              </a:ext>
            </a:extLst>
          </p:cNvPr>
          <p:cNvGraphicFramePr>
            <a:graphicFrameLocks noGrp="1"/>
          </p:cNvGraphicFramePr>
          <p:nvPr>
            <p:extLst>
              <p:ext uri="{D42A27DB-BD31-4B8C-83A1-F6EECF244321}">
                <p14:modId xmlns:p14="http://schemas.microsoft.com/office/powerpoint/2010/main" val="433955487"/>
              </p:ext>
            </p:extLst>
          </p:nvPr>
        </p:nvGraphicFramePr>
        <p:xfrm>
          <a:off x="3892550" y="3239392"/>
          <a:ext cx="2068268" cy="379216"/>
        </p:xfrm>
        <a:graphic>
          <a:graphicData uri="http://schemas.openxmlformats.org/drawingml/2006/table">
            <a:tbl>
              <a:tblPr firstRow="1" bandRow="1">
                <a:tableStyleId>{5C22544A-7EE6-4342-B048-85BDC9FD1C3A}</a:tableStyleId>
              </a:tblPr>
              <a:tblGrid>
                <a:gridCol w="1126577">
                  <a:extLst>
                    <a:ext uri="{9D8B030D-6E8A-4147-A177-3AD203B41FA5}">
                      <a16:colId xmlns:a16="http://schemas.microsoft.com/office/drawing/2014/main" val="20003"/>
                    </a:ext>
                  </a:extLst>
                </a:gridCol>
                <a:gridCol w="941691">
                  <a:extLst>
                    <a:ext uri="{9D8B030D-6E8A-4147-A177-3AD203B41FA5}">
                      <a16:colId xmlns:a16="http://schemas.microsoft.com/office/drawing/2014/main" val="20004"/>
                    </a:ext>
                  </a:extLst>
                </a:gridCol>
              </a:tblGrid>
              <a:tr h="181690">
                <a:tc>
                  <a:txBody>
                    <a:bodyPr/>
                    <a:lstStyle/>
                    <a:p>
                      <a:pPr algn="ctr"/>
                      <a:r>
                        <a:rPr lang="en-US" sz="1100" b="1" dirty="0">
                          <a:solidFill>
                            <a:schemeClr val="bg1">
                              <a:lumMod val="95000"/>
                            </a:schemeClr>
                          </a:solidFill>
                          <a:latin typeface="Arial" panose="020B0604020202020204" pitchFamily="34" charset="0"/>
                          <a:cs typeface="Arial" panose="020B0604020202020204" pitchFamily="34" charset="0"/>
                        </a:rPr>
                        <a:t>Self Audit</a:t>
                      </a:r>
                      <a:endParaRPr lang="en-ID" sz="1100" b="1" dirty="0">
                        <a:solidFill>
                          <a:schemeClr val="bg1">
                            <a:lumMod val="95000"/>
                          </a:schemeClr>
                        </a:solidFill>
                        <a:latin typeface="Arial" panose="020B0604020202020204" pitchFamily="34" charset="0"/>
                        <a:cs typeface="Arial" panose="020B0604020202020204" pitchFamily="34" charset="0"/>
                      </a:endParaRPr>
                    </a:p>
                  </a:txBody>
                  <a:tcPr marL="3601" marR="3601" marT="3604" marB="3604"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accent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accent1">
                        <a:lumMod val="50000"/>
                      </a:schemeClr>
                    </a:solidFill>
                  </a:tcPr>
                </a:tc>
                <a:tc>
                  <a:txBody>
                    <a:bodyPr/>
                    <a:lstStyle/>
                    <a:p>
                      <a:pPr algn="ctr"/>
                      <a:r>
                        <a:rPr lang="en-US" sz="1100" b="1" dirty="0">
                          <a:solidFill>
                            <a:schemeClr val="bg1">
                              <a:lumMod val="95000"/>
                            </a:schemeClr>
                          </a:solidFill>
                          <a:latin typeface="Arial" panose="020B0604020202020204" pitchFamily="34" charset="0"/>
                          <a:cs typeface="Arial" panose="020B0604020202020204" pitchFamily="34" charset="0"/>
                        </a:rPr>
                        <a:t>YIMM Audit</a:t>
                      </a:r>
                      <a:endParaRPr lang="en-ID" sz="1100" b="1" dirty="0">
                        <a:solidFill>
                          <a:schemeClr val="bg1">
                            <a:lumMod val="95000"/>
                          </a:schemeClr>
                        </a:solidFill>
                        <a:latin typeface="Arial" panose="020B0604020202020204" pitchFamily="34" charset="0"/>
                        <a:cs typeface="Arial" panose="020B0604020202020204" pitchFamily="34" charset="0"/>
                      </a:endParaRPr>
                    </a:p>
                  </a:txBody>
                  <a:tcPr marL="3601" marR="3601" marT="3604" marB="3604" anchor="ctr">
                    <a:lnL w="12700" cap="flat" cmpd="sng" algn="ctr">
                      <a:solidFill>
                        <a:schemeClr val="bg1"/>
                      </a:solidFill>
                      <a:prstDash val="solid"/>
                      <a:round/>
                      <a:headEnd type="none" w="med" len="med"/>
                      <a:tailEnd type="none" w="med" len="med"/>
                    </a:lnL>
                    <a:lnR w="6350" cap="flat" cmpd="sng" algn="ctr">
                      <a:solidFill>
                        <a:schemeClr val="accent1">
                          <a:lumMod val="50000"/>
                        </a:schemeClr>
                      </a:solidFill>
                      <a:prstDash val="solid"/>
                      <a:round/>
                      <a:headEnd type="none" w="med" len="med"/>
                      <a:tailEnd type="none" w="med" len="med"/>
                    </a:lnR>
                    <a:lnT w="6350" cap="flat" cmpd="sng" algn="ctr">
                      <a:solidFill>
                        <a:schemeClr val="accent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19752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d-ID" altLang="en-US" sz="1000" b="0" dirty="0">
                          <a:solidFill>
                            <a:schemeClr val="tx1"/>
                          </a:solidFill>
                          <a:latin typeface="Arial" panose="020B0604020202020204" pitchFamily="34" charset="0"/>
                          <a:cs typeface="Arial" panose="020B0604020202020204" pitchFamily="34" charset="0"/>
                        </a:rPr>
                        <a:t>2,8</a:t>
                      </a:r>
                      <a:endParaRPr lang="en-US" altLang="en-US" sz="1000" b="0" dirty="0">
                        <a:solidFill>
                          <a:schemeClr val="tx1"/>
                        </a:solidFill>
                        <a:latin typeface="Arial" panose="020B0604020202020204" pitchFamily="34" charset="0"/>
                        <a:cs typeface="Arial" panose="020B0604020202020204" pitchFamily="34" charset="0"/>
                      </a:endParaRPr>
                    </a:p>
                  </a:txBody>
                  <a:tcPr marL="3601" marR="3601" marT="3604" marB="3604"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5">
                        <a:lumMod val="20000"/>
                        <a:lumOff val="80000"/>
                      </a:schemeClr>
                    </a:solidFill>
                  </a:tcPr>
                </a:tc>
                <a:tc>
                  <a:txBody>
                    <a:bodyPr/>
                    <a:lstStyle/>
                    <a:p>
                      <a:pPr algn="ctr"/>
                      <a:r>
                        <a:rPr lang="id-ID" sz="1200" b="1" dirty="0">
                          <a:solidFill>
                            <a:srgbClr val="FF0000"/>
                          </a:solidFill>
                          <a:latin typeface="Arial" panose="020B0604020202020204" pitchFamily="34" charset="0"/>
                          <a:cs typeface="Arial" panose="020B0604020202020204" pitchFamily="34" charset="0"/>
                        </a:rPr>
                        <a:t>-</a:t>
                      </a:r>
                      <a:endParaRPr lang="en-ID" sz="1200" b="1" dirty="0">
                        <a:solidFill>
                          <a:srgbClr val="FF0000"/>
                        </a:solidFill>
                        <a:latin typeface="Arial" panose="020B0604020202020204" pitchFamily="34" charset="0"/>
                        <a:cs typeface="Arial" panose="020B0604020202020204" pitchFamily="34" charset="0"/>
                      </a:endParaRPr>
                    </a:p>
                  </a:txBody>
                  <a:tcPr marL="3601" marR="3601" marT="3604" marB="3604" anchor="ctr">
                    <a:lnL w="12700" cap="flat" cmpd="sng" algn="ctr">
                      <a:solidFill>
                        <a:schemeClr val="bg1">
                          <a:lumMod val="85000"/>
                        </a:schemeClr>
                      </a:solidFill>
                      <a:prstDash val="solid"/>
                      <a:round/>
                      <a:headEnd type="none" w="med" len="med"/>
                      <a:tailEnd type="none" w="med" len="med"/>
                    </a:lnL>
                    <a:lnR w="6350" cap="flat" cmpd="sng" algn="ctr">
                      <a:solidFill>
                        <a:schemeClr val="accent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3"/>
                  </a:ext>
                </a:extLst>
              </a:tr>
            </a:tbl>
          </a:graphicData>
        </a:graphic>
      </p:graphicFrame>
      <p:graphicFrame>
        <p:nvGraphicFramePr>
          <p:cNvPr id="11" name="Table 10">
            <a:extLst>
              <a:ext uri="{FF2B5EF4-FFF2-40B4-BE49-F238E27FC236}">
                <a16:creationId xmlns:a16="http://schemas.microsoft.com/office/drawing/2014/main" id="{C544F70B-D7E0-7143-F13E-81667A06975C}"/>
              </a:ext>
            </a:extLst>
          </p:cNvPr>
          <p:cNvGraphicFramePr>
            <a:graphicFrameLocks noGrp="1"/>
          </p:cNvGraphicFramePr>
          <p:nvPr>
            <p:extLst>
              <p:ext uri="{D42A27DB-BD31-4B8C-83A1-F6EECF244321}">
                <p14:modId xmlns:p14="http://schemas.microsoft.com/office/powerpoint/2010/main" val="2099957357"/>
              </p:ext>
            </p:extLst>
          </p:nvPr>
        </p:nvGraphicFramePr>
        <p:xfrm>
          <a:off x="6005487" y="3241248"/>
          <a:ext cx="6023958" cy="1987790"/>
        </p:xfrm>
        <a:graphic>
          <a:graphicData uri="http://schemas.openxmlformats.org/drawingml/2006/table">
            <a:tbl>
              <a:tblPr firstRow="1" bandRow="1">
                <a:tableStyleId>{5C22544A-7EE6-4342-B048-85BDC9FD1C3A}</a:tableStyleId>
              </a:tblPr>
              <a:tblGrid>
                <a:gridCol w="699794">
                  <a:extLst>
                    <a:ext uri="{9D8B030D-6E8A-4147-A177-3AD203B41FA5}">
                      <a16:colId xmlns:a16="http://schemas.microsoft.com/office/drawing/2014/main" val="20000"/>
                    </a:ext>
                  </a:extLst>
                </a:gridCol>
                <a:gridCol w="5324164">
                  <a:extLst>
                    <a:ext uri="{9D8B030D-6E8A-4147-A177-3AD203B41FA5}">
                      <a16:colId xmlns:a16="http://schemas.microsoft.com/office/drawing/2014/main" val="20001"/>
                    </a:ext>
                  </a:extLst>
                </a:gridCol>
              </a:tblGrid>
              <a:tr h="386237">
                <a:tc>
                  <a:txBody>
                    <a:bodyPr/>
                    <a:lstStyle/>
                    <a:p>
                      <a:pPr algn="ctr"/>
                      <a:r>
                        <a:rPr lang="en-US" sz="1050" baseline="0" dirty="0">
                          <a:solidFill>
                            <a:schemeClr val="bg1"/>
                          </a:solidFill>
                          <a:latin typeface="Arial" panose="020B0604020202020204" pitchFamily="34" charset="0"/>
                          <a:cs typeface="Arial" panose="020B0604020202020204" pitchFamily="34" charset="0"/>
                        </a:rPr>
                        <a:t>Principle</a:t>
                      </a:r>
                    </a:p>
                  </a:txBody>
                  <a:tcPr marL="68578" marR="68578" marT="34251" marB="34251" anchor="ctr">
                    <a:lnL w="9525" cap="flat" cmpd="sng" algn="ctr">
                      <a:solidFill>
                        <a:schemeClr val="accent1">
                          <a:lumMod val="50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accent1">
                          <a:lumMod val="50000"/>
                        </a:schemeClr>
                      </a:solidFill>
                      <a:prstDash val="solid"/>
                      <a:round/>
                      <a:headEnd type="none" w="med" len="med"/>
                      <a:tailEnd type="none" w="med" len="med"/>
                    </a:lnT>
                    <a:lnB w="9525" cap="flat" cmpd="sng" algn="ctr">
                      <a:solidFill>
                        <a:schemeClr val="accent1">
                          <a:lumMod val="50000"/>
                        </a:schemeClr>
                      </a:solidFill>
                      <a:prstDash val="solid"/>
                      <a:round/>
                      <a:headEnd type="none" w="med" len="med"/>
                      <a:tailEnd type="none" w="med" len="med"/>
                    </a:lnB>
                    <a:solidFill>
                      <a:schemeClr val="accent1">
                        <a:lumMod val="50000"/>
                      </a:schemeClr>
                    </a:solidFill>
                  </a:tcPr>
                </a:tc>
                <a:tc>
                  <a:txBody>
                    <a:bodyPr/>
                    <a:lstStyle/>
                    <a:p>
                      <a:pPr algn="ctr"/>
                      <a:r>
                        <a:rPr lang="en-US" sz="1050" baseline="0" dirty="0">
                          <a:solidFill>
                            <a:schemeClr val="bg1"/>
                          </a:solidFill>
                          <a:latin typeface="Arial" panose="020B0604020202020204" pitchFamily="34" charset="0"/>
                          <a:cs typeface="Arial" panose="020B0604020202020204" pitchFamily="34" charset="0"/>
                        </a:rPr>
                        <a:t>Finding</a:t>
                      </a:r>
                    </a:p>
                  </a:txBody>
                  <a:tcPr marL="68578" marR="68578" marT="34251" marB="34251"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accent1">
                          <a:lumMod val="50000"/>
                        </a:schemeClr>
                      </a:solidFill>
                      <a:prstDash val="solid"/>
                      <a:round/>
                      <a:headEnd type="none" w="med" len="med"/>
                      <a:tailEnd type="none" w="med" len="med"/>
                    </a:lnT>
                    <a:lnB w="9525" cap="flat" cmpd="sng" algn="ctr">
                      <a:solidFill>
                        <a:schemeClr val="accent1">
                          <a:lumMod val="50000"/>
                        </a:schemeClr>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1601553">
                <a:tc>
                  <a:txBody>
                    <a:bodyPr/>
                    <a:lstStyle/>
                    <a:p>
                      <a:pPr algn="ctr"/>
                      <a:r>
                        <a:rPr lang="en-US" sz="1400" b="1" baseline="0" dirty="0">
                          <a:solidFill>
                            <a:schemeClr val="tx1"/>
                          </a:solidFill>
                          <a:latin typeface="Arial" panose="020B0604020202020204" pitchFamily="34" charset="0"/>
                          <a:cs typeface="Arial" panose="020B0604020202020204" pitchFamily="34" charset="0"/>
                        </a:rPr>
                        <a:t>MSK</a:t>
                      </a:r>
                    </a:p>
                  </a:txBody>
                  <a:tcPr marL="68578" marR="68578" marT="34251" marB="34251" anchor="ctr">
                    <a:lnL w="9525" cap="flat" cmpd="sng" algn="ctr">
                      <a:solidFill>
                        <a:schemeClr val="accent1">
                          <a:lumMod val="50000"/>
                        </a:schemeClr>
                      </a:solidFill>
                      <a:prstDash val="solid"/>
                      <a:round/>
                      <a:headEnd type="none" w="med" len="med"/>
                      <a:tailEnd type="none" w="med" len="med"/>
                    </a:lnL>
                    <a:lnR w="9525" cap="flat" cmpd="sng" algn="ctr">
                      <a:solidFill>
                        <a:schemeClr val="accent1">
                          <a:lumMod val="50000"/>
                        </a:schemeClr>
                      </a:solidFill>
                      <a:prstDash val="solid"/>
                      <a:round/>
                      <a:headEnd type="none" w="med" len="med"/>
                      <a:tailEnd type="none" w="med" len="med"/>
                    </a:lnR>
                    <a:lnT w="9525" cap="flat" cmpd="sng" algn="ctr">
                      <a:solidFill>
                        <a:schemeClr val="accent1">
                          <a:lumMod val="50000"/>
                        </a:schemeClr>
                      </a:solidFill>
                      <a:prstDash val="solid"/>
                      <a:round/>
                      <a:headEnd type="none" w="med" len="med"/>
                      <a:tailEnd type="none" w="med" len="med"/>
                    </a:lnT>
                    <a:lnB w="9525" cap="flat" cmpd="sng" algn="ctr">
                      <a:solidFill>
                        <a:schemeClr val="accent1">
                          <a:lumMod val="50000"/>
                        </a:schemeClr>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id-ID" sz="1000" b="1" u="none" baseline="0" dirty="0">
                          <a:solidFill>
                            <a:schemeClr val="tx1"/>
                          </a:solidFill>
                          <a:latin typeface="Arial" panose="020B0604020202020204" pitchFamily="34" charset="0"/>
                          <a:cs typeface="Arial" panose="020B0604020202020204" pitchFamily="34" charset="0"/>
                        </a:rPr>
                        <a:t>(</a:t>
                      </a:r>
                      <a:r>
                        <a:rPr lang="id-ID" sz="1400" b="1" u="none" baseline="0" dirty="0">
                          <a:solidFill>
                            <a:schemeClr val="tx1"/>
                          </a:solidFill>
                          <a:latin typeface="Arial" panose="020B0604020202020204" pitchFamily="34" charset="0"/>
                          <a:cs typeface="Arial" panose="020B0604020202020204" pitchFamily="34" charset="0"/>
                        </a:rPr>
                        <a:t>1)</a:t>
                      </a:r>
                      <a:r>
                        <a:rPr lang="id-ID" sz="1400" b="0" u="none" baseline="0" dirty="0">
                          <a:solidFill>
                            <a:schemeClr val="tx1"/>
                          </a:solidFill>
                          <a:latin typeface="Arial" panose="020B0604020202020204" pitchFamily="34" charset="0"/>
                          <a:cs typeface="Arial" panose="020B0604020202020204" pitchFamily="34" charset="0"/>
                        </a:rPr>
                        <a:t> Area MC terdapat oli yang menetes sehingga menyebabkan adanya genangan oli</a:t>
                      </a:r>
                    </a:p>
                    <a:p>
                      <a:pPr marL="0" marR="0" lvl="0" indent="0" algn="l" defTabSz="685800" rtl="0" eaLnBrk="1" fontAlgn="auto" latinLnBrk="0" hangingPunct="1">
                        <a:lnSpc>
                          <a:spcPct val="100000"/>
                        </a:lnSpc>
                        <a:spcBef>
                          <a:spcPts val="0"/>
                        </a:spcBef>
                        <a:spcAft>
                          <a:spcPts val="0"/>
                        </a:spcAft>
                        <a:buClrTx/>
                        <a:buSzTx/>
                        <a:buFontTx/>
                        <a:buNone/>
                        <a:tabLst/>
                        <a:defRPr/>
                      </a:pPr>
                      <a:r>
                        <a:rPr lang="id-ID" sz="1400" b="1" u="none" baseline="0" dirty="0">
                          <a:solidFill>
                            <a:schemeClr val="tx1"/>
                          </a:solidFill>
                          <a:latin typeface="Arial" panose="020B0604020202020204" pitchFamily="34" charset="0"/>
                          <a:cs typeface="Arial" panose="020B0604020202020204" pitchFamily="34" charset="0"/>
                        </a:rPr>
                        <a:t>(2)</a:t>
                      </a:r>
                      <a:r>
                        <a:rPr lang="id-ID" sz="1400" b="0" u="none" baseline="0" dirty="0">
                          <a:solidFill>
                            <a:schemeClr val="tx1"/>
                          </a:solidFill>
                          <a:latin typeface="Arial" panose="020B0604020202020204" pitchFamily="34" charset="0"/>
                          <a:cs typeface="Arial" panose="020B0604020202020204" pitchFamily="34" charset="0"/>
                        </a:rPr>
                        <a:t> Teknisi tidak dapat menjelaskan cara sampling N=1 </a:t>
                      </a:r>
                    </a:p>
                  </a:txBody>
                  <a:tcPr marL="68578" marR="68578" marT="34251" marB="34251" anchor="ctr">
                    <a:lnL w="9525" cap="flat" cmpd="sng" algn="ctr">
                      <a:solidFill>
                        <a:schemeClr val="accent1">
                          <a:lumMod val="50000"/>
                        </a:schemeClr>
                      </a:solidFill>
                      <a:prstDash val="solid"/>
                      <a:round/>
                      <a:headEnd type="none" w="med" len="med"/>
                      <a:tailEnd type="none" w="med" len="med"/>
                    </a:lnL>
                    <a:lnR w="9525" cap="flat" cmpd="sng" algn="ctr">
                      <a:solidFill>
                        <a:schemeClr val="accent1">
                          <a:lumMod val="50000"/>
                        </a:schemeClr>
                      </a:solidFill>
                      <a:prstDash val="solid"/>
                      <a:round/>
                      <a:headEnd type="none" w="med" len="med"/>
                      <a:tailEnd type="none" w="med" len="med"/>
                    </a:lnR>
                    <a:lnT w="9525" cap="flat" cmpd="sng" algn="ctr">
                      <a:solidFill>
                        <a:schemeClr val="accent1">
                          <a:lumMod val="50000"/>
                        </a:schemeClr>
                      </a:solidFill>
                      <a:prstDash val="solid"/>
                      <a:round/>
                      <a:headEnd type="none" w="med" len="med"/>
                      <a:tailEnd type="none" w="med" len="med"/>
                    </a:lnT>
                    <a:lnB w="9525" cap="flat" cmpd="sng" algn="ctr">
                      <a:solidFill>
                        <a:schemeClr val="accent1">
                          <a:lumMod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13" name="Table 12">
            <a:extLst>
              <a:ext uri="{FF2B5EF4-FFF2-40B4-BE49-F238E27FC236}">
                <a16:creationId xmlns:a16="http://schemas.microsoft.com/office/drawing/2014/main" id="{E6AAC552-66C3-9701-82CD-8E648CC3F1D1}"/>
              </a:ext>
            </a:extLst>
          </p:cNvPr>
          <p:cNvGraphicFramePr>
            <a:graphicFrameLocks noGrp="1"/>
          </p:cNvGraphicFramePr>
          <p:nvPr>
            <p:extLst>
              <p:ext uri="{D42A27DB-BD31-4B8C-83A1-F6EECF244321}">
                <p14:modId xmlns:p14="http://schemas.microsoft.com/office/powerpoint/2010/main" val="2619933086"/>
              </p:ext>
            </p:extLst>
          </p:nvPr>
        </p:nvGraphicFramePr>
        <p:xfrm>
          <a:off x="104776" y="842947"/>
          <a:ext cx="3214275" cy="2866123"/>
        </p:xfrm>
        <a:graphic>
          <a:graphicData uri="http://schemas.openxmlformats.org/drawingml/2006/table">
            <a:tbl>
              <a:tblPr firstRow="1" bandRow="1">
                <a:tableStyleId>{5C22544A-7EE6-4342-B048-85BDC9FD1C3A}</a:tableStyleId>
              </a:tblPr>
              <a:tblGrid>
                <a:gridCol w="811752">
                  <a:extLst>
                    <a:ext uri="{9D8B030D-6E8A-4147-A177-3AD203B41FA5}">
                      <a16:colId xmlns:a16="http://schemas.microsoft.com/office/drawing/2014/main" val="20000"/>
                    </a:ext>
                  </a:extLst>
                </a:gridCol>
                <a:gridCol w="907739">
                  <a:extLst>
                    <a:ext uri="{9D8B030D-6E8A-4147-A177-3AD203B41FA5}">
                      <a16:colId xmlns:a16="http://schemas.microsoft.com/office/drawing/2014/main" val="20001"/>
                    </a:ext>
                  </a:extLst>
                </a:gridCol>
                <a:gridCol w="747392">
                  <a:extLst>
                    <a:ext uri="{9D8B030D-6E8A-4147-A177-3AD203B41FA5}">
                      <a16:colId xmlns:a16="http://schemas.microsoft.com/office/drawing/2014/main" val="20002"/>
                    </a:ext>
                  </a:extLst>
                </a:gridCol>
                <a:gridCol w="747392">
                  <a:extLst>
                    <a:ext uri="{9D8B030D-6E8A-4147-A177-3AD203B41FA5}">
                      <a16:colId xmlns:a16="http://schemas.microsoft.com/office/drawing/2014/main" val="3992492869"/>
                    </a:ext>
                  </a:extLst>
                </a:gridCol>
              </a:tblGrid>
              <a:tr h="682168">
                <a:tc>
                  <a:txBody>
                    <a:bodyPr/>
                    <a:lstStyle/>
                    <a:p>
                      <a:pPr algn="ctr"/>
                      <a:r>
                        <a:rPr lang="id-ID" sz="1200" dirty="0">
                          <a:solidFill>
                            <a:schemeClr val="tx1"/>
                          </a:solidFill>
                          <a:latin typeface="Arial" panose="020B0604020202020204" pitchFamily="34" charset="0"/>
                          <a:cs typeface="Arial" panose="020B0604020202020204" pitchFamily="34" charset="0"/>
                        </a:rPr>
                        <a:t>17 Feb</a:t>
                      </a:r>
                      <a:endParaRPr lang="en-ID" sz="1200" dirty="0">
                        <a:solidFill>
                          <a:schemeClr val="tx1"/>
                        </a:solidFill>
                        <a:latin typeface="Arial" panose="020B0604020202020204" pitchFamily="34" charset="0"/>
                        <a:cs typeface="Arial" panose="020B0604020202020204" pitchFamily="34" charset="0"/>
                      </a:endParaRP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id-ID" sz="1050" b="1" dirty="0">
                          <a:solidFill>
                            <a:schemeClr val="bg1"/>
                          </a:solidFill>
                          <a:latin typeface="Arial" panose="020B0604020202020204" pitchFamily="34" charset="0"/>
                          <a:cs typeface="Arial" panose="020B0604020202020204" pitchFamily="34" charset="0"/>
                        </a:rPr>
                        <a:t>Injection Production</a:t>
                      </a:r>
                      <a:endParaRPr lang="en-ID" sz="1050" b="1" dirty="0">
                        <a:solidFill>
                          <a:schemeClr val="bg1"/>
                        </a:solidFill>
                        <a:latin typeface="Arial" panose="020B0604020202020204" pitchFamily="34" charset="0"/>
                        <a:cs typeface="Arial" panose="020B0604020202020204" pitchFamily="34" charset="0"/>
                      </a:endParaRPr>
                    </a:p>
                  </a:txBody>
                  <a:tcPr anchor="ctr">
                    <a:lnL w="9525" cap="flat" cmpd="sng" algn="ctr">
                      <a:no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accent1">
                        <a:lumMod val="50000"/>
                      </a:schemeClr>
                    </a:solidFill>
                  </a:tcPr>
                </a:tc>
                <a:tc>
                  <a:txBody>
                    <a:bodyPr/>
                    <a:lstStyle/>
                    <a:p>
                      <a:pPr algn="l"/>
                      <a:r>
                        <a:rPr lang="id-ID" sz="1000" b="1" dirty="0">
                          <a:solidFill>
                            <a:schemeClr val="bg1"/>
                          </a:solidFill>
                          <a:latin typeface="Arial" panose="020B0604020202020204" pitchFamily="34" charset="0"/>
                          <a:cs typeface="Arial" panose="020B0604020202020204" pitchFamily="34" charset="0"/>
                        </a:rPr>
                        <a:t>Finishing</a:t>
                      </a:r>
                      <a:endParaRPr lang="en-ID" sz="1000" b="1" dirty="0">
                        <a:solidFill>
                          <a:schemeClr val="bg1"/>
                        </a:solidFill>
                        <a:latin typeface="Arial" panose="020B0604020202020204" pitchFamily="34" charset="0"/>
                        <a:cs typeface="Arial" panose="020B0604020202020204" pitchFamily="34" charset="0"/>
                      </a:endParaRP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accent1">
                        <a:lumMod val="50000"/>
                      </a:schemeClr>
                    </a:solidFill>
                  </a:tcPr>
                </a:tc>
                <a:tc>
                  <a:txBody>
                    <a:bodyPr/>
                    <a:lstStyle/>
                    <a:p>
                      <a:pPr algn="l"/>
                      <a:r>
                        <a:rPr lang="id-ID" sz="1050" b="1" dirty="0">
                          <a:solidFill>
                            <a:schemeClr val="bg1"/>
                          </a:solidFill>
                          <a:latin typeface="Arial" panose="020B0604020202020204" pitchFamily="34" charset="0"/>
                          <a:cs typeface="Arial" panose="020B0604020202020204" pitchFamily="34" charset="0"/>
                        </a:rPr>
                        <a:t>Final Inspec</a:t>
                      </a:r>
                      <a:endParaRPr lang="en-ID" sz="1050" b="1" dirty="0">
                        <a:solidFill>
                          <a:schemeClr val="bg1"/>
                        </a:solidFill>
                        <a:latin typeface="Arial" panose="020B0604020202020204" pitchFamily="34" charset="0"/>
                        <a:cs typeface="Arial" panose="020B0604020202020204" pitchFamily="34" charset="0"/>
                      </a:endParaRP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31650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1" dirty="0">
                          <a:solidFill>
                            <a:schemeClr val="bg1"/>
                          </a:solidFill>
                          <a:latin typeface="Arial" panose="020B0604020202020204" pitchFamily="34" charset="0"/>
                          <a:cs typeface="Arial" panose="020B0604020202020204" pitchFamily="34" charset="0"/>
                        </a:rPr>
                        <a:t>Line Target</a:t>
                      </a:r>
                      <a:endParaRPr lang="en-ID" sz="1050" b="1" dirty="0">
                        <a:solidFill>
                          <a:schemeClr val="bg1"/>
                        </a:solidFill>
                        <a:latin typeface="Arial" panose="020B0604020202020204" pitchFamily="34" charset="0"/>
                        <a:cs typeface="Arial" panose="020B0604020202020204" pitchFamily="34" charset="0"/>
                      </a:endParaRP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solidFill>
                      <a:schemeClr val="accent1">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1" dirty="0">
                          <a:latin typeface="Arial" panose="020B0604020202020204" pitchFamily="34" charset="0"/>
                          <a:cs typeface="Arial" panose="020B0604020202020204" pitchFamily="34" charset="0"/>
                          <a:sym typeface="Wingdings 2" panose="05020102010507070707" pitchFamily="18" charset="2"/>
                        </a:rPr>
                        <a:t></a:t>
                      </a:r>
                      <a:endParaRPr lang="en-ID" sz="1050" b="1" dirty="0">
                        <a:latin typeface="Arial" panose="020B0604020202020204" pitchFamily="34" charset="0"/>
                        <a:cs typeface="Arial" panose="020B0604020202020204" pitchFamily="34" charset="0"/>
                      </a:endParaRP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ID" sz="1050" b="1" dirty="0">
                        <a:latin typeface="Arial" panose="020B0604020202020204" pitchFamily="34" charset="0"/>
                        <a:cs typeface="Arial" panose="020B0604020202020204" pitchFamily="34" charset="0"/>
                      </a:endParaRP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ID" sz="1050" b="1" dirty="0">
                        <a:latin typeface="Arial" panose="020B0604020202020204" pitchFamily="34" charset="0"/>
                        <a:cs typeface="Arial" panose="020B0604020202020204" pitchFamily="34" charset="0"/>
                      </a:endParaRP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1650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D" sz="1050" b="1" dirty="0">
                          <a:solidFill>
                            <a:schemeClr val="bg1"/>
                          </a:solidFill>
                          <a:latin typeface="Arial" panose="020B0604020202020204" pitchFamily="34" charset="0"/>
                          <a:cs typeface="Arial" panose="020B0604020202020204" pitchFamily="34" charset="0"/>
                        </a:rPr>
                        <a:t>Auditee</a:t>
                      </a: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solidFill>
                      <a:schemeClr val="accent1">
                        <a:lumMod val="50000"/>
                      </a:schemeClr>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d-ID" sz="1050" b="1" dirty="0">
                          <a:latin typeface="Arial" panose="020B0604020202020204" pitchFamily="34" charset="0"/>
                          <a:cs typeface="Arial" panose="020B0604020202020204" pitchFamily="34" charset="0"/>
                        </a:rPr>
                        <a:t>M.Fajar</a:t>
                      </a:r>
                      <a:endParaRPr lang="en-ID" sz="1050" b="1" dirty="0">
                        <a:latin typeface="Arial" panose="020B0604020202020204" pitchFamily="34" charset="0"/>
                        <a:cs typeface="Arial" panose="020B0604020202020204" pitchFamily="34" charset="0"/>
                      </a:endParaRP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hMerge="1">
                  <a:txBody>
                    <a:bodyPr/>
                    <a:lstStyle/>
                    <a:p>
                      <a:pPr algn="ctr"/>
                      <a:endParaRPr lang="en-ID" sz="1050" dirty="0">
                        <a:latin typeface="Arial" panose="020B0604020202020204" pitchFamily="34" charset="0"/>
                        <a:cs typeface="Arial" panose="020B0604020202020204" pitchFamily="34" charset="0"/>
                      </a:endParaRP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ID" sz="1050" b="1" dirty="0">
                        <a:latin typeface="Arial" panose="020B0604020202020204" pitchFamily="34" charset="0"/>
                        <a:cs typeface="Arial" panose="020B0604020202020204" pitchFamily="34" charset="0"/>
                      </a:endParaRP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67484196"/>
                  </a:ext>
                </a:extLst>
              </a:tr>
              <a:tr h="31650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D" sz="1050" b="1" dirty="0">
                          <a:solidFill>
                            <a:schemeClr val="bg1"/>
                          </a:solidFill>
                          <a:latin typeface="Arial" panose="020B0604020202020204" pitchFamily="34" charset="0"/>
                          <a:cs typeface="Arial" panose="020B0604020202020204" pitchFamily="34" charset="0"/>
                        </a:rPr>
                        <a:t>Process</a:t>
                      </a: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solidFill>
                      <a:schemeClr val="accent1">
                        <a:lumMod val="50000"/>
                      </a:schemeClr>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d-ID" sz="1050" b="1" dirty="0">
                          <a:latin typeface="Arial" panose="020B0604020202020204" pitchFamily="34" charset="0"/>
                          <a:cs typeface="Arial" panose="020B0604020202020204" pitchFamily="34" charset="0"/>
                        </a:rPr>
                        <a:t>Prod.Rubber C</a:t>
                      </a:r>
                      <a:endParaRPr lang="en-ID" sz="1050" b="1" dirty="0">
                        <a:latin typeface="Arial" panose="020B0604020202020204" pitchFamily="34" charset="0"/>
                        <a:cs typeface="Arial" panose="020B0604020202020204" pitchFamily="34" charset="0"/>
                      </a:endParaRP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hMerge="1">
                  <a:txBody>
                    <a:bodyPr/>
                    <a:lstStyle/>
                    <a:p>
                      <a:endParaRPr 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ID" sz="1050" b="1" dirty="0">
                        <a:latin typeface="Arial" panose="020B0604020202020204" pitchFamily="34" charset="0"/>
                        <a:cs typeface="Arial" panose="020B0604020202020204" pitchFamily="34" charset="0"/>
                      </a:endParaRP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38559805"/>
                  </a:ext>
                </a:extLst>
              </a:tr>
              <a:tr h="31650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D" sz="1050" b="1" dirty="0">
                          <a:solidFill>
                            <a:schemeClr val="bg1"/>
                          </a:solidFill>
                          <a:latin typeface="Arial" panose="020B0604020202020204" pitchFamily="34" charset="0"/>
                          <a:cs typeface="Arial" panose="020B0604020202020204" pitchFamily="34" charset="0"/>
                        </a:rPr>
                        <a:t>Line</a:t>
                      </a: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solidFill>
                      <a:schemeClr val="accent1">
                        <a:lumMod val="50000"/>
                      </a:schemeClr>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d-ID" sz="1050" b="1" dirty="0">
                          <a:latin typeface="Arial" panose="020B0604020202020204" pitchFamily="34" charset="0"/>
                          <a:cs typeface="Arial" panose="020B0604020202020204" pitchFamily="34" charset="0"/>
                        </a:rPr>
                        <a:t>Machine 10</a:t>
                      </a:r>
                      <a:endParaRPr lang="en-ID" sz="1050" b="1" dirty="0">
                        <a:latin typeface="Arial" panose="020B0604020202020204" pitchFamily="34" charset="0"/>
                        <a:cs typeface="Arial" panose="020B0604020202020204" pitchFamily="34" charset="0"/>
                      </a:endParaRP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hMerge="1">
                  <a:txBody>
                    <a:bodyPr/>
                    <a:lstStyle/>
                    <a:p>
                      <a:endParaRPr 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ID" sz="1050" b="1" dirty="0">
                        <a:latin typeface="Arial" panose="020B0604020202020204" pitchFamily="34" charset="0"/>
                        <a:cs typeface="Arial" panose="020B0604020202020204" pitchFamily="34" charset="0"/>
                      </a:endParaRP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27672789"/>
                  </a:ext>
                </a:extLst>
              </a:tr>
              <a:tr h="31650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D" sz="1050" b="1" dirty="0">
                          <a:solidFill>
                            <a:schemeClr val="bg1"/>
                          </a:solidFill>
                          <a:latin typeface="Arial" panose="020B0604020202020204" pitchFamily="34" charset="0"/>
                          <a:cs typeface="Arial" panose="020B0604020202020204" pitchFamily="34" charset="0"/>
                        </a:rPr>
                        <a:t>Part Number</a:t>
                      </a: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solidFill>
                      <a:schemeClr val="accent1">
                        <a:lumMod val="50000"/>
                      </a:schemeClr>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d-ID" sz="1050" b="1" dirty="0">
                          <a:latin typeface="Arial" panose="020B0604020202020204" pitchFamily="34" charset="0"/>
                          <a:cs typeface="Arial" panose="020B0604020202020204" pitchFamily="34" charset="0"/>
                        </a:rPr>
                        <a:t>E4453</a:t>
                      </a:r>
                      <a:endParaRPr lang="en-ID" sz="1050" b="1" dirty="0">
                        <a:latin typeface="Arial" panose="020B0604020202020204" pitchFamily="34" charset="0"/>
                        <a:cs typeface="Arial" panose="020B0604020202020204" pitchFamily="34" charset="0"/>
                      </a:endParaRP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hMerge="1">
                  <a:txBody>
                    <a:bodyPr/>
                    <a:lstStyle/>
                    <a:p>
                      <a:endParaRPr 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ID" sz="1050" b="1" dirty="0">
                        <a:latin typeface="Arial" panose="020B0604020202020204" pitchFamily="34" charset="0"/>
                        <a:cs typeface="Arial" panose="020B0604020202020204" pitchFamily="34" charset="0"/>
                      </a:endParaRP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32149707"/>
                  </a:ext>
                </a:extLst>
              </a:tr>
              <a:tr h="31650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D" sz="1050" b="1" dirty="0">
                          <a:solidFill>
                            <a:schemeClr val="bg1"/>
                          </a:solidFill>
                          <a:latin typeface="Arial" panose="020B0604020202020204" pitchFamily="34" charset="0"/>
                          <a:cs typeface="Arial" panose="020B0604020202020204" pitchFamily="34" charset="0"/>
                        </a:rPr>
                        <a:t>Part Name</a:t>
                      </a: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accent1">
                        <a:lumMod val="50000"/>
                      </a:schemeClr>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d-ID" sz="1050" b="1" dirty="0">
                          <a:latin typeface="Arial" panose="020B0604020202020204" pitchFamily="34" charset="0"/>
                          <a:cs typeface="Arial" panose="020B0604020202020204" pitchFamily="34" charset="0"/>
                        </a:rPr>
                        <a:t>JT-1 B5D</a:t>
                      </a:r>
                      <a:endParaRPr lang="en-ID" sz="1050" b="1" dirty="0">
                        <a:latin typeface="Arial" panose="020B0604020202020204" pitchFamily="34" charset="0"/>
                        <a:cs typeface="Arial" panose="020B0604020202020204" pitchFamily="34" charset="0"/>
                      </a:endParaRP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hMerge="1">
                  <a:txBody>
                    <a:bodyPr/>
                    <a:lstStyle/>
                    <a:p>
                      <a:endParaRPr 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ID" sz="1050" b="1" dirty="0">
                        <a:latin typeface="Arial" panose="020B0604020202020204" pitchFamily="34" charset="0"/>
                        <a:cs typeface="Arial" panose="020B0604020202020204" pitchFamily="34" charset="0"/>
                      </a:endParaRPr>
                    </a:p>
                  </a:txBody>
                  <a:tcPr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50384688"/>
                  </a:ext>
                </a:extLst>
              </a:tr>
            </a:tbl>
          </a:graphicData>
        </a:graphic>
      </p:graphicFrame>
      <p:sp>
        <p:nvSpPr>
          <p:cNvPr id="14" name="テキスト ボックス 22">
            <a:extLst>
              <a:ext uri="{FF2B5EF4-FFF2-40B4-BE49-F238E27FC236}">
                <a16:creationId xmlns:a16="http://schemas.microsoft.com/office/drawing/2014/main" id="{5F012569-B642-A741-8DCF-91C63103AD49}"/>
              </a:ext>
            </a:extLst>
          </p:cNvPr>
          <p:cNvSpPr txBox="1">
            <a:spLocks noChangeArrowheads="1"/>
          </p:cNvSpPr>
          <p:nvPr/>
        </p:nvSpPr>
        <p:spPr bwMode="auto">
          <a:xfrm>
            <a:off x="3668379" y="772382"/>
            <a:ext cx="37957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7800" indent="-177800" defTabSz="91281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91281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91281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91281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91281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91281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91281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91281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91281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177800" marR="0" lvl="0" indent="-177800" algn="l" defTabSz="912813" rtl="0" eaLnBrk="1" fontAlgn="auto" latinLnBrk="0" hangingPunct="1">
              <a:lnSpc>
                <a:spcPct val="100000"/>
              </a:lnSpc>
              <a:spcBef>
                <a:spcPct val="0"/>
              </a:spcBef>
              <a:spcAft>
                <a:spcPts val="0"/>
              </a:spcAft>
              <a:buClrTx/>
              <a:buSzTx/>
              <a:buFont typeface="Wingdings" panose="05000000000000000000" pitchFamily="2" charset="2"/>
              <a:buChar char="n"/>
              <a:tabLst/>
              <a:defRPr/>
            </a:pPr>
            <a:r>
              <a:rPr kumimoji="1" lang="en-US" altLang="ja-JP" sz="1400" b="1" i="0" u="none" strike="noStrike" kern="1200" cap="none" spc="0" normalizeH="0" baseline="0" noProof="0" dirty="0">
                <a:ln>
                  <a:noFill/>
                </a:ln>
                <a:solidFill>
                  <a:srgbClr val="002060"/>
                </a:solidFill>
                <a:effectLst/>
                <a:uLnTx/>
                <a:uFillTx/>
                <a:latin typeface="Arial" panose="020B0604020202020204" pitchFamily="34" charset="0"/>
                <a:ea typeface="Tahoma" panose="020B0604030504040204" pitchFamily="34" charset="0"/>
                <a:cs typeface="Arial" panose="020B0604020202020204" pitchFamily="34" charset="0"/>
              </a:rPr>
              <a:t>Schedule Self Audit &amp; Verification Y202</a:t>
            </a:r>
            <a:r>
              <a:rPr kumimoji="1" lang="id-ID" altLang="ja-JP" sz="1400" b="1" i="0" u="none" strike="noStrike" kern="1200" cap="none" spc="0" normalizeH="0" baseline="0" noProof="0" dirty="0">
                <a:ln>
                  <a:noFill/>
                </a:ln>
                <a:solidFill>
                  <a:srgbClr val="002060"/>
                </a:solidFill>
                <a:effectLst/>
                <a:uLnTx/>
                <a:uFillTx/>
                <a:latin typeface="Arial" panose="020B0604020202020204" pitchFamily="34" charset="0"/>
                <a:ea typeface="Tahoma" panose="020B0604030504040204" pitchFamily="34" charset="0"/>
                <a:cs typeface="Arial" panose="020B0604020202020204" pitchFamily="34" charset="0"/>
              </a:rPr>
              <a:t>6</a:t>
            </a:r>
            <a:endParaRPr kumimoji="1" lang="en-US" altLang="ja-JP" sz="1400" b="1" i="0" u="none" strike="noStrike" kern="1200" cap="none" spc="0" normalizeH="0" baseline="0" noProof="0" dirty="0">
              <a:ln>
                <a:noFill/>
              </a:ln>
              <a:solidFill>
                <a:srgbClr val="002060"/>
              </a:solidFill>
              <a:effectLst/>
              <a:uLnTx/>
              <a:uFillTx/>
              <a:latin typeface="Arial" panose="020B0604020202020204" pitchFamily="34" charset="0"/>
              <a:ea typeface="Tahoma" panose="020B0604030504040204" pitchFamily="34" charset="0"/>
              <a:cs typeface="Arial" panose="020B0604020202020204" pitchFamily="34" charset="0"/>
            </a:endParaRPr>
          </a:p>
        </p:txBody>
      </p:sp>
      <p:graphicFrame>
        <p:nvGraphicFramePr>
          <p:cNvPr id="15" name="Table 14">
            <a:extLst>
              <a:ext uri="{FF2B5EF4-FFF2-40B4-BE49-F238E27FC236}">
                <a16:creationId xmlns:a16="http://schemas.microsoft.com/office/drawing/2014/main" id="{6860E3D4-C7B8-E47B-F00F-E6A32D091B76}"/>
              </a:ext>
            </a:extLst>
          </p:cNvPr>
          <p:cNvGraphicFramePr>
            <a:graphicFrameLocks noGrp="1"/>
          </p:cNvGraphicFramePr>
          <p:nvPr>
            <p:extLst>
              <p:ext uri="{D42A27DB-BD31-4B8C-83A1-F6EECF244321}">
                <p14:modId xmlns:p14="http://schemas.microsoft.com/office/powerpoint/2010/main" val="2982391485"/>
              </p:ext>
            </p:extLst>
          </p:nvPr>
        </p:nvGraphicFramePr>
        <p:xfrm>
          <a:off x="3872723" y="1152256"/>
          <a:ext cx="7860051" cy="1699423"/>
        </p:xfrm>
        <a:graphic>
          <a:graphicData uri="http://schemas.openxmlformats.org/drawingml/2006/table">
            <a:tbl>
              <a:tblPr firstRow="1" bandRow="1">
                <a:tableStyleId>{5C22544A-7EE6-4342-B048-85BDC9FD1C3A}</a:tableStyleId>
              </a:tblPr>
              <a:tblGrid>
                <a:gridCol w="518733">
                  <a:extLst>
                    <a:ext uri="{9D8B030D-6E8A-4147-A177-3AD203B41FA5}">
                      <a16:colId xmlns:a16="http://schemas.microsoft.com/office/drawing/2014/main" val="20000"/>
                    </a:ext>
                  </a:extLst>
                </a:gridCol>
                <a:gridCol w="518733">
                  <a:extLst>
                    <a:ext uri="{9D8B030D-6E8A-4147-A177-3AD203B41FA5}">
                      <a16:colId xmlns:a16="http://schemas.microsoft.com/office/drawing/2014/main" val="20001"/>
                    </a:ext>
                  </a:extLst>
                </a:gridCol>
                <a:gridCol w="620235">
                  <a:extLst>
                    <a:ext uri="{9D8B030D-6E8A-4147-A177-3AD203B41FA5}">
                      <a16:colId xmlns:a16="http://schemas.microsoft.com/office/drawing/2014/main" val="20002"/>
                    </a:ext>
                  </a:extLst>
                </a:gridCol>
                <a:gridCol w="620235">
                  <a:extLst>
                    <a:ext uri="{9D8B030D-6E8A-4147-A177-3AD203B41FA5}">
                      <a16:colId xmlns:a16="http://schemas.microsoft.com/office/drawing/2014/main" val="20003"/>
                    </a:ext>
                  </a:extLst>
                </a:gridCol>
                <a:gridCol w="620235">
                  <a:extLst>
                    <a:ext uri="{9D8B030D-6E8A-4147-A177-3AD203B41FA5}">
                      <a16:colId xmlns:a16="http://schemas.microsoft.com/office/drawing/2014/main" val="20004"/>
                    </a:ext>
                  </a:extLst>
                </a:gridCol>
                <a:gridCol w="620235">
                  <a:extLst>
                    <a:ext uri="{9D8B030D-6E8A-4147-A177-3AD203B41FA5}">
                      <a16:colId xmlns:a16="http://schemas.microsoft.com/office/drawing/2014/main" val="20005"/>
                    </a:ext>
                  </a:extLst>
                </a:gridCol>
                <a:gridCol w="620235">
                  <a:extLst>
                    <a:ext uri="{9D8B030D-6E8A-4147-A177-3AD203B41FA5}">
                      <a16:colId xmlns:a16="http://schemas.microsoft.com/office/drawing/2014/main" val="20006"/>
                    </a:ext>
                  </a:extLst>
                </a:gridCol>
                <a:gridCol w="620235">
                  <a:extLst>
                    <a:ext uri="{9D8B030D-6E8A-4147-A177-3AD203B41FA5}">
                      <a16:colId xmlns:a16="http://schemas.microsoft.com/office/drawing/2014/main" val="20007"/>
                    </a:ext>
                  </a:extLst>
                </a:gridCol>
                <a:gridCol w="620235">
                  <a:extLst>
                    <a:ext uri="{9D8B030D-6E8A-4147-A177-3AD203B41FA5}">
                      <a16:colId xmlns:a16="http://schemas.microsoft.com/office/drawing/2014/main" val="20008"/>
                    </a:ext>
                  </a:extLst>
                </a:gridCol>
                <a:gridCol w="620235">
                  <a:extLst>
                    <a:ext uri="{9D8B030D-6E8A-4147-A177-3AD203B41FA5}">
                      <a16:colId xmlns:a16="http://schemas.microsoft.com/office/drawing/2014/main" val="20009"/>
                    </a:ext>
                  </a:extLst>
                </a:gridCol>
                <a:gridCol w="620235">
                  <a:extLst>
                    <a:ext uri="{9D8B030D-6E8A-4147-A177-3AD203B41FA5}">
                      <a16:colId xmlns:a16="http://schemas.microsoft.com/office/drawing/2014/main" val="20010"/>
                    </a:ext>
                  </a:extLst>
                </a:gridCol>
                <a:gridCol w="620235">
                  <a:extLst>
                    <a:ext uri="{9D8B030D-6E8A-4147-A177-3AD203B41FA5}">
                      <a16:colId xmlns:a16="http://schemas.microsoft.com/office/drawing/2014/main" val="20011"/>
                    </a:ext>
                  </a:extLst>
                </a:gridCol>
                <a:gridCol w="620235">
                  <a:extLst>
                    <a:ext uri="{9D8B030D-6E8A-4147-A177-3AD203B41FA5}">
                      <a16:colId xmlns:a16="http://schemas.microsoft.com/office/drawing/2014/main" val="20012"/>
                    </a:ext>
                  </a:extLst>
                </a:gridCol>
              </a:tblGrid>
              <a:tr h="411576">
                <a:tc>
                  <a:txBody>
                    <a:bodyPr/>
                    <a:lstStyle/>
                    <a:p>
                      <a:pPr algn="ctr"/>
                      <a:endParaRPr lang="en-ID" sz="1100" b="1">
                        <a:solidFill>
                          <a:schemeClr val="bg1">
                            <a:lumMod val="95000"/>
                          </a:schemeClr>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accent1">
                        <a:lumMod val="50000"/>
                      </a:schemeClr>
                    </a:solidFill>
                  </a:tcPr>
                </a:tc>
                <a:tc>
                  <a:txBody>
                    <a:bodyPr/>
                    <a:lstStyle/>
                    <a:p>
                      <a:pPr algn="ctr"/>
                      <a:r>
                        <a:rPr lang="en-US" sz="1100" b="1" dirty="0">
                          <a:solidFill>
                            <a:schemeClr val="bg1">
                              <a:lumMod val="95000"/>
                            </a:schemeClr>
                          </a:solidFill>
                          <a:latin typeface="Arial" panose="020B0604020202020204" pitchFamily="34" charset="0"/>
                          <a:cs typeface="Arial" panose="020B0604020202020204" pitchFamily="34" charset="0"/>
                        </a:rPr>
                        <a:t>Jan</a:t>
                      </a:r>
                      <a:endParaRPr lang="en-ID" sz="1100" b="1" dirty="0">
                        <a:solidFill>
                          <a:schemeClr val="bg1">
                            <a:lumMod val="95000"/>
                          </a:schemeClr>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accent1">
                        <a:lumMod val="50000"/>
                      </a:schemeClr>
                    </a:solidFill>
                  </a:tcPr>
                </a:tc>
                <a:tc>
                  <a:txBody>
                    <a:bodyPr/>
                    <a:lstStyle/>
                    <a:p>
                      <a:pPr algn="ctr"/>
                      <a:r>
                        <a:rPr lang="en-US" sz="1100" b="1" dirty="0">
                          <a:solidFill>
                            <a:schemeClr val="bg1">
                              <a:lumMod val="95000"/>
                            </a:schemeClr>
                          </a:solidFill>
                          <a:latin typeface="Arial" panose="020B0604020202020204" pitchFamily="34" charset="0"/>
                          <a:cs typeface="Arial" panose="020B0604020202020204" pitchFamily="34" charset="0"/>
                        </a:rPr>
                        <a:t>Feb</a:t>
                      </a:r>
                      <a:endParaRPr lang="en-ID" sz="1100" b="1" dirty="0">
                        <a:solidFill>
                          <a:schemeClr val="bg1">
                            <a:lumMod val="95000"/>
                          </a:schemeClr>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accent1">
                        <a:lumMod val="50000"/>
                      </a:schemeClr>
                    </a:solidFill>
                  </a:tcPr>
                </a:tc>
                <a:tc>
                  <a:txBody>
                    <a:bodyPr/>
                    <a:lstStyle/>
                    <a:p>
                      <a:pPr algn="ctr"/>
                      <a:r>
                        <a:rPr lang="en-US" sz="1100" b="1">
                          <a:solidFill>
                            <a:schemeClr val="bg1">
                              <a:lumMod val="95000"/>
                            </a:schemeClr>
                          </a:solidFill>
                          <a:latin typeface="Arial" panose="020B0604020202020204" pitchFamily="34" charset="0"/>
                          <a:cs typeface="Arial" panose="020B0604020202020204" pitchFamily="34" charset="0"/>
                        </a:rPr>
                        <a:t>Mar</a:t>
                      </a:r>
                      <a:endParaRPr lang="en-ID" sz="1100" b="1">
                        <a:solidFill>
                          <a:schemeClr val="bg1">
                            <a:lumMod val="95000"/>
                          </a:schemeClr>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accent1">
                        <a:lumMod val="50000"/>
                      </a:schemeClr>
                    </a:solidFill>
                  </a:tcPr>
                </a:tc>
                <a:tc>
                  <a:txBody>
                    <a:bodyPr/>
                    <a:lstStyle/>
                    <a:p>
                      <a:pPr algn="ctr"/>
                      <a:r>
                        <a:rPr lang="en-US" sz="1100" b="1">
                          <a:solidFill>
                            <a:schemeClr val="bg1">
                              <a:lumMod val="95000"/>
                            </a:schemeClr>
                          </a:solidFill>
                          <a:latin typeface="Arial" panose="020B0604020202020204" pitchFamily="34" charset="0"/>
                          <a:cs typeface="Arial" panose="020B0604020202020204" pitchFamily="34" charset="0"/>
                        </a:rPr>
                        <a:t>Apr</a:t>
                      </a:r>
                      <a:endParaRPr lang="en-ID" sz="1100" b="1">
                        <a:solidFill>
                          <a:schemeClr val="bg1">
                            <a:lumMod val="95000"/>
                          </a:schemeClr>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accent1">
                        <a:lumMod val="50000"/>
                      </a:schemeClr>
                    </a:solidFill>
                  </a:tcPr>
                </a:tc>
                <a:tc>
                  <a:txBody>
                    <a:bodyPr/>
                    <a:lstStyle/>
                    <a:p>
                      <a:pPr algn="ctr"/>
                      <a:r>
                        <a:rPr lang="en-US" sz="1100" b="1">
                          <a:solidFill>
                            <a:schemeClr val="bg1">
                              <a:lumMod val="95000"/>
                            </a:schemeClr>
                          </a:solidFill>
                          <a:latin typeface="Arial" panose="020B0604020202020204" pitchFamily="34" charset="0"/>
                          <a:cs typeface="Arial" panose="020B0604020202020204" pitchFamily="34" charset="0"/>
                        </a:rPr>
                        <a:t>May</a:t>
                      </a:r>
                      <a:endParaRPr lang="en-ID" sz="1100" b="1">
                        <a:solidFill>
                          <a:schemeClr val="bg1">
                            <a:lumMod val="95000"/>
                          </a:schemeClr>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accent1">
                        <a:lumMod val="50000"/>
                      </a:schemeClr>
                    </a:solidFill>
                  </a:tcPr>
                </a:tc>
                <a:tc>
                  <a:txBody>
                    <a:bodyPr/>
                    <a:lstStyle/>
                    <a:p>
                      <a:pPr algn="ctr"/>
                      <a:r>
                        <a:rPr lang="en-US" sz="1100" b="1">
                          <a:solidFill>
                            <a:schemeClr val="bg1">
                              <a:lumMod val="95000"/>
                            </a:schemeClr>
                          </a:solidFill>
                          <a:latin typeface="Arial" panose="020B0604020202020204" pitchFamily="34" charset="0"/>
                          <a:cs typeface="Arial" panose="020B0604020202020204" pitchFamily="34" charset="0"/>
                        </a:rPr>
                        <a:t>Jun</a:t>
                      </a:r>
                      <a:endParaRPr lang="en-ID" sz="1100" b="1">
                        <a:solidFill>
                          <a:schemeClr val="bg1">
                            <a:lumMod val="95000"/>
                          </a:schemeClr>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accent1">
                        <a:lumMod val="50000"/>
                      </a:schemeClr>
                    </a:solidFill>
                  </a:tcPr>
                </a:tc>
                <a:tc>
                  <a:txBody>
                    <a:bodyPr/>
                    <a:lstStyle/>
                    <a:p>
                      <a:pPr algn="ctr"/>
                      <a:r>
                        <a:rPr lang="en-US" sz="1100" b="1" dirty="0">
                          <a:solidFill>
                            <a:schemeClr val="bg1">
                              <a:lumMod val="95000"/>
                            </a:schemeClr>
                          </a:solidFill>
                          <a:latin typeface="Arial" panose="020B0604020202020204" pitchFamily="34" charset="0"/>
                          <a:cs typeface="Arial" panose="020B0604020202020204" pitchFamily="34" charset="0"/>
                        </a:rPr>
                        <a:t>Jul</a:t>
                      </a:r>
                      <a:endParaRPr lang="en-ID" sz="1100" b="1" dirty="0">
                        <a:solidFill>
                          <a:schemeClr val="bg1">
                            <a:lumMod val="95000"/>
                          </a:schemeClr>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accent1">
                        <a:lumMod val="50000"/>
                      </a:schemeClr>
                    </a:solidFill>
                  </a:tcPr>
                </a:tc>
                <a:tc>
                  <a:txBody>
                    <a:bodyPr/>
                    <a:lstStyle/>
                    <a:p>
                      <a:pPr algn="ctr"/>
                      <a:r>
                        <a:rPr lang="en-US" sz="1100" b="1">
                          <a:solidFill>
                            <a:schemeClr val="bg1">
                              <a:lumMod val="95000"/>
                            </a:schemeClr>
                          </a:solidFill>
                          <a:latin typeface="Arial" panose="020B0604020202020204" pitchFamily="34" charset="0"/>
                          <a:cs typeface="Arial" panose="020B0604020202020204" pitchFamily="34" charset="0"/>
                        </a:rPr>
                        <a:t>Aug</a:t>
                      </a:r>
                      <a:endParaRPr lang="en-ID" sz="1100" b="1">
                        <a:solidFill>
                          <a:schemeClr val="bg1">
                            <a:lumMod val="95000"/>
                          </a:schemeClr>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accent1">
                        <a:lumMod val="50000"/>
                      </a:schemeClr>
                    </a:solidFill>
                  </a:tcPr>
                </a:tc>
                <a:tc>
                  <a:txBody>
                    <a:bodyPr/>
                    <a:lstStyle/>
                    <a:p>
                      <a:pPr algn="ctr"/>
                      <a:r>
                        <a:rPr lang="en-US" sz="1100" b="1">
                          <a:solidFill>
                            <a:schemeClr val="bg1">
                              <a:lumMod val="95000"/>
                            </a:schemeClr>
                          </a:solidFill>
                          <a:latin typeface="Arial" panose="020B0604020202020204" pitchFamily="34" charset="0"/>
                          <a:cs typeface="Arial" panose="020B0604020202020204" pitchFamily="34" charset="0"/>
                        </a:rPr>
                        <a:t>Sep</a:t>
                      </a:r>
                      <a:endParaRPr lang="en-ID" sz="1100" b="1">
                        <a:solidFill>
                          <a:schemeClr val="bg1">
                            <a:lumMod val="95000"/>
                          </a:schemeClr>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accent1">
                        <a:lumMod val="50000"/>
                      </a:schemeClr>
                    </a:solidFill>
                  </a:tcPr>
                </a:tc>
                <a:tc>
                  <a:txBody>
                    <a:bodyPr/>
                    <a:lstStyle/>
                    <a:p>
                      <a:pPr algn="ctr"/>
                      <a:r>
                        <a:rPr lang="en-US" sz="1100" b="1">
                          <a:solidFill>
                            <a:schemeClr val="bg1">
                              <a:lumMod val="95000"/>
                            </a:schemeClr>
                          </a:solidFill>
                          <a:latin typeface="Arial" panose="020B0604020202020204" pitchFamily="34" charset="0"/>
                          <a:cs typeface="Arial" panose="020B0604020202020204" pitchFamily="34" charset="0"/>
                        </a:rPr>
                        <a:t>Oct</a:t>
                      </a:r>
                      <a:endParaRPr lang="en-ID" sz="1100" b="1">
                        <a:solidFill>
                          <a:schemeClr val="bg1">
                            <a:lumMod val="95000"/>
                          </a:schemeClr>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accent1">
                        <a:lumMod val="50000"/>
                      </a:schemeClr>
                    </a:solidFill>
                  </a:tcPr>
                </a:tc>
                <a:tc>
                  <a:txBody>
                    <a:bodyPr/>
                    <a:lstStyle/>
                    <a:p>
                      <a:pPr algn="ctr"/>
                      <a:r>
                        <a:rPr lang="en-US" sz="1100" b="1">
                          <a:solidFill>
                            <a:schemeClr val="bg1">
                              <a:lumMod val="95000"/>
                            </a:schemeClr>
                          </a:solidFill>
                          <a:latin typeface="Arial" panose="020B0604020202020204" pitchFamily="34" charset="0"/>
                          <a:cs typeface="Arial" panose="020B0604020202020204" pitchFamily="34" charset="0"/>
                        </a:rPr>
                        <a:t>Nov</a:t>
                      </a:r>
                      <a:endParaRPr lang="en-ID" sz="1100" b="1">
                        <a:solidFill>
                          <a:schemeClr val="bg1">
                            <a:lumMod val="95000"/>
                          </a:schemeClr>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accent1">
                        <a:lumMod val="50000"/>
                      </a:schemeClr>
                    </a:solidFill>
                  </a:tcPr>
                </a:tc>
                <a:tc>
                  <a:txBody>
                    <a:bodyPr/>
                    <a:lstStyle/>
                    <a:p>
                      <a:pPr algn="ctr"/>
                      <a:r>
                        <a:rPr lang="en-US" sz="1100" b="1">
                          <a:solidFill>
                            <a:schemeClr val="bg1">
                              <a:lumMod val="95000"/>
                            </a:schemeClr>
                          </a:solidFill>
                          <a:latin typeface="Arial" panose="020B0604020202020204" pitchFamily="34" charset="0"/>
                          <a:cs typeface="Arial" panose="020B0604020202020204" pitchFamily="34" charset="0"/>
                        </a:rPr>
                        <a:t>Dec</a:t>
                      </a:r>
                      <a:endParaRPr lang="en-ID" sz="1100" b="1">
                        <a:solidFill>
                          <a:schemeClr val="bg1">
                            <a:lumMod val="95000"/>
                          </a:schemeClr>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511455">
                <a:tc>
                  <a:txBody>
                    <a:bodyPr/>
                    <a:lstStyle/>
                    <a:p>
                      <a:pPr algn="ctr"/>
                      <a:r>
                        <a:rPr lang="en-US" sz="1000" b="0">
                          <a:solidFill>
                            <a:schemeClr val="tx1"/>
                          </a:solidFill>
                          <a:latin typeface="Arial" panose="020B0604020202020204" pitchFamily="34" charset="0"/>
                          <a:cs typeface="Arial" panose="020B0604020202020204" pitchFamily="34" charset="0"/>
                        </a:rPr>
                        <a:t>Self Audit</a:t>
                      </a:r>
                    </a:p>
                    <a:p>
                      <a:pPr algn="ctr"/>
                      <a:r>
                        <a:rPr lang="en-US" sz="1000" b="0">
                          <a:solidFill>
                            <a:schemeClr val="tx1"/>
                          </a:solidFill>
                          <a:latin typeface="Arial" panose="020B0604020202020204" pitchFamily="34" charset="0"/>
                          <a:cs typeface="Arial" panose="020B0604020202020204" pitchFamily="34" charset="0"/>
                        </a:rPr>
                        <a:t>Supp.</a:t>
                      </a:r>
                      <a:endParaRPr lang="en-ID" sz="1000" b="0">
                        <a:solidFill>
                          <a:schemeClr val="tx1"/>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ID" sz="1000" b="0">
                        <a:solidFill>
                          <a:schemeClr val="tx1"/>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ID" sz="1000" b="0">
                        <a:solidFill>
                          <a:schemeClr val="tx1"/>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ID" sz="1000" b="0">
                        <a:solidFill>
                          <a:schemeClr val="tx1"/>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ID" sz="1000" b="0">
                        <a:solidFill>
                          <a:schemeClr val="tx1"/>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ID" sz="1000" b="0" dirty="0">
                        <a:solidFill>
                          <a:schemeClr val="tx1"/>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ID" sz="1000" b="0">
                        <a:solidFill>
                          <a:schemeClr val="tx1"/>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ID" sz="1000" b="0" dirty="0">
                        <a:solidFill>
                          <a:schemeClr val="tx1"/>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ID" sz="1000" b="0" dirty="0">
                        <a:solidFill>
                          <a:schemeClr val="tx1"/>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ID" sz="1000" b="0">
                        <a:solidFill>
                          <a:schemeClr val="tx1"/>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ID" sz="1000" b="0" dirty="0">
                        <a:solidFill>
                          <a:schemeClr val="tx1"/>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ID" sz="1000" b="0">
                        <a:solidFill>
                          <a:schemeClr val="tx1"/>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ID" sz="1000" b="0">
                        <a:solidFill>
                          <a:schemeClr val="tx1"/>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lumMod val="85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44763">
                <a:tc>
                  <a:txBody>
                    <a:bodyPr/>
                    <a:lstStyle/>
                    <a:p>
                      <a:pPr algn="ctr"/>
                      <a:r>
                        <a:rPr lang="en-ID" sz="1000" b="0" dirty="0">
                          <a:solidFill>
                            <a:schemeClr val="tx1"/>
                          </a:solidFill>
                          <a:latin typeface="Arial" panose="020B0604020202020204" pitchFamily="34" charset="0"/>
                          <a:cs typeface="Arial" panose="020B0604020202020204" pitchFamily="34" charset="0"/>
                        </a:rPr>
                        <a:t>YIMM Ver.</a:t>
                      </a:r>
                    </a:p>
                  </a:txBody>
                  <a:tcPr marL="3600" marR="3600" marT="3598" marB="359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ID" sz="1000" b="0" dirty="0">
                        <a:solidFill>
                          <a:schemeClr val="tx1"/>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ID" sz="1000" b="0" dirty="0">
                        <a:solidFill>
                          <a:schemeClr val="tx1"/>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ID" sz="1000" b="0">
                        <a:solidFill>
                          <a:schemeClr val="tx1"/>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ID" sz="1000" b="0" dirty="0">
                        <a:solidFill>
                          <a:schemeClr val="tx1"/>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ID" sz="1000" b="0">
                        <a:solidFill>
                          <a:schemeClr val="tx1"/>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ID" sz="1000" b="0" dirty="0">
                        <a:solidFill>
                          <a:schemeClr val="tx1"/>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ID" sz="1000" b="0">
                        <a:solidFill>
                          <a:schemeClr val="tx1"/>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ID" sz="1000" b="0" dirty="0">
                        <a:solidFill>
                          <a:schemeClr val="tx1"/>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ID" sz="1000" b="0" dirty="0">
                        <a:solidFill>
                          <a:schemeClr val="tx1"/>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ID" sz="1000" b="0" dirty="0">
                        <a:solidFill>
                          <a:schemeClr val="tx1"/>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ID" sz="1000" b="0" dirty="0">
                        <a:solidFill>
                          <a:schemeClr val="tx1"/>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ID" sz="1000" b="0" dirty="0">
                        <a:solidFill>
                          <a:schemeClr val="tx1"/>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lumMod val="85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78640293"/>
                  </a:ext>
                </a:extLst>
              </a:tr>
              <a:tr h="27234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en-US" sz="1000" b="0" dirty="0">
                          <a:solidFill>
                            <a:schemeClr val="tx1"/>
                          </a:solidFill>
                          <a:latin typeface="Arial" panose="020B0604020202020204" pitchFamily="34" charset="0"/>
                          <a:cs typeface="Arial" panose="020B0604020202020204" pitchFamily="34" charset="0"/>
                        </a:rPr>
                        <a:t>Supplier Improvement</a:t>
                      </a:r>
                    </a:p>
                  </a:txBody>
                  <a:tcPr marL="3600" marR="3600" marT="3598" marB="359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en-US" sz="1000" b="0" dirty="0">
                        <a:solidFill>
                          <a:schemeClr val="tx1"/>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ID" sz="1000" b="0" dirty="0">
                        <a:solidFill>
                          <a:schemeClr val="tx1"/>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ID" sz="1000" b="0" dirty="0">
                        <a:solidFill>
                          <a:schemeClr val="tx1"/>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ID" sz="1000" b="0" dirty="0">
                        <a:solidFill>
                          <a:schemeClr val="tx1"/>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ID" sz="1000" b="0">
                        <a:solidFill>
                          <a:schemeClr val="tx1"/>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ID" sz="1000" b="0" dirty="0">
                        <a:solidFill>
                          <a:schemeClr val="tx1"/>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ID" sz="1000" b="0" dirty="0">
                        <a:solidFill>
                          <a:schemeClr val="tx1"/>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ID" sz="1000" b="0" dirty="0">
                        <a:solidFill>
                          <a:schemeClr val="tx1"/>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ID" sz="1000" b="0" dirty="0">
                        <a:solidFill>
                          <a:schemeClr val="tx1"/>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ID" sz="1000" b="0" dirty="0">
                        <a:solidFill>
                          <a:schemeClr val="tx1"/>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ID" sz="1000" b="0">
                        <a:solidFill>
                          <a:schemeClr val="tx1"/>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ID" sz="1000" b="0" dirty="0">
                        <a:solidFill>
                          <a:schemeClr val="tx1"/>
                        </a:solidFill>
                        <a:latin typeface="Arial" panose="020B0604020202020204" pitchFamily="34" charset="0"/>
                        <a:cs typeface="Arial" panose="020B0604020202020204" pitchFamily="34" charset="0"/>
                      </a:endParaRPr>
                    </a:p>
                  </a:txBody>
                  <a:tcPr marL="3600" marR="3600" marT="3598" marB="3598" anchor="ctr">
                    <a:lnL w="12700" cap="flat" cmpd="sng" algn="ctr">
                      <a:solidFill>
                        <a:schemeClr val="bg1">
                          <a:lumMod val="85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16" name="TextBox 20">
            <a:extLst>
              <a:ext uri="{FF2B5EF4-FFF2-40B4-BE49-F238E27FC236}">
                <a16:creationId xmlns:a16="http://schemas.microsoft.com/office/drawing/2014/main" id="{CBC63A7A-A2EA-47C3-69AA-6E94069935CF}"/>
              </a:ext>
            </a:extLst>
          </p:cNvPr>
          <p:cNvSpPr txBox="1">
            <a:spLocks noChangeArrowheads="1"/>
          </p:cNvSpPr>
          <p:nvPr/>
        </p:nvSpPr>
        <p:spPr bwMode="auto">
          <a:xfrm>
            <a:off x="8701854" y="862870"/>
            <a:ext cx="1020763" cy="18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600" b="0" i="0" u="none" strike="noStrike" kern="1200" cap="none" spc="0" normalizeH="0" baseline="0" noProof="0">
                <a:ln>
                  <a:noFill/>
                </a:ln>
                <a:solidFill>
                  <a:srgbClr val="000000"/>
                </a:solidFill>
                <a:effectLst/>
                <a:uLnTx/>
                <a:uFillTx/>
                <a:latin typeface="Arial" panose="020B0604020202020204" pitchFamily="34" charset="0"/>
                <a:ea typeface="+mn-ea"/>
                <a:cs typeface="+mn-cs"/>
              </a:rPr>
              <a:t>: Self Audit</a:t>
            </a:r>
            <a:endParaRPr kumimoji="0" lang="en-US" altLang="en-US" sz="6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
        <p:nvSpPr>
          <p:cNvPr id="17" name="TextBox 23">
            <a:extLst>
              <a:ext uri="{FF2B5EF4-FFF2-40B4-BE49-F238E27FC236}">
                <a16:creationId xmlns:a16="http://schemas.microsoft.com/office/drawing/2014/main" id="{2D6491B3-F1D0-2088-AF52-8F4C864E0529}"/>
              </a:ext>
            </a:extLst>
          </p:cNvPr>
          <p:cNvSpPr txBox="1">
            <a:spLocks noChangeArrowheads="1"/>
          </p:cNvSpPr>
          <p:nvPr/>
        </p:nvSpPr>
        <p:spPr bwMode="auto">
          <a:xfrm>
            <a:off x="9663113" y="856519"/>
            <a:ext cx="1020762"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600" b="0" i="0" u="none" strike="noStrike" kern="1200" cap="none" spc="0" normalizeH="0" baseline="0" noProof="0">
                <a:ln>
                  <a:noFill/>
                </a:ln>
                <a:solidFill>
                  <a:srgbClr val="000000"/>
                </a:solidFill>
                <a:effectLst/>
                <a:uLnTx/>
                <a:uFillTx/>
                <a:latin typeface="Arial" panose="020B0604020202020204" pitchFamily="34" charset="0"/>
                <a:ea typeface="+mn-ea"/>
                <a:cs typeface="+mn-cs"/>
              </a:rPr>
              <a:t>: Check Genba (supp)</a:t>
            </a:r>
            <a:endParaRPr kumimoji="0" lang="en-US" altLang="en-US" sz="6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
        <p:nvSpPr>
          <p:cNvPr id="18" name="Flowchart: Decision 17">
            <a:extLst>
              <a:ext uri="{FF2B5EF4-FFF2-40B4-BE49-F238E27FC236}">
                <a16:creationId xmlns:a16="http://schemas.microsoft.com/office/drawing/2014/main" id="{DD386D73-0C16-3712-60C5-DEA3390192E0}"/>
              </a:ext>
            </a:extLst>
          </p:cNvPr>
          <p:cNvSpPr/>
          <p:nvPr/>
        </p:nvSpPr>
        <p:spPr>
          <a:xfrm>
            <a:off x="9509125" y="872394"/>
            <a:ext cx="193675" cy="153988"/>
          </a:xfrm>
          <a:prstGeom prst="flowChartDecision">
            <a:avLst/>
          </a:prstGeom>
          <a:solidFill>
            <a:schemeClr val="accent6">
              <a:lumMod val="60000"/>
              <a:lumOff val="40000"/>
            </a:schemeClr>
          </a:solid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white"/>
              </a:solidFill>
              <a:effectLst/>
              <a:uLnTx/>
              <a:uFillTx/>
              <a:latin typeface="Arial"/>
              <a:ea typeface="+mn-ea"/>
              <a:cs typeface="+mn-cs"/>
            </a:endParaRPr>
          </a:p>
        </p:txBody>
      </p:sp>
      <p:sp>
        <p:nvSpPr>
          <p:cNvPr id="19" name="Flowchart: Decision 18">
            <a:extLst>
              <a:ext uri="{FF2B5EF4-FFF2-40B4-BE49-F238E27FC236}">
                <a16:creationId xmlns:a16="http://schemas.microsoft.com/office/drawing/2014/main" id="{B3FE2B7C-22E3-40D6-B705-9A4578354ACB}"/>
              </a:ext>
            </a:extLst>
          </p:cNvPr>
          <p:cNvSpPr/>
          <p:nvPr/>
        </p:nvSpPr>
        <p:spPr>
          <a:xfrm>
            <a:off x="8519292" y="866045"/>
            <a:ext cx="193675" cy="153987"/>
          </a:xfrm>
          <a:prstGeom prst="flowChartDecision">
            <a:avLst/>
          </a:prstGeom>
          <a:solidFill>
            <a:schemeClr val="accent5">
              <a:lumMod val="75000"/>
            </a:schemeClr>
          </a:solid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white"/>
              </a:solidFill>
              <a:effectLst/>
              <a:uLnTx/>
              <a:uFillTx/>
              <a:latin typeface="Arial"/>
              <a:ea typeface="+mn-ea"/>
              <a:cs typeface="+mn-cs"/>
            </a:endParaRPr>
          </a:p>
        </p:txBody>
      </p:sp>
      <p:sp>
        <p:nvSpPr>
          <p:cNvPr id="20" name="Flowchart: Decision 19">
            <a:extLst>
              <a:ext uri="{FF2B5EF4-FFF2-40B4-BE49-F238E27FC236}">
                <a16:creationId xmlns:a16="http://schemas.microsoft.com/office/drawing/2014/main" id="{330A60E6-CA05-19CB-4244-4F65CE2C3C9C}"/>
              </a:ext>
            </a:extLst>
          </p:cNvPr>
          <p:cNvSpPr/>
          <p:nvPr/>
        </p:nvSpPr>
        <p:spPr>
          <a:xfrm>
            <a:off x="10677525" y="872394"/>
            <a:ext cx="193675" cy="153988"/>
          </a:xfrm>
          <a:prstGeom prst="flowChartDecision">
            <a:avLst/>
          </a:prstGeom>
          <a:solidFill>
            <a:srgbClr val="FFFF00"/>
          </a:solid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white"/>
              </a:solidFill>
              <a:effectLst/>
              <a:highlight>
                <a:srgbClr val="FFFF00"/>
              </a:highlight>
              <a:uLnTx/>
              <a:uFillTx/>
              <a:latin typeface="Arial"/>
              <a:ea typeface="+mn-ea"/>
              <a:cs typeface="+mn-cs"/>
            </a:endParaRPr>
          </a:p>
        </p:txBody>
      </p:sp>
      <p:sp>
        <p:nvSpPr>
          <p:cNvPr id="21" name="TextBox 35">
            <a:extLst>
              <a:ext uri="{FF2B5EF4-FFF2-40B4-BE49-F238E27FC236}">
                <a16:creationId xmlns:a16="http://schemas.microsoft.com/office/drawing/2014/main" id="{A2A87B83-82BD-5F89-B137-C73E108612C5}"/>
              </a:ext>
            </a:extLst>
          </p:cNvPr>
          <p:cNvSpPr txBox="1">
            <a:spLocks noChangeArrowheads="1"/>
          </p:cNvSpPr>
          <p:nvPr/>
        </p:nvSpPr>
        <p:spPr bwMode="auto">
          <a:xfrm>
            <a:off x="10837863" y="862869"/>
            <a:ext cx="1020762" cy="18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600" b="0" i="0" u="none" strike="noStrike" kern="1200" cap="none" spc="0" normalizeH="0" baseline="0" noProof="0">
                <a:ln>
                  <a:noFill/>
                </a:ln>
                <a:solidFill>
                  <a:srgbClr val="000000"/>
                </a:solidFill>
                <a:effectLst/>
                <a:uLnTx/>
                <a:uFillTx/>
                <a:latin typeface="Arial" panose="020B0604020202020204" pitchFamily="34" charset="0"/>
                <a:ea typeface="+mn-ea"/>
                <a:cs typeface="+mn-cs"/>
              </a:rPr>
              <a:t>: Report Improvement</a:t>
            </a:r>
            <a:endParaRPr kumimoji="0" lang="en-US" altLang="en-US" sz="6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
        <p:nvSpPr>
          <p:cNvPr id="22" name="Flowchart: Decision 21">
            <a:extLst>
              <a:ext uri="{FF2B5EF4-FFF2-40B4-BE49-F238E27FC236}">
                <a16:creationId xmlns:a16="http://schemas.microsoft.com/office/drawing/2014/main" id="{E7C8F3AA-6AF2-BFF5-C062-1300D0FEF475}"/>
              </a:ext>
            </a:extLst>
          </p:cNvPr>
          <p:cNvSpPr/>
          <p:nvPr/>
        </p:nvSpPr>
        <p:spPr>
          <a:xfrm>
            <a:off x="5119131" y="1740895"/>
            <a:ext cx="193675" cy="153987"/>
          </a:xfrm>
          <a:prstGeom prst="flowChartDecision">
            <a:avLst/>
          </a:prstGeom>
          <a:solidFill>
            <a:schemeClr val="accent5">
              <a:lumMod val="75000"/>
            </a:schemeClr>
          </a:solid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white"/>
              </a:solidFill>
              <a:effectLst/>
              <a:uLnTx/>
              <a:uFillTx/>
              <a:latin typeface="Arial"/>
              <a:ea typeface="+mn-ea"/>
              <a:cs typeface="+mn-cs"/>
            </a:endParaRPr>
          </a:p>
        </p:txBody>
      </p:sp>
      <p:cxnSp>
        <p:nvCxnSpPr>
          <p:cNvPr id="24" name="Straight Arrow Connector 23">
            <a:extLst>
              <a:ext uri="{FF2B5EF4-FFF2-40B4-BE49-F238E27FC236}">
                <a16:creationId xmlns:a16="http://schemas.microsoft.com/office/drawing/2014/main" id="{3472F3D6-579B-CE8D-C525-3FA33013B6F4}"/>
              </a:ext>
            </a:extLst>
          </p:cNvPr>
          <p:cNvCxnSpPr>
            <a:cxnSpLocks/>
          </p:cNvCxnSpPr>
          <p:nvPr/>
        </p:nvCxnSpPr>
        <p:spPr>
          <a:xfrm>
            <a:off x="4437600" y="1816788"/>
            <a:ext cx="596680" cy="0"/>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8C89D56-054A-26A2-C1F0-81FA52C08A81}"/>
              </a:ext>
            </a:extLst>
          </p:cNvPr>
          <p:cNvCxnSpPr>
            <a:cxnSpLocks/>
          </p:cNvCxnSpPr>
          <p:nvPr/>
        </p:nvCxnSpPr>
        <p:spPr>
          <a:xfrm>
            <a:off x="5414200" y="1814433"/>
            <a:ext cx="6081840" cy="5427"/>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sp>
        <p:nvSpPr>
          <p:cNvPr id="27" name="Flowchart: Decision 26">
            <a:extLst>
              <a:ext uri="{FF2B5EF4-FFF2-40B4-BE49-F238E27FC236}">
                <a16:creationId xmlns:a16="http://schemas.microsoft.com/office/drawing/2014/main" id="{07A9EC0B-551A-2FF7-B9FC-A9322FC09D76}"/>
              </a:ext>
            </a:extLst>
          </p:cNvPr>
          <p:cNvSpPr/>
          <p:nvPr/>
        </p:nvSpPr>
        <p:spPr>
          <a:xfrm>
            <a:off x="5119750" y="2529225"/>
            <a:ext cx="193675" cy="153988"/>
          </a:xfrm>
          <a:prstGeom prst="flowChartDecision">
            <a:avLst/>
          </a:prstGeom>
          <a:solidFill>
            <a:srgbClr val="FFFF00"/>
          </a:solid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white"/>
              </a:solidFill>
              <a:effectLst/>
              <a:highlight>
                <a:srgbClr val="FFFF00"/>
              </a:highlight>
              <a:uLnTx/>
              <a:uFillTx/>
              <a:latin typeface="Arial"/>
              <a:ea typeface="+mn-ea"/>
              <a:cs typeface="+mn-cs"/>
            </a:endParaRPr>
          </a:p>
        </p:txBody>
      </p:sp>
      <p:cxnSp>
        <p:nvCxnSpPr>
          <p:cNvPr id="28" name="Straight Arrow Connector 27">
            <a:extLst>
              <a:ext uri="{FF2B5EF4-FFF2-40B4-BE49-F238E27FC236}">
                <a16:creationId xmlns:a16="http://schemas.microsoft.com/office/drawing/2014/main" id="{09D79A24-9443-0216-0B69-FE76855AAFDB}"/>
              </a:ext>
            </a:extLst>
          </p:cNvPr>
          <p:cNvCxnSpPr>
            <a:cxnSpLocks/>
          </p:cNvCxnSpPr>
          <p:nvPr/>
        </p:nvCxnSpPr>
        <p:spPr>
          <a:xfrm>
            <a:off x="5414200" y="2606219"/>
            <a:ext cx="6081840" cy="0"/>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2">
            <a:extLst>
              <a:ext uri="{FF2B5EF4-FFF2-40B4-BE49-F238E27FC236}">
                <a16:creationId xmlns:a16="http://schemas.microsoft.com/office/drawing/2014/main" id="{BA10F17D-F4E9-9E08-01C8-7310CF293B91}"/>
              </a:ext>
            </a:extLst>
          </p:cNvPr>
          <p:cNvSpPr txBox="1">
            <a:spLocks noChangeArrowheads="1"/>
          </p:cNvSpPr>
          <p:nvPr/>
        </p:nvSpPr>
        <p:spPr bwMode="auto">
          <a:xfrm>
            <a:off x="4488184" y="1880744"/>
            <a:ext cx="150433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7800" indent="-177800" defTabSz="91281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91281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91281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91281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91281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91281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91281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91281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91281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ctr" defTabSz="912813" rtl="0" eaLnBrk="1" fontAlgn="auto" latinLnBrk="0" hangingPunct="1">
              <a:lnSpc>
                <a:spcPct val="100000"/>
              </a:lnSpc>
              <a:spcBef>
                <a:spcPct val="0"/>
              </a:spcBef>
              <a:spcAft>
                <a:spcPts val="0"/>
              </a:spcAft>
              <a:buClrTx/>
              <a:buSzTx/>
              <a:buFont typeface="Arial" panose="020B0604020202020204" pitchFamily="34" charset="0"/>
              <a:buNone/>
              <a:tabLst/>
              <a:defRPr/>
            </a:pPr>
            <a:r>
              <a:rPr kumimoji="1" lang="id-ID" altLang="ja-JP" sz="900" b="1" dirty="0">
                <a:solidFill>
                  <a:sysClr val="windowText" lastClr="000000"/>
                </a:solidFill>
                <a:latin typeface="Arial" panose="020B0604020202020204" pitchFamily="34" charset="0"/>
                <a:ea typeface="Tahoma" panose="020B0604030504040204" pitchFamily="34" charset="0"/>
                <a:cs typeface="Arial" panose="020B0604020202020204" pitchFamily="34" charset="0"/>
              </a:rPr>
              <a:t>Prod.rubber C</a:t>
            </a:r>
            <a:endParaRPr kumimoji="1" lang="en-US" altLang="ja-JP" sz="900" b="1" i="0" u="none" strike="noStrike" kern="1200" cap="none" spc="0" normalizeH="0" baseline="0" noProof="0" dirty="0">
              <a:ln>
                <a:noFill/>
              </a:ln>
              <a:solidFill>
                <a:sysClr val="windowText" lastClr="000000"/>
              </a:solidFill>
              <a:effectLst/>
              <a:uLnTx/>
              <a:uFillTx/>
              <a:latin typeface="Arial" panose="020B0604020202020204" pitchFamily="34" charset="0"/>
              <a:ea typeface="Tahoma" panose="020B0604030504040204" pitchFamily="34" charset="0"/>
              <a:cs typeface="Arial" panose="020B0604020202020204" pitchFamily="34" charset="0"/>
            </a:endParaRPr>
          </a:p>
        </p:txBody>
      </p:sp>
      <p:sp>
        <p:nvSpPr>
          <p:cNvPr id="31" name="テキスト ボックス 22">
            <a:extLst>
              <a:ext uri="{FF2B5EF4-FFF2-40B4-BE49-F238E27FC236}">
                <a16:creationId xmlns:a16="http://schemas.microsoft.com/office/drawing/2014/main" id="{5B3FCB31-0A2B-30E4-0200-274B60D4097D}"/>
              </a:ext>
            </a:extLst>
          </p:cNvPr>
          <p:cNvSpPr txBox="1">
            <a:spLocks noChangeArrowheads="1"/>
          </p:cNvSpPr>
          <p:nvPr/>
        </p:nvSpPr>
        <p:spPr bwMode="auto">
          <a:xfrm>
            <a:off x="8030029" y="1839990"/>
            <a:ext cx="169258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7800" indent="-177800" defTabSz="91281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defTabSz="91281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91281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91281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91281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91281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91281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91281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91281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lvl="0" indent="0" algn="ctr">
              <a:lnSpc>
                <a:spcPct val="100000"/>
              </a:lnSpc>
              <a:spcBef>
                <a:spcPct val="0"/>
              </a:spcBef>
              <a:buNone/>
              <a:defRPr/>
            </a:pPr>
            <a:r>
              <a:rPr kumimoji="1" lang="id-ID" altLang="ja-JP" sz="900" b="1" dirty="0">
                <a:solidFill>
                  <a:sysClr val="windowText" lastClr="000000"/>
                </a:solidFill>
                <a:latin typeface="Arial" panose="020B0604020202020204" pitchFamily="34" charset="0"/>
                <a:ea typeface="Tahoma" panose="020B0604030504040204" pitchFamily="34" charset="0"/>
                <a:cs typeface="Arial" panose="020B0604020202020204" pitchFamily="34" charset="0"/>
              </a:rPr>
              <a:t>Prod.rubber C</a:t>
            </a:r>
            <a:endParaRPr kumimoji="1" lang="en-US" altLang="ja-JP" sz="900" b="1" dirty="0">
              <a:solidFill>
                <a:sysClr val="windowText" lastClr="000000"/>
              </a:solidFill>
              <a:latin typeface="Arial" panose="020B0604020202020204" pitchFamily="34" charset="0"/>
              <a:ea typeface="Tahoma" panose="020B0604030504040204" pitchFamily="34" charset="0"/>
              <a:cs typeface="Arial" panose="020B0604020202020204" pitchFamily="34" charset="0"/>
            </a:endParaRPr>
          </a:p>
        </p:txBody>
      </p:sp>
      <p:sp>
        <p:nvSpPr>
          <p:cNvPr id="33" name="Rectangle 32">
            <a:extLst>
              <a:ext uri="{FF2B5EF4-FFF2-40B4-BE49-F238E27FC236}">
                <a16:creationId xmlns:a16="http://schemas.microsoft.com/office/drawing/2014/main" id="{AF618891-792C-77C9-3C76-16B54DB0EB06}"/>
              </a:ext>
            </a:extLst>
          </p:cNvPr>
          <p:cNvSpPr/>
          <p:nvPr/>
        </p:nvSpPr>
        <p:spPr>
          <a:xfrm>
            <a:off x="70270" y="6569379"/>
            <a:ext cx="3031599" cy="246221"/>
          </a:xfrm>
          <a:prstGeom prst="rect">
            <a:avLst/>
          </a:prstGeom>
        </p:spPr>
        <p:txBody>
          <a:bodyPr wrap="none">
            <a:spAutoFit/>
          </a:bodyPr>
          <a:lstStyle>
            <a:lvl1pPr defTabSz="842963">
              <a:defRPr>
                <a:solidFill>
                  <a:schemeClr val="tx1"/>
                </a:solidFill>
                <a:latin typeface="Calibri" panose="020F0502020204030204" pitchFamily="34" charset="0"/>
              </a:defRPr>
            </a:lvl1pPr>
            <a:lvl2pPr marL="742950" indent="-285750" defTabSz="842963">
              <a:defRPr>
                <a:solidFill>
                  <a:schemeClr val="tx1"/>
                </a:solidFill>
                <a:latin typeface="Calibri" panose="020F0502020204030204" pitchFamily="34" charset="0"/>
              </a:defRPr>
            </a:lvl2pPr>
            <a:lvl3pPr marL="1143000" indent="-228600" defTabSz="842963">
              <a:defRPr>
                <a:solidFill>
                  <a:schemeClr val="tx1"/>
                </a:solidFill>
                <a:latin typeface="Calibri" panose="020F0502020204030204" pitchFamily="34" charset="0"/>
              </a:defRPr>
            </a:lvl3pPr>
            <a:lvl4pPr marL="1600200" indent="-228600" defTabSz="842963">
              <a:defRPr>
                <a:solidFill>
                  <a:schemeClr val="tx1"/>
                </a:solidFill>
                <a:latin typeface="Calibri" panose="020F0502020204030204" pitchFamily="34" charset="0"/>
              </a:defRPr>
            </a:lvl4pPr>
            <a:lvl5pPr marL="2057400" indent="-228600" defTabSz="842963">
              <a:defRPr>
                <a:solidFill>
                  <a:schemeClr val="tx1"/>
                </a:solidFill>
                <a:latin typeface="Calibri" panose="020F0502020204030204" pitchFamily="34" charset="0"/>
              </a:defRPr>
            </a:lvl5pPr>
            <a:lvl6pPr marL="2514600" indent="-228600" defTabSz="842963" eaLnBrk="0" fontAlgn="base" hangingPunct="0">
              <a:spcBef>
                <a:spcPct val="0"/>
              </a:spcBef>
              <a:spcAft>
                <a:spcPct val="0"/>
              </a:spcAft>
              <a:defRPr>
                <a:solidFill>
                  <a:schemeClr val="tx1"/>
                </a:solidFill>
                <a:latin typeface="Calibri" panose="020F0502020204030204" pitchFamily="34" charset="0"/>
              </a:defRPr>
            </a:lvl6pPr>
            <a:lvl7pPr marL="2971800" indent="-228600" defTabSz="842963" eaLnBrk="0" fontAlgn="base" hangingPunct="0">
              <a:spcBef>
                <a:spcPct val="0"/>
              </a:spcBef>
              <a:spcAft>
                <a:spcPct val="0"/>
              </a:spcAft>
              <a:defRPr>
                <a:solidFill>
                  <a:schemeClr val="tx1"/>
                </a:solidFill>
                <a:latin typeface="Calibri" panose="020F0502020204030204" pitchFamily="34" charset="0"/>
              </a:defRPr>
            </a:lvl7pPr>
            <a:lvl8pPr marL="3429000" indent="-228600" defTabSz="842963" eaLnBrk="0" fontAlgn="base" hangingPunct="0">
              <a:spcBef>
                <a:spcPct val="0"/>
              </a:spcBef>
              <a:spcAft>
                <a:spcPct val="0"/>
              </a:spcAft>
              <a:defRPr>
                <a:solidFill>
                  <a:schemeClr val="tx1"/>
                </a:solidFill>
                <a:latin typeface="Calibri" panose="020F0502020204030204" pitchFamily="34" charset="0"/>
              </a:defRPr>
            </a:lvl8pPr>
            <a:lvl9pPr marL="3886200" indent="-228600" defTabSz="842963" eaLnBrk="0" fontAlgn="base" hangingPunct="0">
              <a:spcBef>
                <a:spcPct val="0"/>
              </a:spcBef>
              <a:spcAft>
                <a:spcPct val="0"/>
              </a:spcAft>
              <a:defRPr>
                <a:solidFill>
                  <a:schemeClr val="tx1"/>
                </a:solidFill>
                <a:latin typeface="Calibri" panose="020F0502020204030204" pitchFamily="34" charset="0"/>
              </a:defRPr>
            </a:lvl9pPr>
          </a:lstStyle>
          <a:p>
            <a:pPr marL="0" marR="0" lvl="0" indent="0" defTabSz="842963" rtl="0" eaLnBrk="1" fontAlgn="auto" latinLnBrk="0" hangingPunct="1">
              <a:lnSpc>
                <a:spcPct val="100000"/>
              </a:lnSpc>
              <a:spcBef>
                <a:spcPts val="0"/>
              </a:spcBef>
              <a:spcAft>
                <a:spcPts val="0"/>
              </a:spcAft>
              <a:buClrTx/>
              <a:buSzTx/>
              <a:buFontTx/>
              <a:buNone/>
              <a:tabLst/>
              <a:defRPr/>
            </a:pPr>
            <a:r>
              <a:rPr kumimoji="0" lang="en-US" altLang="en-US" sz="1000" b="1" i="0" strike="noStrike" kern="1200" cap="none" spc="0" normalizeH="0" baseline="0" noProof="0" dirty="0">
                <a:ln>
                  <a:noFill/>
                </a:ln>
                <a:highlight>
                  <a:srgbClr val="FFFF00"/>
                </a:highlight>
                <a:uLnTx/>
                <a:uFillTx/>
                <a:latin typeface="Arial" panose="020B0604020202020204" pitchFamily="34" charset="0"/>
                <a:ea typeface="游ゴシック Light" panose="020B0300000000000000" pitchFamily="34" charset="-128"/>
                <a:cs typeface="Arial" panose="020B0604020202020204" pitchFamily="34" charset="0"/>
              </a:rPr>
              <a:t>Due Date Improvement (AP)</a:t>
            </a:r>
            <a:r>
              <a:rPr lang="en-US" altLang="en-US" sz="1000" b="1" dirty="0">
                <a:highlight>
                  <a:srgbClr val="FFFF00"/>
                </a:highlight>
                <a:latin typeface="Arial" panose="020B0604020202020204" pitchFamily="34" charset="0"/>
                <a:ea typeface="游ゴシック Light" panose="020B0300000000000000" pitchFamily="34" charset="-128"/>
                <a:cs typeface="Arial" panose="020B0604020202020204" pitchFamily="34" charset="0"/>
              </a:rPr>
              <a:t> </a:t>
            </a:r>
            <a:r>
              <a:rPr kumimoji="0" lang="en-US" altLang="en-US" sz="1000" b="1" i="0" strike="noStrike" kern="1200" cap="none" spc="0" normalizeH="0" baseline="0" noProof="0" dirty="0">
                <a:ln>
                  <a:noFill/>
                </a:ln>
                <a:highlight>
                  <a:srgbClr val="FFFF00"/>
                </a:highlight>
                <a:uLnTx/>
                <a:uFillTx/>
                <a:latin typeface="Arial" panose="020B0604020202020204" pitchFamily="34" charset="0"/>
                <a:ea typeface="游ゴシック Light" panose="020B0300000000000000" pitchFamily="34" charset="-128"/>
                <a:cs typeface="Arial" panose="020B0604020202020204" pitchFamily="34" charset="0"/>
              </a:rPr>
              <a:t>: </a:t>
            </a:r>
            <a:r>
              <a:rPr lang="id-ID" altLang="en-US" sz="1000" b="1" dirty="0">
                <a:highlight>
                  <a:srgbClr val="FFFF00"/>
                </a:highlight>
                <a:latin typeface="Arial" panose="020B0604020202020204" pitchFamily="34" charset="0"/>
                <a:ea typeface="游ゴシック Light" panose="020B0300000000000000" pitchFamily="34" charset="-128"/>
                <a:cs typeface="Arial" panose="020B0604020202020204" pitchFamily="34" charset="0"/>
              </a:rPr>
              <a:t>20</a:t>
            </a:r>
            <a:r>
              <a:rPr kumimoji="0" lang="en-US" altLang="en-US" sz="1000" b="1" i="0" strike="noStrike" kern="1200" cap="none" spc="0" normalizeH="0" baseline="0" noProof="0" dirty="0">
                <a:ln>
                  <a:noFill/>
                </a:ln>
                <a:highlight>
                  <a:srgbClr val="FFFF00"/>
                </a:highlight>
                <a:uLnTx/>
                <a:uFillTx/>
                <a:latin typeface="Arial" panose="020B0604020202020204" pitchFamily="34" charset="0"/>
                <a:ea typeface="游ゴシック Light" panose="020B0300000000000000" pitchFamily="34" charset="-128"/>
                <a:cs typeface="Arial" panose="020B0604020202020204" pitchFamily="34" charset="0"/>
              </a:rPr>
              <a:t> </a:t>
            </a:r>
            <a:r>
              <a:rPr lang="id-ID" altLang="en-US" sz="1000" b="1" dirty="0">
                <a:highlight>
                  <a:srgbClr val="FFFF00"/>
                </a:highlight>
                <a:latin typeface="Arial" panose="020B0604020202020204" pitchFamily="34" charset="0"/>
                <a:ea typeface="游ゴシック Light" panose="020B0300000000000000" pitchFamily="34" charset="-128"/>
                <a:cs typeface="Arial" panose="020B0604020202020204" pitchFamily="34" charset="0"/>
              </a:rPr>
              <a:t>Februari</a:t>
            </a:r>
            <a:r>
              <a:rPr kumimoji="0" lang="en-US" altLang="en-US" sz="1000" b="1" i="0" strike="noStrike" kern="1200" cap="none" spc="0" normalizeH="0" baseline="0" noProof="0" dirty="0">
                <a:ln>
                  <a:noFill/>
                </a:ln>
                <a:highlight>
                  <a:srgbClr val="FFFF00"/>
                </a:highlight>
                <a:uLnTx/>
                <a:uFillTx/>
                <a:latin typeface="Arial" panose="020B0604020202020204" pitchFamily="34" charset="0"/>
                <a:ea typeface="游ゴシック Light" panose="020B0300000000000000" pitchFamily="34" charset="-128"/>
                <a:cs typeface="Arial" panose="020B0604020202020204" pitchFamily="34" charset="0"/>
              </a:rPr>
              <a:t> 202</a:t>
            </a:r>
            <a:r>
              <a:rPr kumimoji="0" lang="id-ID" altLang="en-US" sz="1000" b="1" i="0" strike="noStrike" kern="1200" cap="none" spc="0" normalizeH="0" baseline="0" noProof="0" dirty="0">
                <a:ln>
                  <a:noFill/>
                </a:ln>
                <a:highlight>
                  <a:srgbClr val="FFFF00"/>
                </a:highlight>
                <a:uLnTx/>
                <a:uFillTx/>
                <a:latin typeface="Arial" panose="020B0604020202020204" pitchFamily="34" charset="0"/>
                <a:ea typeface="游ゴシック Light" panose="020B0300000000000000" pitchFamily="34" charset="-128"/>
                <a:cs typeface="Arial" panose="020B0604020202020204" pitchFamily="34" charset="0"/>
              </a:rPr>
              <a:t>6</a:t>
            </a:r>
            <a:r>
              <a:rPr kumimoji="0" lang="en-US" altLang="en-US" sz="1000" b="1" i="0" strike="noStrike" kern="1200" cap="none" spc="0" normalizeH="0" baseline="0" noProof="0" dirty="0">
                <a:ln>
                  <a:noFill/>
                </a:ln>
                <a:highlight>
                  <a:srgbClr val="FFFF00"/>
                </a:highlight>
                <a:uLnTx/>
                <a:uFillTx/>
                <a:latin typeface="Arial" panose="020B0604020202020204" pitchFamily="34" charset="0"/>
                <a:ea typeface="游ゴシック Light" panose="020B0300000000000000" pitchFamily="34" charset="-128"/>
                <a:cs typeface="Arial" panose="020B0604020202020204" pitchFamily="34" charset="0"/>
              </a:rPr>
              <a:t> </a:t>
            </a:r>
          </a:p>
        </p:txBody>
      </p:sp>
      <p:cxnSp>
        <p:nvCxnSpPr>
          <p:cNvPr id="34" name="Straight Connector 33"/>
          <p:cNvCxnSpPr/>
          <p:nvPr/>
        </p:nvCxnSpPr>
        <p:spPr>
          <a:xfrm>
            <a:off x="476517" y="798490"/>
            <a:ext cx="11127347" cy="0"/>
          </a:xfrm>
          <a:prstGeom prst="line">
            <a:avLst/>
          </a:prstGeom>
          <a:noFill/>
          <a:ln w="28575" cap="flat" cmpd="sng" algn="ctr">
            <a:solidFill>
              <a:srgbClr val="002060"/>
            </a:solidFill>
            <a:prstDash val="solid"/>
            <a:miter lim="800000"/>
          </a:ln>
          <a:effectLst/>
        </p:spPr>
      </p:cxnSp>
      <p:sp>
        <p:nvSpPr>
          <p:cNvPr id="35" name="TextBox 34"/>
          <p:cNvSpPr txBox="1"/>
          <p:nvPr/>
        </p:nvSpPr>
        <p:spPr>
          <a:xfrm>
            <a:off x="989252" y="151225"/>
            <a:ext cx="5445761" cy="461665"/>
          </a:xfrm>
          <a:prstGeom prst="rect">
            <a:avLst/>
          </a:prstGeom>
          <a:noFill/>
        </p:spPr>
        <p:txBody>
          <a:bodyPr wrap="square" rtlCol="0">
            <a:spAutoFit/>
          </a:bodyPr>
          <a:lstStyle/>
          <a:p>
            <a:r>
              <a:rPr lang="en-US" sz="2400" dirty="0">
                <a:solidFill>
                  <a:srgbClr val="002060"/>
                </a:solidFill>
                <a:latin typeface="Segoe UI" panose="020B0502040204020203" pitchFamily="34" charset="0"/>
                <a:cs typeface="Segoe UI" panose="020B0502040204020203" pitchFamily="34" charset="0"/>
              </a:rPr>
              <a:t>Self Audit TPQ </a:t>
            </a:r>
            <a:r>
              <a:rPr lang="id-ID" sz="2400" dirty="0">
                <a:solidFill>
                  <a:srgbClr val="002060"/>
                </a:solidFill>
                <a:latin typeface="Segoe UI" panose="020B0502040204020203" pitchFamily="34" charset="0"/>
                <a:cs typeface="Segoe UI" panose="020B0502040204020203" pitchFamily="34" charset="0"/>
              </a:rPr>
              <a:t>Trivindo Prima Mandiri</a:t>
            </a:r>
            <a:endParaRPr lang="en-US" sz="2400" dirty="0">
              <a:solidFill>
                <a:srgbClr val="002060"/>
              </a:solidFill>
              <a:latin typeface="Segoe UI" panose="020B0502040204020203" pitchFamily="34" charset="0"/>
              <a:cs typeface="Segoe UI" panose="020B0502040204020203" pitchFamily="34" charset="0"/>
            </a:endParaRPr>
          </a:p>
        </p:txBody>
      </p:sp>
      <p:sp>
        <p:nvSpPr>
          <p:cNvPr id="36" name="Rectangle 35"/>
          <p:cNvSpPr/>
          <p:nvPr/>
        </p:nvSpPr>
        <p:spPr>
          <a:xfrm>
            <a:off x="9756982" y="-94709"/>
            <a:ext cx="2031714" cy="948501"/>
          </a:xfrm>
          <a:prstGeom prst="rect">
            <a:avLst/>
          </a:prstGeom>
          <a:noFill/>
          <a:ln w="12700" cap="flat" cmpd="sng" algn="ctr">
            <a:noFill/>
            <a:prstDash val="solid"/>
            <a:miter lim="800000"/>
          </a:ln>
          <a:effectLst/>
        </p:spPr>
        <p:txBody>
          <a:bodyPr rtlCol="0" anchor="ctr"/>
          <a:lstStyle/>
          <a:p>
            <a:pPr algn="ctr">
              <a:defRPr/>
            </a:pPr>
            <a:r>
              <a:rPr lang="en-US" sz="3600" b="1" kern="0" dirty="0">
                <a:solidFill>
                  <a:srgbClr val="C00000"/>
                </a:solidFill>
                <a:latin typeface="Segoe UI" panose="020B0502040204020203" pitchFamily="34" charset="0"/>
                <a:ea typeface="Segoe UI Historic" panose="020B0502040204020203" pitchFamily="34" charset="0"/>
                <a:cs typeface="Segoe UI" panose="020B0502040204020203" pitchFamily="34" charset="0"/>
              </a:rPr>
              <a:t>TPQ</a:t>
            </a:r>
          </a:p>
          <a:p>
            <a:pPr algn="ctr">
              <a:defRPr/>
            </a:pPr>
            <a:r>
              <a:rPr lang="en-US" sz="1000" b="1" kern="0" dirty="0">
                <a:solidFill>
                  <a:srgbClr val="E7E6E6">
                    <a:lumMod val="25000"/>
                  </a:srgbClr>
                </a:solidFill>
                <a:latin typeface="Segoe UI" panose="020B0502040204020203" pitchFamily="34" charset="0"/>
                <a:ea typeface="Segoe UI Historic" panose="020B0502040204020203" pitchFamily="34" charset="0"/>
                <a:cs typeface="Segoe UI" panose="020B0502040204020203" pitchFamily="34" charset="0"/>
              </a:rPr>
              <a:t>TPM – PRINCIPLE QUALITY</a:t>
            </a:r>
          </a:p>
        </p:txBody>
      </p:sp>
      <p:pic>
        <p:nvPicPr>
          <p:cNvPr id="38" name="Picture 37">
            <a:extLst>
              <a:ext uri="{FF2B5EF4-FFF2-40B4-BE49-F238E27FC236}">
                <a16:creationId xmlns:a16="http://schemas.microsoft.com/office/drawing/2014/main" id="{27316A86-AE91-480B-A569-35FA21734804}"/>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202451" y="132449"/>
            <a:ext cx="692932" cy="567389"/>
          </a:xfrm>
          <a:prstGeom prst="rect">
            <a:avLst/>
          </a:prstGeom>
        </p:spPr>
      </p:pic>
      <p:graphicFrame>
        <p:nvGraphicFramePr>
          <p:cNvPr id="43" name="Chart 42">
            <a:extLst>
              <a:ext uri="{FF2B5EF4-FFF2-40B4-BE49-F238E27FC236}">
                <a16:creationId xmlns:a16="http://schemas.microsoft.com/office/drawing/2014/main" id="{C3BE2AE0-7922-4D50-858D-8BF01C2A9EAA}"/>
              </a:ext>
            </a:extLst>
          </p:cNvPr>
          <p:cNvGraphicFramePr>
            <a:graphicFrameLocks/>
          </p:cNvGraphicFramePr>
          <p:nvPr>
            <p:extLst>
              <p:ext uri="{D42A27DB-BD31-4B8C-83A1-F6EECF244321}">
                <p14:modId xmlns:p14="http://schemas.microsoft.com/office/powerpoint/2010/main" val="2138497251"/>
              </p:ext>
            </p:extLst>
          </p:nvPr>
        </p:nvGraphicFramePr>
        <p:xfrm>
          <a:off x="3423827" y="3451683"/>
          <a:ext cx="2764959" cy="22384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39821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A07D3CC-5BE5-BD45-6353-611F54D3380C}"/>
              </a:ext>
            </a:extLst>
          </p:cNvPr>
          <p:cNvGraphicFramePr>
            <a:graphicFrameLocks noGrp="1"/>
          </p:cNvGraphicFramePr>
          <p:nvPr>
            <p:extLst>
              <p:ext uri="{D42A27DB-BD31-4B8C-83A1-F6EECF244321}">
                <p14:modId xmlns:p14="http://schemas.microsoft.com/office/powerpoint/2010/main" val="1682470111"/>
              </p:ext>
            </p:extLst>
          </p:nvPr>
        </p:nvGraphicFramePr>
        <p:xfrm>
          <a:off x="154443" y="1924927"/>
          <a:ext cx="11771491" cy="1903437"/>
        </p:xfrm>
        <a:graphic>
          <a:graphicData uri="http://schemas.openxmlformats.org/drawingml/2006/table">
            <a:tbl>
              <a:tblPr/>
              <a:tblGrid>
                <a:gridCol w="846718">
                  <a:extLst>
                    <a:ext uri="{9D8B030D-6E8A-4147-A177-3AD203B41FA5}">
                      <a16:colId xmlns:a16="http://schemas.microsoft.com/office/drawing/2014/main" val="3879891193"/>
                    </a:ext>
                  </a:extLst>
                </a:gridCol>
                <a:gridCol w="4694561">
                  <a:extLst>
                    <a:ext uri="{9D8B030D-6E8A-4147-A177-3AD203B41FA5}">
                      <a16:colId xmlns:a16="http://schemas.microsoft.com/office/drawing/2014/main" val="685131372"/>
                    </a:ext>
                  </a:extLst>
                </a:gridCol>
                <a:gridCol w="4028927">
                  <a:extLst>
                    <a:ext uri="{9D8B030D-6E8A-4147-A177-3AD203B41FA5}">
                      <a16:colId xmlns:a16="http://schemas.microsoft.com/office/drawing/2014/main" val="2288741523"/>
                    </a:ext>
                  </a:extLst>
                </a:gridCol>
                <a:gridCol w="867683">
                  <a:extLst>
                    <a:ext uri="{9D8B030D-6E8A-4147-A177-3AD203B41FA5}">
                      <a16:colId xmlns:a16="http://schemas.microsoft.com/office/drawing/2014/main" val="743287757"/>
                    </a:ext>
                  </a:extLst>
                </a:gridCol>
                <a:gridCol w="778145">
                  <a:extLst>
                    <a:ext uri="{9D8B030D-6E8A-4147-A177-3AD203B41FA5}">
                      <a16:colId xmlns:a16="http://schemas.microsoft.com/office/drawing/2014/main" val="720465071"/>
                    </a:ext>
                  </a:extLst>
                </a:gridCol>
                <a:gridCol w="555457">
                  <a:extLst>
                    <a:ext uri="{9D8B030D-6E8A-4147-A177-3AD203B41FA5}">
                      <a16:colId xmlns:a16="http://schemas.microsoft.com/office/drawing/2014/main" val="1814830627"/>
                    </a:ext>
                  </a:extLst>
                </a:gridCol>
              </a:tblGrid>
              <a:tr h="193403">
                <a:tc>
                  <a:txBody>
                    <a:bodyPr/>
                    <a:lstStyle/>
                    <a:p>
                      <a:pPr algn="ctr" rtl="0" fontAlgn="ctr">
                        <a:buNone/>
                      </a:pPr>
                      <a:r>
                        <a:rPr lang="en-ID" sz="1200" b="1" i="0" u="none" strike="noStrike" dirty="0">
                          <a:solidFill>
                            <a:srgbClr val="FFFFFF"/>
                          </a:solidFill>
                          <a:effectLst/>
                          <a:latin typeface="Arial" panose="020B0604020202020204" pitchFamily="34" charset="0"/>
                        </a:rPr>
                        <a:t>Principle</a:t>
                      </a:r>
                    </a:p>
                  </a:txBody>
                  <a:tcPr marL="7576" marR="7576" marT="75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03864"/>
                    </a:solidFill>
                  </a:tcPr>
                </a:tc>
                <a:tc>
                  <a:txBody>
                    <a:bodyPr/>
                    <a:lstStyle/>
                    <a:p>
                      <a:pPr algn="ctr" rtl="0" fontAlgn="ctr">
                        <a:buNone/>
                      </a:pPr>
                      <a:r>
                        <a:rPr lang="en-ID" sz="1200" b="1" i="0" u="none" strike="noStrike" dirty="0">
                          <a:solidFill>
                            <a:srgbClr val="FFFFFF"/>
                          </a:solidFill>
                          <a:effectLst/>
                          <a:latin typeface="Arial" panose="020B0604020202020204" pitchFamily="34" charset="0"/>
                        </a:rPr>
                        <a:t>Finding</a:t>
                      </a:r>
                    </a:p>
                  </a:txBody>
                  <a:tcPr marL="7576" marR="7576" marT="75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03864"/>
                    </a:solidFill>
                  </a:tcPr>
                </a:tc>
                <a:tc>
                  <a:txBody>
                    <a:bodyPr/>
                    <a:lstStyle/>
                    <a:p>
                      <a:pPr algn="ctr" rtl="0" fontAlgn="ctr">
                        <a:buNone/>
                      </a:pPr>
                      <a:r>
                        <a:rPr lang="en-ID" sz="1200" b="1" i="0" u="none" strike="noStrike" dirty="0">
                          <a:solidFill>
                            <a:srgbClr val="FFFFFF"/>
                          </a:solidFill>
                          <a:effectLst/>
                          <a:latin typeface="Arial" panose="020B0604020202020204" pitchFamily="34" charset="0"/>
                        </a:rPr>
                        <a:t>Activity Countermeasure</a:t>
                      </a:r>
                    </a:p>
                  </a:txBody>
                  <a:tcPr marL="7576" marR="7576" marT="75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03864"/>
                    </a:solidFill>
                  </a:tcPr>
                </a:tc>
                <a:tc>
                  <a:txBody>
                    <a:bodyPr/>
                    <a:lstStyle/>
                    <a:p>
                      <a:pPr algn="ctr" rtl="0" fontAlgn="ctr">
                        <a:buNone/>
                      </a:pPr>
                      <a:r>
                        <a:rPr lang="en-ID" sz="1200" b="1" i="0" u="none" strike="noStrike">
                          <a:solidFill>
                            <a:srgbClr val="FFFFFF"/>
                          </a:solidFill>
                          <a:effectLst/>
                          <a:latin typeface="Arial" panose="020B0604020202020204" pitchFamily="34" charset="0"/>
                        </a:rPr>
                        <a:t>Duedate</a:t>
                      </a:r>
                    </a:p>
                  </a:txBody>
                  <a:tcPr marL="7576" marR="7576" marT="75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03864"/>
                    </a:solidFill>
                  </a:tcPr>
                </a:tc>
                <a:tc>
                  <a:txBody>
                    <a:bodyPr/>
                    <a:lstStyle/>
                    <a:p>
                      <a:pPr algn="ctr" rtl="0" fontAlgn="ctr">
                        <a:buNone/>
                      </a:pPr>
                      <a:r>
                        <a:rPr lang="en-ID" sz="1200" b="1" i="0" u="none" strike="noStrike" dirty="0">
                          <a:solidFill>
                            <a:srgbClr val="FFFFFF"/>
                          </a:solidFill>
                          <a:effectLst/>
                          <a:latin typeface="Arial" panose="020B0604020202020204" pitchFamily="34" charset="0"/>
                        </a:rPr>
                        <a:t>Pic</a:t>
                      </a:r>
                    </a:p>
                  </a:txBody>
                  <a:tcPr marL="7576" marR="7576" marT="75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03864"/>
                    </a:solidFill>
                  </a:tcPr>
                </a:tc>
                <a:tc>
                  <a:txBody>
                    <a:bodyPr/>
                    <a:lstStyle/>
                    <a:p>
                      <a:pPr algn="ctr" rtl="0" fontAlgn="ctr">
                        <a:buNone/>
                      </a:pPr>
                      <a:r>
                        <a:rPr lang="en-ID" sz="1200" b="1" i="0" u="none" strike="noStrike">
                          <a:solidFill>
                            <a:srgbClr val="FFFFFF"/>
                          </a:solidFill>
                          <a:effectLst/>
                          <a:latin typeface="Arial" panose="020B0604020202020204" pitchFamily="34" charset="0"/>
                        </a:rPr>
                        <a:t>Status</a:t>
                      </a:r>
                    </a:p>
                  </a:txBody>
                  <a:tcPr marL="7576" marR="7576" marT="75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03864"/>
                    </a:solidFill>
                  </a:tcPr>
                </a:tc>
                <a:extLst>
                  <a:ext uri="{0D108BD9-81ED-4DB2-BD59-A6C34878D82A}">
                    <a16:rowId xmlns:a16="http://schemas.microsoft.com/office/drawing/2014/main" val="1825683848"/>
                  </a:ext>
                </a:extLst>
              </a:tr>
              <a:tr h="1710034">
                <a:tc>
                  <a:txBody>
                    <a:bodyPr/>
                    <a:lstStyle/>
                    <a:p>
                      <a:pPr algn="ctr" rtl="0" fontAlgn="ctr">
                        <a:buNone/>
                      </a:pPr>
                      <a:r>
                        <a:rPr lang="en-ID" sz="1600" b="0" i="0" u="none" strike="noStrike" dirty="0">
                          <a:solidFill>
                            <a:srgbClr val="000000"/>
                          </a:solidFill>
                          <a:effectLst/>
                          <a:latin typeface="Arial" panose="020B0604020202020204" pitchFamily="34" charset="0"/>
                        </a:rPr>
                        <a:t>MSK</a:t>
                      </a:r>
                    </a:p>
                  </a:txBody>
                  <a:tcPr marL="7576" marR="7576" marT="75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28600" indent="-228600" algn="l" rtl="0" fontAlgn="t">
                        <a:buAutoNum type="arabicParenBoth"/>
                      </a:pPr>
                      <a:r>
                        <a:rPr lang="id-ID" sz="1100" b="0" i="0" u="none" strike="noStrike" dirty="0">
                          <a:solidFill>
                            <a:srgbClr val="000000"/>
                          </a:solidFill>
                          <a:effectLst/>
                          <a:latin typeface="Arial" panose="020B0604020202020204" pitchFamily="34" charset="0"/>
                        </a:rPr>
                        <a:t>Terdapat oli yang menetes sehingga menyebabkan genangan oli di area MC produksi/lantai , pengisian check sheet tidak sesuai actual yang terjadi dilapangan </a:t>
                      </a:r>
                    </a:p>
                    <a:p>
                      <a:pPr marL="228600" indent="-228600" algn="l" rtl="0" fontAlgn="t">
                        <a:buAutoNum type="arabicParenBoth"/>
                      </a:pPr>
                      <a:r>
                        <a:rPr lang="id-ID" sz="1100" b="0" i="0" u="none" strike="noStrike" dirty="0">
                          <a:solidFill>
                            <a:srgbClr val="000000"/>
                          </a:solidFill>
                          <a:effectLst/>
                          <a:latin typeface="Arial" panose="020B0604020202020204" pitchFamily="34" charset="0"/>
                        </a:rPr>
                        <a:t>Teklnisi/Leader tidak dapat menjelaskan cara sampling N=1</a:t>
                      </a:r>
                    </a:p>
                    <a:p>
                      <a:pPr marL="0" indent="0" algn="l" rtl="0" fontAlgn="t">
                        <a:buNone/>
                      </a:pPr>
                      <a:r>
                        <a:rPr lang="id-ID" sz="1100" b="0" i="0" u="none" strike="noStrike" dirty="0">
                          <a:solidFill>
                            <a:srgbClr val="000000"/>
                          </a:solidFill>
                          <a:effectLst/>
                          <a:highlight>
                            <a:srgbClr val="FFFF00"/>
                          </a:highlight>
                          <a:latin typeface="Arial" panose="020B0604020202020204" pitchFamily="34" charset="0"/>
                        </a:rPr>
                        <a:t>Note : Teknisi/leader belum mendapatkan edukasi terkait cara samping N=1</a:t>
                      </a:r>
                    </a:p>
                    <a:p>
                      <a:pPr marL="0" indent="0" algn="l" rtl="0" fontAlgn="t">
                        <a:buNone/>
                      </a:pPr>
                      <a:endParaRPr lang="id-ID" sz="1100" b="0" i="0" u="none" strike="noStrike" dirty="0">
                        <a:solidFill>
                          <a:srgbClr val="000000"/>
                        </a:solidFill>
                        <a:effectLst/>
                        <a:latin typeface="Arial" panose="020B0604020202020204" pitchFamily="34" charset="0"/>
                      </a:endParaRPr>
                    </a:p>
                  </a:txBody>
                  <a:tcPr marL="7576" marR="7576" marT="757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28600" indent="-228600" algn="l" rtl="0" fontAlgn="t">
                        <a:buAutoNum type="arabicParenBoth"/>
                      </a:pPr>
                      <a:r>
                        <a:rPr lang="id-ID" sz="1100" b="0" i="0" u="none" strike="noStrike" dirty="0">
                          <a:solidFill>
                            <a:srgbClr val="000000"/>
                          </a:solidFill>
                          <a:effectLst/>
                          <a:latin typeface="Arial" panose="020B0604020202020204" pitchFamily="34" charset="0"/>
                        </a:rPr>
                        <a:t>Melakukan perbaikan di titik rembesan , dan melakukan pengechekan sesuai dengan act di lapangan  </a:t>
                      </a:r>
                    </a:p>
                    <a:p>
                      <a:pPr marL="228600" indent="-228600" algn="l" rtl="0" fontAlgn="t">
                        <a:buAutoNum type="arabicParenBoth"/>
                      </a:pPr>
                      <a:r>
                        <a:rPr lang="id-ID" sz="1100" b="0" i="0" u="none" strike="noStrike" dirty="0">
                          <a:solidFill>
                            <a:srgbClr val="000000"/>
                          </a:solidFill>
                          <a:effectLst/>
                          <a:latin typeface="Arial" panose="020B0604020202020204" pitchFamily="34" charset="0"/>
                        </a:rPr>
                        <a:t>Edukasi langsung teknisi/leader cara melakukan sampling N=1 </a:t>
                      </a:r>
                    </a:p>
                  </a:txBody>
                  <a:tcPr marL="7576" marR="7576" marT="757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id-ID" sz="1050" b="0" i="0" u="none" strike="noStrike" dirty="0">
                          <a:solidFill>
                            <a:srgbClr val="000000"/>
                          </a:solidFill>
                          <a:effectLst/>
                          <a:latin typeface="Arial" panose="020B0604020202020204" pitchFamily="34" charset="0"/>
                        </a:rPr>
                        <a:t>25-Feb-26</a:t>
                      </a:r>
                    </a:p>
                  </a:txBody>
                  <a:tcPr marL="7576" marR="7576" marT="75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id-ID" sz="1050" b="0" i="0" u="none" strike="noStrike" dirty="0">
                          <a:solidFill>
                            <a:srgbClr val="000000"/>
                          </a:solidFill>
                          <a:effectLst/>
                          <a:latin typeface="Arial" panose="020B0604020202020204" pitchFamily="34" charset="0"/>
                        </a:rPr>
                        <a:t>Hengki &amp; Sarjono</a:t>
                      </a:r>
                      <a:endParaRPr lang="en-ID" sz="1050" b="0" i="0" u="none" strike="noStrike" dirty="0">
                        <a:solidFill>
                          <a:srgbClr val="000000"/>
                        </a:solidFill>
                        <a:effectLst/>
                        <a:latin typeface="Arial" panose="020B0604020202020204" pitchFamily="34" charset="0"/>
                      </a:endParaRPr>
                    </a:p>
                  </a:txBody>
                  <a:tcPr marL="7576" marR="7576" marT="75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lang="id-ID" sz="1050" b="0" i="0" u="none" strike="noStrike" dirty="0">
                          <a:solidFill>
                            <a:srgbClr val="000000"/>
                          </a:solidFill>
                          <a:effectLst/>
                          <a:latin typeface="Arial" panose="020B0604020202020204" pitchFamily="34" charset="0"/>
                        </a:rPr>
                        <a:t>Open</a:t>
                      </a:r>
                      <a:endParaRPr lang="en-ID" sz="1050" b="0" i="0" u="none" strike="noStrike" dirty="0">
                        <a:solidFill>
                          <a:srgbClr val="000000"/>
                        </a:solidFill>
                        <a:effectLst/>
                        <a:latin typeface="Arial" panose="020B0604020202020204" pitchFamily="34" charset="0"/>
                      </a:endParaRPr>
                    </a:p>
                  </a:txBody>
                  <a:tcPr marL="7576" marR="7576" marT="757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77471067"/>
                  </a:ext>
                </a:extLst>
              </a:tr>
            </a:tbl>
          </a:graphicData>
        </a:graphic>
      </p:graphicFrame>
      <p:sp>
        <p:nvSpPr>
          <p:cNvPr id="5" name="TextBox 4">
            <a:extLst>
              <a:ext uri="{FF2B5EF4-FFF2-40B4-BE49-F238E27FC236}">
                <a16:creationId xmlns:a16="http://schemas.microsoft.com/office/drawing/2014/main" id="{B6BCF30B-8650-A60F-6E0A-8082343D905A}"/>
              </a:ext>
            </a:extLst>
          </p:cNvPr>
          <p:cNvSpPr txBox="1"/>
          <p:nvPr/>
        </p:nvSpPr>
        <p:spPr>
          <a:xfrm>
            <a:off x="258380" y="1248562"/>
            <a:ext cx="1817511" cy="369332"/>
          </a:xfrm>
          <a:prstGeom prst="rect">
            <a:avLst/>
          </a:prstGeom>
          <a:noFill/>
        </p:spPr>
        <p:txBody>
          <a:bodyPr wrap="square" rtlCol="0">
            <a:spAutoFit/>
          </a:bodyPr>
          <a:lstStyle/>
          <a:p>
            <a:pPr marL="285750" indent="-285750">
              <a:buFont typeface="Wingdings" panose="05000000000000000000" pitchFamily="2" charset="2"/>
              <a:buChar char="q"/>
            </a:pPr>
            <a:r>
              <a:rPr lang="en-US" b="1" dirty="0" err="1">
                <a:solidFill>
                  <a:srgbClr val="002060"/>
                </a:solidFill>
                <a:latin typeface="Arial Narrow" panose="020B0606020202030204" pitchFamily="34" charset="0"/>
              </a:rPr>
              <a:t>Folow</a:t>
            </a:r>
            <a:r>
              <a:rPr lang="en-US" b="1" dirty="0">
                <a:solidFill>
                  <a:srgbClr val="002060"/>
                </a:solidFill>
                <a:latin typeface="Arial Narrow" panose="020B0606020202030204" pitchFamily="34" charset="0"/>
              </a:rPr>
              <a:t> Audit</a:t>
            </a:r>
            <a:endParaRPr lang="en-ID" b="1" dirty="0">
              <a:solidFill>
                <a:srgbClr val="002060"/>
              </a:solidFill>
              <a:latin typeface="Arial Narrow" panose="020B0606020202030204" pitchFamily="34" charset="0"/>
            </a:endParaRPr>
          </a:p>
        </p:txBody>
      </p:sp>
      <p:sp>
        <p:nvSpPr>
          <p:cNvPr id="6" name="TextBox 5">
            <a:extLst>
              <a:ext uri="{FF2B5EF4-FFF2-40B4-BE49-F238E27FC236}">
                <a16:creationId xmlns:a16="http://schemas.microsoft.com/office/drawing/2014/main" id="{C85EFCCA-7248-3B7A-8E93-9BB62B28F346}"/>
              </a:ext>
            </a:extLst>
          </p:cNvPr>
          <p:cNvSpPr txBox="1"/>
          <p:nvPr/>
        </p:nvSpPr>
        <p:spPr>
          <a:xfrm>
            <a:off x="130051" y="4868553"/>
            <a:ext cx="2291847" cy="369332"/>
          </a:xfrm>
          <a:prstGeom prst="rect">
            <a:avLst/>
          </a:prstGeom>
          <a:noFill/>
        </p:spPr>
        <p:txBody>
          <a:bodyPr wrap="square" rtlCol="0">
            <a:spAutoFit/>
          </a:bodyPr>
          <a:lstStyle/>
          <a:p>
            <a:pPr marL="285750" indent="-285750">
              <a:buFont typeface="Wingdings" panose="05000000000000000000" pitchFamily="2" charset="2"/>
              <a:buChar char="q"/>
            </a:pPr>
            <a:r>
              <a:rPr lang="en-US" b="1" dirty="0" err="1">
                <a:solidFill>
                  <a:srgbClr val="002060"/>
                </a:solidFill>
                <a:latin typeface="Arial Narrow" panose="020B0606020202030204" pitchFamily="34" charset="0"/>
              </a:rPr>
              <a:t>Catatan</a:t>
            </a:r>
            <a:r>
              <a:rPr lang="en-US" b="1" dirty="0">
                <a:solidFill>
                  <a:srgbClr val="002060"/>
                </a:solidFill>
                <a:latin typeface="Arial Narrow" panose="020B0606020202030204" pitchFamily="34" charset="0"/>
              </a:rPr>
              <a:t> </a:t>
            </a:r>
            <a:r>
              <a:rPr lang="en-US" b="1" dirty="0" err="1">
                <a:solidFill>
                  <a:srgbClr val="002060"/>
                </a:solidFill>
                <a:latin typeface="Arial Narrow" panose="020B0606020202030204" pitchFamily="34" charset="0"/>
              </a:rPr>
              <a:t>Tambahan</a:t>
            </a:r>
            <a:endParaRPr lang="en-ID" b="1" dirty="0">
              <a:solidFill>
                <a:srgbClr val="002060"/>
              </a:solidFill>
              <a:latin typeface="Arial Narrow" panose="020B0606020202030204" pitchFamily="34" charset="0"/>
            </a:endParaRPr>
          </a:p>
        </p:txBody>
      </p:sp>
      <p:graphicFrame>
        <p:nvGraphicFramePr>
          <p:cNvPr id="7" name="Table 6">
            <a:extLst>
              <a:ext uri="{FF2B5EF4-FFF2-40B4-BE49-F238E27FC236}">
                <a16:creationId xmlns:a16="http://schemas.microsoft.com/office/drawing/2014/main" id="{5609C984-2ADC-87B0-1666-BF6F090B4E7F}"/>
              </a:ext>
            </a:extLst>
          </p:cNvPr>
          <p:cNvGraphicFramePr>
            <a:graphicFrameLocks noGrp="1"/>
          </p:cNvGraphicFramePr>
          <p:nvPr>
            <p:extLst>
              <p:ext uri="{D42A27DB-BD31-4B8C-83A1-F6EECF244321}">
                <p14:modId xmlns:p14="http://schemas.microsoft.com/office/powerpoint/2010/main" val="2737592110"/>
              </p:ext>
            </p:extLst>
          </p:nvPr>
        </p:nvGraphicFramePr>
        <p:xfrm>
          <a:off x="154443" y="5432514"/>
          <a:ext cx="11771491" cy="615513"/>
        </p:xfrm>
        <a:graphic>
          <a:graphicData uri="http://schemas.openxmlformats.org/drawingml/2006/table">
            <a:tbl>
              <a:tblPr/>
              <a:tblGrid>
                <a:gridCol w="543655">
                  <a:extLst>
                    <a:ext uri="{9D8B030D-6E8A-4147-A177-3AD203B41FA5}">
                      <a16:colId xmlns:a16="http://schemas.microsoft.com/office/drawing/2014/main" val="4241571630"/>
                    </a:ext>
                  </a:extLst>
                </a:gridCol>
                <a:gridCol w="7248741">
                  <a:extLst>
                    <a:ext uri="{9D8B030D-6E8A-4147-A177-3AD203B41FA5}">
                      <a16:colId xmlns:a16="http://schemas.microsoft.com/office/drawing/2014/main" val="144421321"/>
                    </a:ext>
                  </a:extLst>
                </a:gridCol>
                <a:gridCol w="1326365">
                  <a:extLst>
                    <a:ext uri="{9D8B030D-6E8A-4147-A177-3AD203B41FA5}">
                      <a16:colId xmlns:a16="http://schemas.microsoft.com/office/drawing/2014/main" val="3847426244"/>
                    </a:ext>
                  </a:extLst>
                </a:gridCol>
                <a:gridCol w="1326365">
                  <a:extLst>
                    <a:ext uri="{9D8B030D-6E8A-4147-A177-3AD203B41FA5}">
                      <a16:colId xmlns:a16="http://schemas.microsoft.com/office/drawing/2014/main" val="2149133699"/>
                    </a:ext>
                  </a:extLst>
                </a:gridCol>
                <a:gridCol w="1326365">
                  <a:extLst>
                    <a:ext uri="{9D8B030D-6E8A-4147-A177-3AD203B41FA5}">
                      <a16:colId xmlns:a16="http://schemas.microsoft.com/office/drawing/2014/main" val="3881453881"/>
                    </a:ext>
                  </a:extLst>
                </a:gridCol>
              </a:tblGrid>
              <a:tr h="224638">
                <a:tc>
                  <a:txBody>
                    <a:bodyPr/>
                    <a:lstStyle/>
                    <a:p>
                      <a:pPr algn="ctr" rtl="0" fontAlgn="ctr">
                        <a:buNone/>
                      </a:pPr>
                      <a:r>
                        <a:rPr lang="en-ID" sz="1200" b="1" i="0" u="none" strike="noStrike" dirty="0">
                          <a:solidFill>
                            <a:schemeClr val="bg1"/>
                          </a:solidFill>
                          <a:effectLst/>
                          <a:latin typeface="+mj-lt"/>
                        </a:rPr>
                        <a:t>No.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1848"/>
                    </a:solidFill>
                  </a:tcPr>
                </a:tc>
                <a:tc>
                  <a:txBody>
                    <a:bodyPr/>
                    <a:lstStyle/>
                    <a:p>
                      <a:pPr algn="ctr" rtl="0" fontAlgn="ctr">
                        <a:buNone/>
                      </a:pPr>
                      <a:r>
                        <a:rPr lang="en-ID" sz="1200" b="1" i="0" u="none" strike="noStrike" dirty="0">
                          <a:solidFill>
                            <a:schemeClr val="bg1"/>
                          </a:solidFill>
                          <a:effectLst/>
                          <a:latin typeface="+mj-lt"/>
                        </a:rPr>
                        <a:t>Others Point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1848"/>
                    </a:solidFill>
                  </a:tcPr>
                </a:tc>
                <a:tc>
                  <a:txBody>
                    <a:bodyPr/>
                    <a:lstStyle/>
                    <a:p>
                      <a:pPr algn="ctr" rtl="0" fontAlgn="ctr">
                        <a:buNone/>
                      </a:pPr>
                      <a:r>
                        <a:rPr lang="en-ID" sz="1200" b="1" i="0" u="none" strike="noStrike">
                          <a:solidFill>
                            <a:schemeClr val="bg1"/>
                          </a:solidFill>
                          <a:effectLst/>
                          <a:latin typeface="+mj-lt"/>
                        </a:rPr>
                        <a:t>Duedate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1848"/>
                    </a:solidFill>
                  </a:tcPr>
                </a:tc>
                <a:tc>
                  <a:txBody>
                    <a:bodyPr/>
                    <a:lstStyle/>
                    <a:p>
                      <a:pPr algn="ctr" rtl="0" fontAlgn="ctr">
                        <a:buNone/>
                      </a:pPr>
                      <a:r>
                        <a:rPr lang="en-ID" sz="1200" b="1" i="0" u="none" strike="noStrike" dirty="0">
                          <a:solidFill>
                            <a:schemeClr val="bg1"/>
                          </a:solidFill>
                          <a:effectLst/>
                          <a:latin typeface="+mj-lt"/>
                        </a:rPr>
                        <a:t>PIC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1848"/>
                    </a:solidFill>
                  </a:tcPr>
                </a:tc>
                <a:tc>
                  <a:txBody>
                    <a:bodyPr/>
                    <a:lstStyle/>
                    <a:p>
                      <a:pPr algn="ctr" rtl="0" fontAlgn="ctr">
                        <a:buNone/>
                      </a:pPr>
                      <a:r>
                        <a:rPr lang="en-ID" sz="1200" b="1" i="0" u="none" strike="noStrike" dirty="0">
                          <a:solidFill>
                            <a:schemeClr val="bg1"/>
                          </a:solidFill>
                          <a:effectLst/>
                          <a:latin typeface="+mj-lt"/>
                        </a:rPr>
                        <a:t>Status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1848"/>
                    </a:solidFill>
                  </a:tcPr>
                </a:tc>
                <a:extLst>
                  <a:ext uri="{0D108BD9-81ED-4DB2-BD59-A6C34878D82A}">
                    <a16:rowId xmlns:a16="http://schemas.microsoft.com/office/drawing/2014/main" val="3579041788"/>
                  </a:ext>
                </a:extLst>
              </a:tr>
              <a:tr h="390875">
                <a:tc>
                  <a:txBody>
                    <a:bodyPr/>
                    <a:lstStyle/>
                    <a:p>
                      <a:pPr algn="ctr" fontAlgn="ctr">
                        <a:buNone/>
                      </a:pPr>
                      <a:r>
                        <a:rPr lang="en-ID" sz="1050" b="0" i="0" u="none" strike="noStrike">
                          <a:solidFill>
                            <a:srgbClr val="000000"/>
                          </a:solidFill>
                          <a:effectLst/>
                          <a:latin typeface="Arial" panose="020B0604020202020204" pitchFamily="34"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lgn="l">
                        <a:buFont typeface="Arial" panose="020B0604020202020204" pitchFamily="34" charset="0"/>
                        <a:buNone/>
                      </a:pPr>
                      <a:r>
                        <a:rPr lang="id-ID" sz="1050" b="0" kern="1200" dirty="0">
                          <a:solidFill>
                            <a:prstClr val="black"/>
                          </a:solidFill>
                          <a:latin typeface="Arial" panose="020B0604020202020204" pitchFamily="34" charset="0"/>
                          <a:ea typeface="Calibri" panose="020F0502020204030204" pitchFamily="34" charset="0"/>
                          <a:cs typeface="Arial" panose="020B0604020202020204" pitchFamily="34" charset="0"/>
                        </a:rPr>
                        <a:t>Mengadakan tempat untuk part dandory , seting dan karantina </a:t>
                      </a:r>
                      <a:endParaRPr lang="fi-FI" sz="1050" b="0" kern="1200" dirty="0">
                        <a:solidFill>
                          <a:prstClr val="black"/>
                        </a:solidFill>
                        <a:latin typeface="Arial" panose="020B0604020202020204" pitchFamily="34" charset="0"/>
                        <a:ea typeface="Calibri" panose="020F0502020204030204" pitchFamily="34" charset="0"/>
                        <a:cs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id-ID" sz="1200" b="0" i="0" u="none" strike="noStrike" dirty="0">
                          <a:solidFill>
                            <a:srgbClr val="000000"/>
                          </a:solidFill>
                          <a:effectLst/>
                          <a:latin typeface="Arial Narrow" panose="020B0606020202030204" pitchFamily="34" charset="0"/>
                        </a:rPr>
                        <a:t>25</a:t>
                      </a:r>
                      <a:r>
                        <a:rPr lang="en-US" sz="1200" b="0" i="0" u="none" strike="noStrike" dirty="0">
                          <a:solidFill>
                            <a:srgbClr val="000000"/>
                          </a:solidFill>
                          <a:effectLst/>
                          <a:latin typeface="Arial Narrow" panose="020B0606020202030204" pitchFamily="34" charset="0"/>
                        </a:rPr>
                        <a:t>-</a:t>
                      </a:r>
                      <a:r>
                        <a:rPr lang="id-ID" sz="1200" b="0" i="0" u="none" strike="noStrike" dirty="0">
                          <a:solidFill>
                            <a:srgbClr val="000000"/>
                          </a:solidFill>
                          <a:effectLst/>
                          <a:latin typeface="Arial Narrow" panose="020B0606020202030204" pitchFamily="34" charset="0"/>
                        </a:rPr>
                        <a:t>Feb</a:t>
                      </a:r>
                      <a:r>
                        <a:rPr lang="en-US" sz="1200" b="0" i="0" u="none" strike="noStrike" dirty="0">
                          <a:solidFill>
                            <a:srgbClr val="000000"/>
                          </a:solidFill>
                          <a:effectLst/>
                          <a:latin typeface="Arial Narrow" panose="020B0606020202030204" pitchFamily="34" charset="0"/>
                        </a:rPr>
                        <a:t>-2</a:t>
                      </a:r>
                      <a:r>
                        <a:rPr lang="id-ID" sz="1200" b="0" i="0" u="none" strike="noStrike" dirty="0">
                          <a:solidFill>
                            <a:srgbClr val="000000"/>
                          </a:solidFill>
                          <a:effectLst/>
                          <a:latin typeface="Arial Narrow" panose="020B0606020202030204" pitchFamily="34" charset="0"/>
                        </a:rPr>
                        <a:t>6</a:t>
                      </a:r>
                      <a:endParaRPr lang="en-US" sz="1200" b="0" i="0" u="none" strike="noStrike" dirty="0">
                        <a:solidFill>
                          <a:srgbClr val="000000"/>
                        </a:solidFill>
                        <a:effectLst/>
                        <a:latin typeface="Arial Narrow" panose="020B0606020202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id-ID" sz="1200" b="0" i="0" u="none" strike="noStrike" dirty="0">
                          <a:solidFill>
                            <a:srgbClr val="000000"/>
                          </a:solidFill>
                          <a:effectLst/>
                          <a:latin typeface="Arial Narrow" panose="020B0606020202030204" pitchFamily="34" charset="0"/>
                        </a:rPr>
                        <a:t>Hengky / Sarjono</a:t>
                      </a:r>
                      <a:endParaRPr lang="en-ID" sz="1200" b="0" i="0" u="none" strike="noStrike" dirty="0">
                        <a:solidFill>
                          <a:srgbClr val="000000"/>
                        </a:solidFill>
                        <a:effectLst/>
                        <a:latin typeface="Arial Narrow" panose="020B0606020202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buNone/>
                      </a:pPr>
                      <a:r>
                        <a:rPr lang="id-ID" sz="1200" b="0" i="0" u="none" strike="noStrike" dirty="0">
                          <a:solidFill>
                            <a:srgbClr val="000000"/>
                          </a:solidFill>
                          <a:effectLst/>
                          <a:latin typeface="Arial" panose="020B0604020202020204" pitchFamily="34" charset="0"/>
                        </a:rPr>
                        <a:t> </a:t>
                      </a:r>
                      <a:r>
                        <a:rPr lang="en-ID" sz="1200" b="0" i="0" u="none" strike="noStrike" dirty="0">
                          <a:solidFill>
                            <a:srgbClr val="000000"/>
                          </a:solidFill>
                          <a:effectLst/>
                          <a:latin typeface="Arial" panose="020B0604020202020204" pitchFamily="34" charset="0"/>
                        </a:rPr>
                        <a:t>Open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268446431"/>
                  </a:ext>
                </a:extLst>
              </a:tr>
            </a:tbl>
          </a:graphicData>
        </a:graphic>
      </p:graphicFrame>
      <p:cxnSp>
        <p:nvCxnSpPr>
          <p:cNvPr id="11" name="Straight Connector 10"/>
          <p:cNvCxnSpPr/>
          <p:nvPr/>
        </p:nvCxnSpPr>
        <p:spPr>
          <a:xfrm>
            <a:off x="476517" y="837127"/>
            <a:ext cx="11127347" cy="0"/>
          </a:xfrm>
          <a:prstGeom prst="line">
            <a:avLst/>
          </a:prstGeom>
          <a:noFill/>
          <a:ln w="28575" cap="flat" cmpd="sng" algn="ctr">
            <a:solidFill>
              <a:srgbClr val="002060"/>
            </a:solidFill>
            <a:prstDash val="solid"/>
            <a:miter lim="800000"/>
          </a:ln>
          <a:effectLst/>
        </p:spPr>
      </p:cxnSp>
      <p:sp>
        <p:nvSpPr>
          <p:cNvPr id="13" name="Rectangle 12"/>
          <p:cNvSpPr/>
          <p:nvPr/>
        </p:nvSpPr>
        <p:spPr>
          <a:xfrm>
            <a:off x="9756982" y="-94709"/>
            <a:ext cx="2031714" cy="948501"/>
          </a:xfrm>
          <a:prstGeom prst="rect">
            <a:avLst/>
          </a:prstGeom>
          <a:noFill/>
          <a:ln w="12700" cap="flat" cmpd="sng" algn="ctr">
            <a:noFill/>
            <a:prstDash val="solid"/>
            <a:miter lim="800000"/>
          </a:ln>
          <a:effectLst/>
        </p:spPr>
        <p:txBody>
          <a:bodyPr rtlCol="0" anchor="ctr"/>
          <a:lstStyle/>
          <a:p>
            <a:pPr algn="ctr">
              <a:defRPr/>
            </a:pPr>
            <a:r>
              <a:rPr lang="en-US" sz="4400" b="1" kern="0" dirty="0">
                <a:solidFill>
                  <a:srgbClr val="C00000"/>
                </a:solidFill>
                <a:latin typeface="Segoe UI" panose="020B0502040204020203" pitchFamily="34" charset="0"/>
                <a:ea typeface="Segoe UI Historic" panose="020B0502040204020203" pitchFamily="34" charset="0"/>
                <a:cs typeface="Segoe UI" panose="020B0502040204020203" pitchFamily="34" charset="0"/>
              </a:rPr>
              <a:t>TPQ</a:t>
            </a:r>
          </a:p>
          <a:p>
            <a:pPr algn="ctr">
              <a:defRPr/>
            </a:pPr>
            <a:r>
              <a:rPr lang="en-US" sz="1100" b="1" kern="0" dirty="0">
                <a:solidFill>
                  <a:srgbClr val="E7E6E6">
                    <a:lumMod val="25000"/>
                  </a:srgbClr>
                </a:solidFill>
                <a:latin typeface="Segoe UI" panose="020B0502040204020203" pitchFamily="34" charset="0"/>
                <a:ea typeface="Segoe UI Historic" panose="020B0502040204020203" pitchFamily="34" charset="0"/>
                <a:cs typeface="Segoe UI" panose="020B0502040204020203" pitchFamily="34" charset="0"/>
              </a:rPr>
              <a:t>TPM – PRINCIPLE QUALITY</a:t>
            </a:r>
          </a:p>
        </p:txBody>
      </p:sp>
      <p:pic>
        <p:nvPicPr>
          <p:cNvPr id="15" name="Picture 14">
            <a:extLst>
              <a:ext uri="{FF2B5EF4-FFF2-40B4-BE49-F238E27FC236}">
                <a16:creationId xmlns:a16="http://schemas.microsoft.com/office/drawing/2014/main" id="{27316A86-AE91-480B-A569-35FA21734804}"/>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30051" y="132683"/>
            <a:ext cx="692932" cy="567389"/>
          </a:xfrm>
          <a:prstGeom prst="rect">
            <a:avLst/>
          </a:prstGeom>
        </p:spPr>
      </p:pic>
      <p:sp>
        <p:nvSpPr>
          <p:cNvPr id="16" name="TextBox 15"/>
          <p:cNvSpPr txBox="1"/>
          <p:nvPr/>
        </p:nvSpPr>
        <p:spPr>
          <a:xfrm>
            <a:off x="894280" y="117288"/>
            <a:ext cx="5551139" cy="461665"/>
          </a:xfrm>
          <a:prstGeom prst="rect">
            <a:avLst/>
          </a:prstGeom>
          <a:noFill/>
        </p:spPr>
        <p:txBody>
          <a:bodyPr wrap="square" rtlCol="0">
            <a:spAutoFit/>
          </a:bodyPr>
          <a:lstStyle/>
          <a:p>
            <a:r>
              <a:rPr lang="en-US" sz="2400" dirty="0">
                <a:solidFill>
                  <a:srgbClr val="002060"/>
                </a:solidFill>
                <a:latin typeface="Segoe UI" panose="020B0502040204020203" pitchFamily="34" charset="0"/>
                <a:cs typeface="Segoe UI" panose="020B0502040204020203" pitchFamily="34" charset="0"/>
              </a:rPr>
              <a:t>Self Audit TPQ </a:t>
            </a:r>
            <a:r>
              <a:rPr lang="id-ID" sz="2400" dirty="0">
                <a:solidFill>
                  <a:srgbClr val="002060"/>
                </a:solidFill>
                <a:latin typeface="Segoe UI" panose="020B0502040204020203" pitchFamily="34" charset="0"/>
                <a:cs typeface="Segoe UI" panose="020B0502040204020203" pitchFamily="34" charset="0"/>
              </a:rPr>
              <a:t>Trivindo Prima Mandiri</a:t>
            </a:r>
            <a:endParaRPr lang="en-US" sz="2400" dirty="0">
              <a:solidFill>
                <a:srgbClr val="002060"/>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1757796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25B42B-391F-6613-CCA5-1BD0732502F1}"/>
              </a:ext>
            </a:extLst>
          </p:cNvPr>
          <p:cNvSpPr/>
          <p:nvPr/>
        </p:nvSpPr>
        <p:spPr>
          <a:xfrm>
            <a:off x="211062" y="1039908"/>
            <a:ext cx="4401426" cy="114532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id-ID" sz="1400" b="1" dirty="0">
                <a:solidFill>
                  <a:schemeClr val="accent5">
                    <a:lumMod val="75000"/>
                  </a:schemeClr>
                </a:solidFill>
                <a:latin typeface="+mj-lt"/>
              </a:rPr>
              <a:t>Area Produksi/MC bersih tidak ada part jatuh / genangan oli </a:t>
            </a:r>
          </a:p>
        </p:txBody>
      </p:sp>
      <p:sp>
        <p:nvSpPr>
          <p:cNvPr id="10" name="TextBox 9">
            <a:extLst>
              <a:ext uri="{FF2B5EF4-FFF2-40B4-BE49-F238E27FC236}">
                <a16:creationId xmlns:a16="http://schemas.microsoft.com/office/drawing/2014/main" id="{55EE5079-F035-3D3A-3A5A-31E6788840DB}"/>
              </a:ext>
            </a:extLst>
          </p:cNvPr>
          <p:cNvSpPr txBox="1">
            <a:spLocks noChangeArrowheads="1"/>
          </p:cNvSpPr>
          <p:nvPr/>
        </p:nvSpPr>
        <p:spPr bwMode="auto">
          <a:xfrm>
            <a:off x="175653" y="1029396"/>
            <a:ext cx="963725"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id-ID" altLang="en-US" sz="1050" b="1" i="1" u="sng" dirty="0">
                <a:solidFill>
                  <a:srgbClr val="000099"/>
                </a:solidFill>
                <a:latin typeface="+mj-lt"/>
                <a:cs typeface="Arial" panose="020B0604020202020204" pitchFamily="34" charset="0"/>
              </a:rPr>
              <a:t>Standard</a:t>
            </a:r>
          </a:p>
        </p:txBody>
      </p:sp>
      <p:sp>
        <p:nvSpPr>
          <p:cNvPr id="11" name="Rectangle 10">
            <a:extLst>
              <a:ext uri="{FF2B5EF4-FFF2-40B4-BE49-F238E27FC236}">
                <a16:creationId xmlns:a16="http://schemas.microsoft.com/office/drawing/2014/main" id="{485EC16B-97F5-544B-D306-DAD931B07A45}"/>
              </a:ext>
            </a:extLst>
          </p:cNvPr>
          <p:cNvSpPr/>
          <p:nvPr/>
        </p:nvSpPr>
        <p:spPr>
          <a:xfrm>
            <a:off x="4682010" y="1026658"/>
            <a:ext cx="7258521" cy="114532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endParaRPr lang="id-ID" altLang="en-US" sz="1050" dirty="0">
              <a:latin typeface="+mj-lt"/>
            </a:endParaRPr>
          </a:p>
        </p:txBody>
      </p:sp>
      <p:sp>
        <p:nvSpPr>
          <p:cNvPr id="12" name="TextBox 11">
            <a:extLst>
              <a:ext uri="{FF2B5EF4-FFF2-40B4-BE49-F238E27FC236}">
                <a16:creationId xmlns:a16="http://schemas.microsoft.com/office/drawing/2014/main" id="{3D734A02-E2EB-DF47-51B7-BF38DAA9D126}"/>
              </a:ext>
            </a:extLst>
          </p:cNvPr>
          <p:cNvSpPr txBox="1">
            <a:spLocks noChangeArrowheads="1"/>
          </p:cNvSpPr>
          <p:nvPr/>
        </p:nvSpPr>
        <p:spPr bwMode="auto">
          <a:xfrm>
            <a:off x="4691536" y="1040968"/>
            <a:ext cx="7258519"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050" b="1" i="1" u="sng" dirty="0">
                <a:solidFill>
                  <a:srgbClr val="000099"/>
                </a:solidFill>
                <a:latin typeface="+mj-lt"/>
                <a:cs typeface="Arial" panose="020B0604020202020204" pitchFamily="34" charset="0"/>
              </a:rPr>
              <a:t>Root Cause : </a:t>
            </a:r>
          </a:p>
          <a:p>
            <a:pPr eaLnBrk="1" hangingPunct="1">
              <a:lnSpc>
                <a:spcPct val="100000"/>
              </a:lnSpc>
              <a:spcBef>
                <a:spcPct val="0"/>
              </a:spcBef>
              <a:buFontTx/>
              <a:buNone/>
            </a:pPr>
            <a:r>
              <a:rPr lang="id-ID" altLang="en-US" sz="1050" b="1" dirty="0">
                <a:solidFill>
                  <a:srgbClr val="000099"/>
                </a:solidFill>
                <a:latin typeface="+mj-lt"/>
                <a:cs typeface="Arial" panose="020B0604020202020204" pitchFamily="34" charset="0"/>
              </a:rPr>
              <a:t>Terdapat oli yg tergenang di area produksi/Mc</a:t>
            </a:r>
          </a:p>
        </p:txBody>
      </p:sp>
      <p:sp>
        <p:nvSpPr>
          <p:cNvPr id="13" name="Rectangle 12">
            <a:extLst>
              <a:ext uri="{FF2B5EF4-FFF2-40B4-BE49-F238E27FC236}">
                <a16:creationId xmlns:a16="http://schemas.microsoft.com/office/drawing/2014/main" id="{E3A119CD-0F5D-226D-CFE6-FA7C14EB4543}"/>
              </a:ext>
            </a:extLst>
          </p:cNvPr>
          <p:cNvSpPr/>
          <p:nvPr/>
        </p:nvSpPr>
        <p:spPr>
          <a:xfrm>
            <a:off x="211061" y="2266200"/>
            <a:ext cx="4401426" cy="445338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sz="1050">
              <a:latin typeface="+mj-lt"/>
            </a:endParaRPr>
          </a:p>
        </p:txBody>
      </p:sp>
      <p:sp>
        <p:nvSpPr>
          <p:cNvPr id="14" name="TextBox 13">
            <a:extLst>
              <a:ext uri="{FF2B5EF4-FFF2-40B4-BE49-F238E27FC236}">
                <a16:creationId xmlns:a16="http://schemas.microsoft.com/office/drawing/2014/main" id="{932357AB-C223-676C-6C7B-2E6EBB89BA13}"/>
              </a:ext>
            </a:extLst>
          </p:cNvPr>
          <p:cNvSpPr txBox="1">
            <a:spLocks noChangeArrowheads="1"/>
          </p:cNvSpPr>
          <p:nvPr/>
        </p:nvSpPr>
        <p:spPr bwMode="auto">
          <a:xfrm>
            <a:off x="204103" y="2301210"/>
            <a:ext cx="2155031"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050" b="1" i="1" u="sng" dirty="0">
                <a:solidFill>
                  <a:srgbClr val="000099"/>
                </a:solidFill>
                <a:latin typeface="+mj-lt"/>
                <a:cs typeface="Arial" panose="020B0604020202020204" pitchFamily="34" charset="0"/>
              </a:rPr>
              <a:t>Point </a:t>
            </a:r>
            <a:r>
              <a:rPr lang="id-ID" altLang="en-US" sz="1050" b="1" i="1" u="sng" dirty="0">
                <a:solidFill>
                  <a:srgbClr val="000099"/>
                </a:solidFill>
                <a:latin typeface="+mj-lt"/>
                <a:cs typeface="Arial" panose="020B0604020202020204" pitchFamily="34" charset="0"/>
              </a:rPr>
              <a:t>Abnormal</a:t>
            </a:r>
            <a:r>
              <a:rPr lang="en-US" altLang="en-US" sz="1050" b="1" i="1" u="sng" dirty="0">
                <a:solidFill>
                  <a:srgbClr val="000099"/>
                </a:solidFill>
                <a:latin typeface="+mj-lt"/>
                <a:cs typeface="Arial" panose="020B0604020202020204" pitchFamily="34" charset="0"/>
              </a:rPr>
              <a:t> / Finding Audit</a:t>
            </a:r>
            <a:endParaRPr lang="id-ID" altLang="en-US" sz="1050" b="1" i="1" u="sng" dirty="0">
              <a:solidFill>
                <a:srgbClr val="000099"/>
              </a:solidFill>
              <a:latin typeface="+mj-lt"/>
              <a:cs typeface="Arial" panose="020B0604020202020204" pitchFamily="34" charset="0"/>
            </a:endParaRPr>
          </a:p>
        </p:txBody>
      </p:sp>
      <p:sp>
        <p:nvSpPr>
          <p:cNvPr id="15" name="Rectangle 14">
            <a:extLst>
              <a:ext uri="{FF2B5EF4-FFF2-40B4-BE49-F238E27FC236}">
                <a16:creationId xmlns:a16="http://schemas.microsoft.com/office/drawing/2014/main" id="{ADE1FD91-1300-AFA1-1A4E-47C62B8ABEA1}"/>
              </a:ext>
            </a:extLst>
          </p:cNvPr>
          <p:cNvSpPr/>
          <p:nvPr/>
        </p:nvSpPr>
        <p:spPr>
          <a:xfrm>
            <a:off x="4691534" y="2266200"/>
            <a:ext cx="7258521" cy="445338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sz="1050">
              <a:latin typeface="+mj-lt"/>
            </a:endParaRPr>
          </a:p>
        </p:txBody>
      </p:sp>
      <p:sp>
        <p:nvSpPr>
          <p:cNvPr id="16" name="TextBox 15">
            <a:extLst>
              <a:ext uri="{FF2B5EF4-FFF2-40B4-BE49-F238E27FC236}">
                <a16:creationId xmlns:a16="http://schemas.microsoft.com/office/drawing/2014/main" id="{81F822BE-3965-1548-1103-272680005B06}"/>
              </a:ext>
            </a:extLst>
          </p:cNvPr>
          <p:cNvSpPr txBox="1">
            <a:spLocks noChangeArrowheads="1"/>
          </p:cNvSpPr>
          <p:nvPr/>
        </p:nvSpPr>
        <p:spPr bwMode="auto">
          <a:xfrm>
            <a:off x="4682011" y="2248095"/>
            <a:ext cx="238958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050" b="1" i="1" u="sng" dirty="0">
                <a:solidFill>
                  <a:srgbClr val="000099"/>
                </a:solidFill>
                <a:latin typeface="+mj-lt"/>
                <a:cs typeface="Arial" panose="020B0604020202020204" pitchFamily="34" charset="0"/>
              </a:rPr>
              <a:t>Countermeasure / Improvement</a:t>
            </a:r>
            <a:endParaRPr lang="id-ID" altLang="en-US" sz="1050" b="1" i="1" u="sng" dirty="0">
              <a:solidFill>
                <a:srgbClr val="000099"/>
              </a:solidFill>
              <a:latin typeface="+mj-lt"/>
              <a:cs typeface="Arial" panose="020B0604020202020204" pitchFamily="34" charset="0"/>
            </a:endParaRPr>
          </a:p>
        </p:txBody>
      </p:sp>
      <p:sp>
        <p:nvSpPr>
          <p:cNvPr id="17" name="Text Box 25">
            <a:extLst>
              <a:ext uri="{FF2B5EF4-FFF2-40B4-BE49-F238E27FC236}">
                <a16:creationId xmlns:a16="http://schemas.microsoft.com/office/drawing/2014/main" id="{4DA215FA-8394-BE8F-E970-C235504104BE}"/>
              </a:ext>
            </a:extLst>
          </p:cNvPr>
          <p:cNvSpPr txBox="1">
            <a:spLocks noChangeArrowheads="1"/>
          </p:cNvSpPr>
          <p:nvPr/>
        </p:nvSpPr>
        <p:spPr bwMode="auto">
          <a:xfrm>
            <a:off x="4691535" y="1560222"/>
            <a:ext cx="7155056"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050" b="1" i="1" u="sng" dirty="0">
                <a:solidFill>
                  <a:srgbClr val="FF0000"/>
                </a:solidFill>
                <a:latin typeface="+mj-lt"/>
              </a:rPr>
              <a:t>Effect :</a:t>
            </a:r>
            <a:endParaRPr lang="en-US" altLang="en-US" sz="900" b="1" i="1" u="sng" dirty="0">
              <a:solidFill>
                <a:srgbClr val="FF0000"/>
              </a:solidFill>
              <a:latin typeface="+mj-lt"/>
            </a:endParaRPr>
          </a:p>
          <a:p>
            <a:pPr eaLnBrk="1" hangingPunct="1">
              <a:lnSpc>
                <a:spcPct val="100000"/>
              </a:lnSpc>
              <a:spcBef>
                <a:spcPct val="0"/>
              </a:spcBef>
              <a:buFontTx/>
              <a:buNone/>
            </a:pPr>
            <a:r>
              <a:rPr lang="id-ID" altLang="en-US" sz="1050" b="1" dirty="0">
                <a:solidFill>
                  <a:srgbClr val="FF0000"/>
                </a:solidFill>
                <a:latin typeface="+mj-lt"/>
              </a:rPr>
              <a:t>Adanya genangan oli bisa menyebabkan kecelakaan kerja pada operator yg sedang melakukan proses kerja pada MC/Area tersebut , Contoh : Terpeleset DLL </a:t>
            </a:r>
            <a:endParaRPr lang="en-US" altLang="en-US" sz="1050" b="1" dirty="0">
              <a:solidFill>
                <a:srgbClr val="FF0000"/>
              </a:solidFill>
              <a:latin typeface="+mj-lt"/>
            </a:endParaRPr>
          </a:p>
        </p:txBody>
      </p:sp>
      <p:sp>
        <p:nvSpPr>
          <p:cNvPr id="19" name="Rectangle 18">
            <a:extLst>
              <a:ext uri="{FF2B5EF4-FFF2-40B4-BE49-F238E27FC236}">
                <a16:creationId xmlns:a16="http://schemas.microsoft.com/office/drawing/2014/main" id="{5B3B53CB-DD9D-749A-2D74-57EE81A06E5C}"/>
              </a:ext>
            </a:extLst>
          </p:cNvPr>
          <p:cNvSpPr/>
          <p:nvPr/>
        </p:nvSpPr>
        <p:spPr>
          <a:xfrm>
            <a:off x="294952" y="2526535"/>
            <a:ext cx="4233645" cy="201348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sz="1050" dirty="0">
              <a:solidFill>
                <a:srgbClr val="FF0000"/>
              </a:solidFill>
              <a:latin typeface="+mj-lt"/>
            </a:endParaRPr>
          </a:p>
        </p:txBody>
      </p:sp>
      <p:sp>
        <p:nvSpPr>
          <p:cNvPr id="20" name="Rectangle 19">
            <a:extLst>
              <a:ext uri="{FF2B5EF4-FFF2-40B4-BE49-F238E27FC236}">
                <a16:creationId xmlns:a16="http://schemas.microsoft.com/office/drawing/2014/main" id="{F8041424-8A22-6089-8A2B-E40E6D91DC93}"/>
              </a:ext>
            </a:extLst>
          </p:cNvPr>
          <p:cNvSpPr/>
          <p:nvPr/>
        </p:nvSpPr>
        <p:spPr>
          <a:xfrm>
            <a:off x="294952" y="4634248"/>
            <a:ext cx="4233645" cy="201348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id-ID" sz="1400" dirty="0">
                <a:solidFill>
                  <a:schemeClr val="tx1"/>
                </a:solidFill>
              </a:rPr>
              <a:t>Area produksi/Mc terdapat genangan oli yang disebabkan oleh selang oli yg rembes sehingga oli metetes kelantai</a:t>
            </a:r>
            <a:endParaRPr lang="en-US" sz="1400" dirty="0">
              <a:solidFill>
                <a:schemeClr val="tx1"/>
              </a:solidFill>
            </a:endParaRPr>
          </a:p>
        </p:txBody>
      </p:sp>
      <p:sp>
        <p:nvSpPr>
          <p:cNvPr id="21" name="Rectangle 20">
            <a:extLst>
              <a:ext uri="{FF2B5EF4-FFF2-40B4-BE49-F238E27FC236}">
                <a16:creationId xmlns:a16="http://schemas.microsoft.com/office/drawing/2014/main" id="{4DB5E2B8-960E-8F8E-8402-9D89E4A3513D}"/>
              </a:ext>
            </a:extLst>
          </p:cNvPr>
          <p:cNvSpPr/>
          <p:nvPr/>
        </p:nvSpPr>
        <p:spPr>
          <a:xfrm>
            <a:off x="4771876" y="2620761"/>
            <a:ext cx="2877423" cy="402697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050" dirty="0">
              <a:solidFill>
                <a:srgbClr val="00B0F0"/>
              </a:solidFill>
              <a:latin typeface="+mj-lt"/>
            </a:endParaRPr>
          </a:p>
        </p:txBody>
      </p:sp>
      <p:sp>
        <p:nvSpPr>
          <p:cNvPr id="22" name="Rectangle 21">
            <a:extLst>
              <a:ext uri="{FF2B5EF4-FFF2-40B4-BE49-F238E27FC236}">
                <a16:creationId xmlns:a16="http://schemas.microsoft.com/office/drawing/2014/main" id="{D33F9FBA-D59F-CA49-EBED-CFF1C4DECAB7}"/>
              </a:ext>
            </a:extLst>
          </p:cNvPr>
          <p:cNvSpPr/>
          <p:nvPr/>
        </p:nvSpPr>
        <p:spPr>
          <a:xfrm>
            <a:off x="7752764" y="2620761"/>
            <a:ext cx="4093828" cy="191926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171450" indent="-171450">
              <a:buFont typeface="Arial" panose="020B0604020202020204" pitchFamily="34" charset="0"/>
              <a:buChar char="•"/>
              <a:defRPr/>
            </a:pPr>
            <a:r>
              <a:rPr lang="id-ID" sz="1400" dirty="0">
                <a:solidFill>
                  <a:schemeClr val="tx1"/>
                </a:solidFill>
                <a:latin typeface="+mj-lt"/>
              </a:rPr>
              <a:t>Memperbaiki kebocoran pada selang oli / penanggulangan lainnya</a:t>
            </a:r>
          </a:p>
          <a:p>
            <a:pPr marL="171450" indent="-171450">
              <a:buFont typeface="Arial" panose="020B0604020202020204" pitchFamily="34" charset="0"/>
              <a:buChar char="•"/>
              <a:defRPr/>
            </a:pPr>
            <a:r>
              <a:rPr lang="id-ID" sz="1400" dirty="0">
                <a:solidFill>
                  <a:schemeClr val="tx1"/>
                </a:solidFill>
                <a:latin typeface="+mj-lt"/>
              </a:rPr>
              <a:t>Mengisi check sheet autonomus MC secara actual dengan apa yg sebenarnya terjadi di lapangan </a:t>
            </a:r>
          </a:p>
        </p:txBody>
      </p:sp>
      <p:sp>
        <p:nvSpPr>
          <p:cNvPr id="23" name="Rectangle 22">
            <a:extLst>
              <a:ext uri="{FF2B5EF4-FFF2-40B4-BE49-F238E27FC236}">
                <a16:creationId xmlns:a16="http://schemas.microsoft.com/office/drawing/2014/main" id="{FB660035-A437-93BC-043F-5EB0B94C1A18}"/>
              </a:ext>
            </a:extLst>
          </p:cNvPr>
          <p:cNvSpPr/>
          <p:nvPr/>
        </p:nvSpPr>
        <p:spPr>
          <a:xfrm>
            <a:off x="7752764" y="4634247"/>
            <a:ext cx="4093827" cy="201348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600" dirty="0">
              <a:solidFill>
                <a:srgbClr val="00B0F0"/>
              </a:solidFill>
              <a:latin typeface="+mj-lt"/>
            </a:endParaRPr>
          </a:p>
        </p:txBody>
      </p:sp>
      <p:sp>
        <p:nvSpPr>
          <p:cNvPr id="24" name="Text Box 25">
            <a:extLst>
              <a:ext uri="{FF2B5EF4-FFF2-40B4-BE49-F238E27FC236}">
                <a16:creationId xmlns:a16="http://schemas.microsoft.com/office/drawing/2014/main" id="{684DAA90-7129-E50A-307D-E6A54C8EB696}"/>
              </a:ext>
            </a:extLst>
          </p:cNvPr>
          <p:cNvSpPr txBox="1">
            <a:spLocks noChangeArrowheads="1"/>
          </p:cNvSpPr>
          <p:nvPr/>
        </p:nvSpPr>
        <p:spPr bwMode="auto">
          <a:xfrm>
            <a:off x="7711053" y="2612536"/>
            <a:ext cx="1817259"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050" b="1" i="1" u="sng" dirty="0">
                <a:solidFill>
                  <a:srgbClr val="000066"/>
                </a:solidFill>
                <a:latin typeface="+mj-lt"/>
              </a:rPr>
              <a:t>Corrective action</a:t>
            </a:r>
          </a:p>
        </p:txBody>
      </p:sp>
      <p:sp>
        <p:nvSpPr>
          <p:cNvPr id="25" name="Text Box 25">
            <a:extLst>
              <a:ext uri="{FF2B5EF4-FFF2-40B4-BE49-F238E27FC236}">
                <a16:creationId xmlns:a16="http://schemas.microsoft.com/office/drawing/2014/main" id="{00D60E7B-8839-B1F2-C3F2-73BE68E3AE93}"/>
              </a:ext>
            </a:extLst>
          </p:cNvPr>
          <p:cNvSpPr txBox="1">
            <a:spLocks noChangeArrowheads="1"/>
          </p:cNvSpPr>
          <p:nvPr/>
        </p:nvSpPr>
        <p:spPr bwMode="auto">
          <a:xfrm>
            <a:off x="7753516" y="4634247"/>
            <a:ext cx="1634701"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050" b="1" i="1" u="sng" dirty="0">
                <a:solidFill>
                  <a:srgbClr val="000066"/>
                </a:solidFill>
                <a:latin typeface="+mj-lt"/>
              </a:rPr>
              <a:t>Preventive Action</a:t>
            </a:r>
          </a:p>
        </p:txBody>
      </p:sp>
      <p:sp>
        <p:nvSpPr>
          <p:cNvPr id="26" name="TextBox 25">
            <a:extLst>
              <a:ext uri="{FF2B5EF4-FFF2-40B4-BE49-F238E27FC236}">
                <a16:creationId xmlns:a16="http://schemas.microsoft.com/office/drawing/2014/main" id="{0260FE7A-1E3C-2530-ED89-2530FA3076E2}"/>
              </a:ext>
            </a:extLst>
          </p:cNvPr>
          <p:cNvSpPr txBox="1"/>
          <p:nvPr/>
        </p:nvSpPr>
        <p:spPr>
          <a:xfrm>
            <a:off x="7864802" y="5041980"/>
            <a:ext cx="3829893" cy="738664"/>
          </a:xfrm>
          <a:prstGeom prst="rect">
            <a:avLst/>
          </a:prstGeom>
          <a:noFill/>
        </p:spPr>
        <p:txBody>
          <a:bodyPr wrap="square" rtlCol="0">
            <a:spAutoFit/>
          </a:bodyPr>
          <a:lstStyle/>
          <a:p>
            <a:pPr marL="285750" indent="-285750">
              <a:buFont typeface="Arial" panose="020B0604020202020204" pitchFamily="34" charset="0"/>
              <a:buChar char="•"/>
            </a:pPr>
            <a:r>
              <a:rPr lang="id-ID" sz="1400" dirty="0">
                <a:latin typeface="Arial Narrow" panose="020B0606020202030204" pitchFamily="34" charset="0"/>
              </a:rPr>
              <a:t>Melakukan cleaning area yg terdapat genangan oli secara continue dengan lap/majun yg tebal atau sesuai dengan check sheet 5R pada akhir shif</a:t>
            </a:r>
            <a:endParaRPr lang="en-ID" sz="1400" dirty="0">
              <a:latin typeface="Arial Narrow" panose="020B0606020202030204" pitchFamily="34" charset="0"/>
            </a:endParaRPr>
          </a:p>
        </p:txBody>
      </p:sp>
      <p:sp>
        <p:nvSpPr>
          <p:cNvPr id="34" name="TextBox 33"/>
          <p:cNvSpPr txBox="1"/>
          <p:nvPr/>
        </p:nvSpPr>
        <p:spPr>
          <a:xfrm>
            <a:off x="1038895" y="77228"/>
            <a:ext cx="5417083" cy="461665"/>
          </a:xfrm>
          <a:prstGeom prst="rect">
            <a:avLst/>
          </a:prstGeom>
          <a:noFill/>
        </p:spPr>
        <p:txBody>
          <a:bodyPr wrap="square" rtlCol="0">
            <a:spAutoFit/>
          </a:bodyPr>
          <a:lstStyle/>
          <a:p>
            <a:r>
              <a:rPr lang="en-US" sz="2400" dirty="0">
                <a:solidFill>
                  <a:srgbClr val="002060"/>
                </a:solidFill>
                <a:latin typeface="Segoe UI" panose="020B0502040204020203" pitchFamily="34" charset="0"/>
                <a:cs typeface="Segoe UI" panose="020B0502040204020203" pitchFamily="34" charset="0"/>
              </a:rPr>
              <a:t>Self Audit TPQ </a:t>
            </a:r>
            <a:r>
              <a:rPr lang="id-ID" sz="2400" dirty="0">
                <a:solidFill>
                  <a:srgbClr val="002060"/>
                </a:solidFill>
                <a:latin typeface="Segoe UI" panose="020B0502040204020203" pitchFamily="34" charset="0"/>
                <a:cs typeface="Segoe UI" panose="020B0502040204020203" pitchFamily="34" charset="0"/>
              </a:rPr>
              <a:t>Trivindo Prima Mandiri</a:t>
            </a:r>
            <a:endParaRPr lang="en-US" sz="2400" dirty="0">
              <a:solidFill>
                <a:srgbClr val="002060"/>
              </a:solidFill>
              <a:latin typeface="Segoe UI" panose="020B0502040204020203" pitchFamily="34" charset="0"/>
              <a:cs typeface="Segoe UI" panose="020B0502040204020203" pitchFamily="34" charset="0"/>
            </a:endParaRPr>
          </a:p>
        </p:txBody>
      </p:sp>
      <p:cxnSp>
        <p:nvCxnSpPr>
          <p:cNvPr id="35" name="Straight Connector 34"/>
          <p:cNvCxnSpPr/>
          <p:nvPr/>
        </p:nvCxnSpPr>
        <p:spPr>
          <a:xfrm>
            <a:off x="227526" y="800100"/>
            <a:ext cx="11704320" cy="0"/>
          </a:xfrm>
          <a:prstGeom prst="line">
            <a:avLst/>
          </a:prstGeom>
          <a:noFill/>
          <a:ln w="28575" cap="flat" cmpd="sng" algn="ctr">
            <a:solidFill>
              <a:srgbClr val="002060"/>
            </a:solidFill>
            <a:prstDash val="solid"/>
            <a:miter lim="800000"/>
          </a:ln>
          <a:effectLst/>
        </p:spPr>
      </p:cxnSp>
      <p:sp>
        <p:nvSpPr>
          <p:cNvPr id="36" name="Rectangle 35"/>
          <p:cNvSpPr/>
          <p:nvPr/>
        </p:nvSpPr>
        <p:spPr>
          <a:xfrm>
            <a:off x="9918341" y="-110301"/>
            <a:ext cx="2031714" cy="948501"/>
          </a:xfrm>
          <a:prstGeom prst="rect">
            <a:avLst/>
          </a:prstGeom>
          <a:noFill/>
          <a:ln w="12700" cap="flat" cmpd="sng" algn="ctr">
            <a:noFill/>
            <a:prstDash val="solid"/>
            <a:miter lim="800000"/>
          </a:ln>
          <a:effectLst/>
        </p:spPr>
        <p:txBody>
          <a:bodyPr rtlCol="0" anchor="ctr"/>
          <a:lstStyle/>
          <a:p>
            <a:pPr algn="ctr">
              <a:defRPr/>
            </a:pPr>
            <a:r>
              <a:rPr lang="en-US" sz="4000" b="1" kern="0" dirty="0">
                <a:solidFill>
                  <a:srgbClr val="C00000"/>
                </a:solidFill>
                <a:latin typeface="Segoe UI" panose="020B0502040204020203" pitchFamily="34" charset="0"/>
                <a:ea typeface="Segoe UI Historic" panose="020B0502040204020203" pitchFamily="34" charset="0"/>
                <a:cs typeface="Segoe UI" panose="020B0502040204020203" pitchFamily="34" charset="0"/>
              </a:rPr>
              <a:t>TPQ</a:t>
            </a:r>
          </a:p>
          <a:p>
            <a:pPr algn="ctr">
              <a:defRPr/>
            </a:pPr>
            <a:r>
              <a:rPr lang="en-US" sz="1050" b="1" kern="0" dirty="0">
                <a:solidFill>
                  <a:srgbClr val="E7E6E6">
                    <a:lumMod val="25000"/>
                  </a:srgbClr>
                </a:solidFill>
                <a:latin typeface="Segoe UI" panose="020B0502040204020203" pitchFamily="34" charset="0"/>
                <a:ea typeface="Segoe UI Historic" panose="020B0502040204020203" pitchFamily="34" charset="0"/>
                <a:cs typeface="Segoe UI" panose="020B0502040204020203" pitchFamily="34" charset="0"/>
              </a:rPr>
              <a:t>TPM – PRINCIPLE QUALITY</a:t>
            </a:r>
          </a:p>
        </p:txBody>
      </p:sp>
      <p:pic>
        <p:nvPicPr>
          <p:cNvPr id="38" name="Picture 37">
            <a:extLst>
              <a:ext uri="{FF2B5EF4-FFF2-40B4-BE49-F238E27FC236}">
                <a16:creationId xmlns:a16="http://schemas.microsoft.com/office/drawing/2014/main" id="{27316A86-AE91-480B-A569-35FA21734804}"/>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204103" y="120322"/>
            <a:ext cx="692932" cy="567389"/>
          </a:xfrm>
          <a:prstGeom prst="rect">
            <a:avLst/>
          </a:prstGeom>
        </p:spPr>
      </p:pic>
      <p:pic>
        <p:nvPicPr>
          <p:cNvPr id="5" name="Picture 4">
            <a:extLst>
              <a:ext uri="{FF2B5EF4-FFF2-40B4-BE49-F238E27FC236}">
                <a16:creationId xmlns:a16="http://schemas.microsoft.com/office/drawing/2014/main" id="{33518419-9FE2-45D2-BFEE-EF1F9644913C}"/>
              </a:ext>
            </a:extLst>
          </p:cNvPr>
          <p:cNvPicPr>
            <a:picLocks noChangeAspect="1"/>
          </p:cNvPicPr>
          <p:nvPr/>
        </p:nvPicPr>
        <p:blipFill rotWithShape="1">
          <a:blip r:embed="rId3">
            <a:extLst>
              <a:ext uri="{28A0092B-C50C-407E-A947-70E740481C1C}">
                <a14:useLocalDpi xmlns:a14="http://schemas.microsoft.com/office/drawing/2010/main" val="0"/>
              </a:ext>
            </a:extLst>
          </a:blip>
          <a:srcRect l="1" t="14970" r="-371" b="22750"/>
          <a:stretch/>
        </p:blipFill>
        <p:spPr>
          <a:xfrm>
            <a:off x="390778" y="2649351"/>
            <a:ext cx="4081468" cy="1794312"/>
          </a:xfrm>
          <a:prstGeom prst="rect">
            <a:avLst/>
          </a:prstGeom>
        </p:spPr>
      </p:pic>
      <p:pic>
        <p:nvPicPr>
          <p:cNvPr id="2" name="Picture 1">
            <a:extLst>
              <a:ext uri="{FF2B5EF4-FFF2-40B4-BE49-F238E27FC236}">
                <a16:creationId xmlns:a16="http://schemas.microsoft.com/office/drawing/2014/main" id="{6D8082DA-0ACA-4D49-8811-7EA3416319C9}"/>
              </a:ext>
            </a:extLst>
          </p:cNvPr>
          <p:cNvPicPr>
            <a:picLocks noChangeAspect="1"/>
          </p:cNvPicPr>
          <p:nvPr/>
        </p:nvPicPr>
        <p:blipFill>
          <a:blip r:embed="rId4"/>
          <a:stretch>
            <a:fillRect/>
          </a:stretch>
        </p:blipFill>
        <p:spPr>
          <a:xfrm>
            <a:off x="4895533" y="2798407"/>
            <a:ext cx="2553174" cy="1812390"/>
          </a:xfrm>
          <a:prstGeom prst="rect">
            <a:avLst/>
          </a:prstGeom>
        </p:spPr>
      </p:pic>
      <p:sp>
        <p:nvSpPr>
          <p:cNvPr id="3" name="TextBox 2">
            <a:extLst>
              <a:ext uri="{FF2B5EF4-FFF2-40B4-BE49-F238E27FC236}">
                <a16:creationId xmlns:a16="http://schemas.microsoft.com/office/drawing/2014/main" id="{5BF8B107-A137-47B5-AA29-142C295E4FE4}"/>
              </a:ext>
            </a:extLst>
          </p:cNvPr>
          <p:cNvSpPr txBox="1"/>
          <p:nvPr/>
        </p:nvSpPr>
        <p:spPr>
          <a:xfrm>
            <a:off x="4954037" y="4965358"/>
            <a:ext cx="2494670" cy="738664"/>
          </a:xfrm>
          <a:prstGeom prst="rect">
            <a:avLst/>
          </a:prstGeom>
          <a:noFill/>
          <a:ln>
            <a:solidFill>
              <a:schemeClr val="tx1"/>
            </a:solidFill>
          </a:ln>
        </p:spPr>
        <p:txBody>
          <a:bodyPr wrap="square" rtlCol="0">
            <a:spAutoFit/>
          </a:bodyPr>
          <a:lstStyle/>
          <a:p>
            <a:r>
              <a:rPr lang="id-ID" sz="1400" dirty="0"/>
              <a:t>Operator mengisi check sheet sesuai dengan actual yg terjadi di lapangan  </a:t>
            </a:r>
          </a:p>
        </p:txBody>
      </p:sp>
    </p:spTree>
    <p:extLst>
      <p:ext uri="{BB962C8B-B14F-4D97-AF65-F5344CB8AC3E}">
        <p14:creationId xmlns:p14="http://schemas.microsoft.com/office/powerpoint/2010/main" val="676586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411F671-CD5E-C4B4-0D42-B0FD0D783D77}"/>
              </a:ext>
            </a:extLst>
          </p:cNvPr>
          <p:cNvSpPr/>
          <p:nvPr/>
        </p:nvSpPr>
        <p:spPr>
          <a:xfrm>
            <a:off x="211062" y="1039908"/>
            <a:ext cx="4401426" cy="126130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id-ID" sz="1400" b="1" dirty="0">
                <a:solidFill>
                  <a:schemeClr val="accent5">
                    <a:lumMod val="75000"/>
                  </a:schemeClr>
                </a:solidFill>
                <a:latin typeface="+mj-lt"/>
              </a:rPr>
              <a:t>Teknisi mengisi lembar perubahan setting parameter jika terjadinya perbedaan dengan standart</a:t>
            </a:r>
            <a:endParaRPr lang="en-US" sz="1400" b="1" dirty="0">
              <a:solidFill>
                <a:schemeClr val="accent5">
                  <a:lumMod val="75000"/>
                </a:schemeClr>
              </a:solidFill>
              <a:latin typeface="+mj-lt"/>
            </a:endParaRPr>
          </a:p>
        </p:txBody>
      </p:sp>
      <p:sp>
        <p:nvSpPr>
          <p:cNvPr id="3" name="TextBox 2">
            <a:extLst>
              <a:ext uri="{FF2B5EF4-FFF2-40B4-BE49-F238E27FC236}">
                <a16:creationId xmlns:a16="http://schemas.microsoft.com/office/drawing/2014/main" id="{EAF070D2-0981-E686-6191-BA54BFAE0052}"/>
              </a:ext>
            </a:extLst>
          </p:cNvPr>
          <p:cNvSpPr txBox="1">
            <a:spLocks noChangeArrowheads="1"/>
          </p:cNvSpPr>
          <p:nvPr/>
        </p:nvSpPr>
        <p:spPr bwMode="auto">
          <a:xfrm>
            <a:off x="175653" y="1029396"/>
            <a:ext cx="963725"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id-ID" altLang="en-US" sz="1050" b="1" i="1" u="sng" dirty="0">
                <a:solidFill>
                  <a:srgbClr val="000099"/>
                </a:solidFill>
                <a:latin typeface="+mj-lt"/>
                <a:cs typeface="Arial" panose="020B0604020202020204" pitchFamily="34" charset="0"/>
              </a:rPr>
              <a:t>Standard</a:t>
            </a:r>
          </a:p>
        </p:txBody>
      </p:sp>
      <p:sp>
        <p:nvSpPr>
          <p:cNvPr id="4" name="Rectangle 3">
            <a:extLst>
              <a:ext uri="{FF2B5EF4-FFF2-40B4-BE49-F238E27FC236}">
                <a16:creationId xmlns:a16="http://schemas.microsoft.com/office/drawing/2014/main" id="{CA31A860-6F1E-9296-8A23-F664159D5405}"/>
              </a:ext>
            </a:extLst>
          </p:cNvPr>
          <p:cNvSpPr/>
          <p:nvPr/>
        </p:nvSpPr>
        <p:spPr>
          <a:xfrm>
            <a:off x="4682010" y="1026658"/>
            <a:ext cx="7258521" cy="127455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endParaRPr lang="id-ID" altLang="en-US" sz="1050" dirty="0">
              <a:latin typeface="+mj-lt"/>
            </a:endParaRPr>
          </a:p>
        </p:txBody>
      </p:sp>
      <p:sp>
        <p:nvSpPr>
          <p:cNvPr id="5" name="TextBox 4">
            <a:extLst>
              <a:ext uri="{FF2B5EF4-FFF2-40B4-BE49-F238E27FC236}">
                <a16:creationId xmlns:a16="http://schemas.microsoft.com/office/drawing/2014/main" id="{18889AA3-1FAC-0918-A343-43F49791DE04}"/>
              </a:ext>
            </a:extLst>
          </p:cNvPr>
          <p:cNvSpPr txBox="1">
            <a:spLocks noChangeArrowheads="1"/>
          </p:cNvSpPr>
          <p:nvPr/>
        </p:nvSpPr>
        <p:spPr bwMode="auto">
          <a:xfrm>
            <a:off x="4691536" y="984523"/>
            <a:ext cx="7258519"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050" b="1" i="1" u="sng" dirty="0">
                <a:solidFill>
                  <a:srgbClr val="000099"/>
                </a:solidFill>
                <a:latin typeface="+mj-lt"/>
                <a:cs typeface="Arial" panose="020B0604020202020204" pitchFamily="34" charset="0"/>
              </a:rPr>
              <a:t>Root Cause : </a:t>
            </a:r>
          </a:p>
          <a:p>
            <a:pPr eaLnBrk="1" hangingPunct="1">
              <a:lnSpc>
                <a:spcPct val="100000"/>
              </a:lnSpc>
              <a:spcBef>
                <a:spcPct val="0"/>
              </a:spcBef>
              <a:buFontTx/>
              <a:buNone/>
            </a:pPr>
            <a:r>
              <a:rPr lang="en-US" altLang="en-US" sz="1050" b="1" dirty="0" err="1">
                <a:solidFill>
                  <a:srgbClr val="000099"/>
                </a:solidFill>
                <a:latin typeface="+mj-lt"/>
                <a:cs typeface="Arial" panose="020B0604020202020204" pitchFamily="34" charset="0"/>
              </a:rPr>
              <a:t>Sudah</a:t>
            </a:r>
            <a:r>
              <a:rPr lang="en-US" altLang="en-US" sz="1050" b="1" dirty="0">
                <a:solidFill>
                  <a:srgbClr val="000099"/>
                </a:solidFill>
                <a:latin typeface="+mj-lt"/>
                <a:cs typeface="Arial" panose="020B0604020202020204" pitchFamily="34" charset="0"/>
              </a:rPr>
              <a:t> </a:t>
            </a:r>
            <a:r>
              <a:rPr lang="en-US" altLang="en-US" sz="1050" b="1" dirty="0" err="1">
                <a:solidFill>
                  <a:srgbClr val="000099"/>
                </a:solidFill>
                <a:latin typeface="+mj-lt"/>
                <a:cs typeface="Arial" panose="020B0604020202020204" pitchFamily="34" charset="0"/>
              </a:rPr>
              <a:t>terdapat</a:t>
            </a:r>
            <a:r>
              <a:rPr lang="en-US" altLang="en-US" sz="1050" b="1" dirty="0">
                <a:solidFill>
                  <a:srgbClr val="000099"/>
                </a:solidFill>
                <a:latin typeface="+mj-lt"/>
                <a:cs typeface="Arial" panose="020B0604020202020204" pitchFamily="34" charset="0"/>
              </a:rPr>
              <a:t> </a:t>
            </a:r>
            <a:r>
              <a:rPr lang="id-ID" altLang="en-US" sz="1050" b="1" dirty="0">
                <a:solidFill>
                  <a:srgbClr val="000099"/>
                </a:solidFill>
                <a:latin typeface="+mj-lt"/>
                <a:cs typeface="Arial" panose="020B0604020202020204" pitchFamily="34" charset="0"/>
              </a:rPr>
              <a:t>lembar untuk permasalahan jika terjadinya perubahan setting parameter tidak sesuai standart karena terjadinya abnormality tetapi teknisi tidak mengisi nya jika ada perubahan setting parameter</a:t>
            </a:r>
          </a:p>
        </p:txBody>
      </p:sp>
      <p:sp>
        <p:nvSpPr>
          <p:cNvPr id="6" name="Rectangle 5">
            <a:extLst>
              <a:ext uri="{FF2B5EF4-FFF2-40B4-BE49-F238E27FC236}">
                <a16:creationId xmlns:a16="http://schemas.microsoft.com/office/drawing/2014/main" id="{18DECD73-B46D-83BD-F7A8-B70134970812}"/>
              </a:ext>
            </a:extLst>
          </p:cNvPr>
          <p:cNvSpPr/>
          <p:nvPr/>
        </p:nvSpPr>
        <p:spPr>
          <a:xfrm>
            <a:off x="210235" y="2344042"/>
            <a:ext cx="4401426" cy="437554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sz="1050">
              <a:latin typeface="+mj-lt"/>
            </a:endParaRPr>
          </a:p>
        </p:txBody>
      </p:sp>
      <p:sp>
        <p:nvSpPr>
          <p:cNvPr id="7" name="TextBox 6">
            <a:extLst>
              <a:ext uri="{FF2B5EF4-FFF2-40B4-BE49-F238E27FC236}">
                <a16:creationId xmlns:a16="http://schemas.microsoft.com/office/drawing/2014/main" id="{B03CB00F-32BB-50DE-864F-D630E97FD706}"/>
              </a:ext>
            </a:extLst>
          </p:cNvPr>
          <p:cNvSpPr txBox="1">
            <a:spLocks noChangeArrowheads="1"/>
          </p:cNvSpPr>
          <p:nvPr/>
        </p:nvSpPr>
        <p:spPr bwMode="auto">
          <a:xfrm>
            <a:off x="204103" y="2335077"/>
            <a:ext cx="2155031"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050" b="1" i="1" u="sng" dirty="0">
                <a:solidFill>
                  <a:srgbClr val="000099"/>
                </a:solidFill>
                <a:latin typeface="+mj-lt"/>
                <a:cs typeface="Arial" panose="020B0604020202020204" pitchFamily="34" charset="0"/>
              </a:rPr>
              <a:t>Point </a:t>
            </a:r>
            <a:r>
              <a:rPr lang="id-ID" altLang="en-US" sz="1050" b="1" i="1" u="sng" dirty="0">
                <a:solidFill>
                  <a:srgbClr val="000099"/>
                </a:solidFill>
                <a:latin typeface="+mj-lt"/>
                <a:cs typeface="Arial" panose="020B0604020202020204" pitchFamily="34" charset="0"/>
              </a:rPr>
              <a:t>Abnormal</a:t>
            </a:r>
            <a:r>
              <a:rPr lang="en-US" altLang="en-US" sz="1050" b="1" i="1" u="sng" dirty="0">
                <a:solidFill>
                  <a:srgbClr val="000099"/>
                </a:solidFill>
                <a:latin typeface="+mj-lt"/>
                <a:cs typeface="Arial" panose="020B0604020202020204" pitchFamily="34" charset="0"/>
              </a:rPr>
              <a:t> / Finding Audit</a:t>
            </a:r>
            <a:endParaRPr lang="id-ID" altLang="en-US" sz="1050" b="1" i="1" u="sng" dirty="0">
              <a:solidFill>
                <a:srgbClr val="000099"/>
              </a:solidFill>
              <a:latin typeface="+mj-lt"/>
              <a:cs typeface="Arial" panose="020B0604020202020204" pitchFamily="34" charset="0"/>
            </a:endParaRPr>
          </a:p>
        </p:txBody>
      </p:sp>
      <p:sp>
        <p:nvSpPr>
          <p:cNvPr id="8" name="Rectangle 7">
            <a:extLst>
              <a:ext uri="{FF2B5EF4-FFF2-40B4-BE49-F238E27FC236}">
                <a16:creationId xmlns:a16="http://schemas.microsoft.com/office/drawing/2014/main" id="{B25092D7-CBC2-22F3-7FA3-5F1992D61370}"/>
              </a:ext>
            </a:extLst>
          </p:cNvPr>
          <p:cNvSpPr/>
          <p:nvPr/>
        </p:nvSpPr>
        <p:spPr>
          <a:xfrm>
            <a:off x="4691534" y="2344042"/>
            <a:ext cx="7258521" cy="437554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sz="1050">
              <a:latin typeface="+mj-lt"/>
            </a:endParaRPr>
          </a:p>
        </p:txBody>
      </p:sp>
      <p:sp>
        <p:nvSpPr>
          <p:cNvPr id="9" name="TextBox 8">
            <a:extLst>
              <a:ext uri="{FF2B5EF4-FFF2-40B4-BE49-F238E27FC236}">
                <a16:creationId xmlns:a16="http://schemas.microsoft.com/office/drawing/2014/main" id="{7DEE0647-5C20-D08C-1660-DCFB1E134BDA}"/>
              </a:ext>
            </a:extLst>
          </p:cNvPr>
          <p:cNvSpPr txBox="1">
            <a:spLocks noChangeArrowheads="1"/>
          </p:cNvSpPr>
          <p:nvPr/>
        </p:nvSpPr>
        <p:spPr bwMode="auto">
          <a:xfrm>
            <a:off x="4682010" y="2338190"/>
            <a:ext cx="238958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050" b="1" i="1" u="sng" dirty="0">
                <a:solidFill>
                  <a:srgbClr val="000099"/>
                </a:solidFill>
                <a:latin typeface="+mj-lt"/>
                <a:cs typeface="Arial" panose="020B0604020202020204" pitchFamily="34" charset="0"/>
              </a:rPr>
              <a:t>Countermeasure / Improvement</a:t>
            </a:r>
            <a:endParaRPr lang="id-ID" altLang="en-US" sz="1050" b="1" i="1" u="sng" dirty="0">
              <a:solidFill>
                <a:srgbClr val="000099"/>
              </a:solidFill>
              <a:latin typeface="+mj-lt"/>
              <a:cs typeface="Arial" panose="020B0604020202020204" pitchFamily="34" charset="0"/>
            </a:endParaRPr>
          </a:p>
        </p:txBody>
      </p:sp>
      <p:sp>
        <p:nvSpPr>
          <p:cNvPr id="10" name="Text Box 25">
            <a:extLst>
              <a:ext uri="{FF2B5EF4-FFF2-40B4-BE49-F238E27FC236}">
                <a16:creationId xmlns:a16="http://schemas.microsoft.com/office/drawing/2014/main" id="{34BAAF9E-F4E4-7E7B-182C-5F6B0B7B93FF}"/>
              </a:ext>
            </a:extLst>
          </p:cNvPr>
          <p:cNvSpPr txBox="1">
            <a:spLocks noChangeArrowheads="1"/>
          </p:cNvSpPr>
          <p:nvPr/>
        </p:nvSpPr>
        <p:spPr bwMode="auto">
          <a:xfrm>
            <a:off x="4691535" y="1605378"/>
            <a:ext cx="7155056"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050" b="1" i="1" u="sng" dirty="0">
                <a:solidFill>
                  <a:srgbClr val="000066"/>
                </a:solidFill>
                <a:latin typeface="+mj-lt"/>
              </a:rPr>
              <a:t>Effect :</a:t>
            </a:r>
            <a:endParaRPr lang="en-US" altLang="en-US" sz="900" b="1" i="1" u="sng" dirty="0">
              <a:solidFill>
                <a:srgbClr val="000066"/>
              </a:solidFill>
              <a:latin typeface="+mj-lt"/>
            </a:endParaRPr>
          </a:p>
          <a:p>
            <a:pPr eaLnBrk="1" hangingPunct="1">
              <a:lnSpc>
                <a:spcPct val="100000"/>
              </a:lnSpc>
              <a:spcBef>
                <a:spcPct val="0"/>
              </a:spcBef>
              <a:buFontTx/>
              <a:buNone/>
            </a:pPr>
            <a:r>
              <a:rPr lang="id-ID" altLang="en-US" sz="1050" b="1" dirty="0">
                <a:solidFill>
                  <a:srgbClr val="000066"/>
                </a:solidFill>
                <a:latin typeface="+mj-lt"/>
              </a:rPr>
              <a:t>Jika teknisi tidak mengisi lembar perubahan setting parameter maka akan terjadinya perbedaan antara daily setting parameter dan standart setting parameter dan itu akan membingungkan teknisi lain dan dapat terjadinya kesalahan dalam penulisan</a:t>
            </a:r>
            <a:endParaRPr lang="en-US" altLang="en-US" sz="1050" b="1" dirty="0">
              <a:solidFill>
                <a:srgbClr val="000066"/>
              </a:solidFill>
              <a:latin typeface="+mj-lt"/>
            </a:endParaRPr>
          </a:p>
        </p:txBody>
      </p:sp>
      <p:sp>
        <p:nvSpPr>
          <p:cNvPr id="12" name="Rectangle 11">
            <a:extLst>
              <a:ext uri="{FF2B5EF4-FFF2-40B4-BE49-F238E27FC236}">
                <a16:creationId xmlns:a16="http://schemas.microsoft.com/office/drawing/2014/main" id="{7976B26E-C229-BC0E-F2B1-81AEF3DD5517}"/>
              </a:ext>
            </a:extLst>
          </p:cNvPr>
          <p:cNvSpPr/>
          <p:nvPr/>
        </p:nvSpPr>
        <p:spPr>
          <a:xfrm>
            <a:off x="294952" y="2620761"/>
            <a:ext cx="4233645" cy="19192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sz="1050" dirty="0">
              <a:solidFill>
                <a:srgbClr val="FF0000"/>
              </a:solidFill>
              <a:latin typeface="+mj-lt"/>
            </a:endParaRPr>
          </a:p>
        </p:txBody>
      </p:sp>
      <p:sp>
        <p:nvSpPr>
          <p:cNvPr id="13" name="Rectangle 12">
            <a:extLst>
              <a:ext uri="{FF2B5EF4-FFF2-40B4-BE49-F238E27FC236}">
                <a16:creationId xmlns:a16="http://schemas.microsoft.com/office/drawing/2014/main" id="{4D33E50E-9B06-242E-FFC8-611CC4BA724E}"/>
              </a:ext>
            </a:extLst>
          </p:cNvPr>
          <p:cNvSpPr/>
          <p:nvPr/>
        </p:nvSpPr>
        <p:spPr>
          <a:xfrm>
            <a:off x="294952" y="4634248"/>
            <a:ext cx="4233645" cy="201348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100" dirty="0" err="1">
                <a:solidFill>
                  <a:schemeClr val="tx1"/>
                </a:solidFill>
              </a:rPr>
              <a:t>Diarea</a:t>
            </a:r>
            <a:r>
              <a:rPr lang="en-US" sz="1100" dirty="0">
                <a:solidFill>
                  <a:schemeClr val="tx1"/>
                </a:solidFill>
              </a:rPr>
              <a:t> </a:t>
            </a:r>
            <a:r>
              <a:rPr lang="id-ID" sz="1100" dirty="0">
                <a:solidFill>
                  <a:schemeClr val="tx1"/>
                </a:solidFill>
              </a:rPr>
              <a:t>proses kerja sudah tersedia checksheet daily dan standart setting parameter yang berguna sebagai acuan dalam settingan pada mesin akan tetapi checksheet daily setting parameter masih belum di isi sesuai dengan yang ada pada mesin</a:t>
            </a:r>
            <a:endParaRPr lang="en-US" sz="1100" dirty="0">
              <a:solidFill>
                <a:schemeClr val="tx1"/>
              </a:solidFill>
            </a:endParaRPr>
          </a:p>
        </p:txBody>
      </p:sp>
      <p:sp>
        <p:nvSpPr>
          <p:cNvPr id="14" name="Rectangle 13">
            <a:extLst>
              <a:ext uri="{FF2B5EF4-FFF2-40B4-BE49-F238E27FC236}">
                <a16:creationId xmlns:a16="http://schemas.microsoft.com/office/drawing/2014/main" id="{18242680-6169-E99C-D086-1CFBC417EF57}"/>
              </a:ext>
            </a:extLst>
          </p:cNvPr>
          <p:cNvSpPr/>
          <p:nvPr/>
        </p:nvSpPr>
        <p:spPr>
          <a:xfrm>
            <a:off x="4771876" y="2620761"/>
            <a:ext cx="2877423" cy="402697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050" dirty="0">
              <a:solidFill>
                <a:srgbClr val="00B0F0"/>
              </a:solidFill>
              <a:latin typeface="+mj-lt"/>
            </a:endParaRPr>
          </a:p>
        </p:txBody>
      </p:sp>
      <p:sp>
        <p:nvSpPr>
          <p:cNvPr id="15" name="Rectangle 14">
            <a:extLst>
              <a:ext uri="{FF2B5EF4-FFF2-40B4-BE49-F238E27FC236}">
                <a16:creationId xmlns:a16="http://schemas.microsoft.com/office/drawing/2014/main" id="{228F326C-7E60-5EA3-FB80-44946BB9CA54}"/>
              </a:ext>
            </a:extLst>
          </p:cNvPr>
          <p:cNvSpPr/>
          <p:nvPr/>
        </p:nvSpPr>
        <p:spPr>
          <a:xfrm>
            <a:off x="7752764" y="2620761"/>
            <a:ext cx="4093828" cy="191926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171450" indent="-171450">
              <a:buFont typeface="Arial" panose="020B0604020202020204" pitchFamily="34" charset="0"/>
              <a:buChar char="•"/>
              <a:defRPr/>
            </a:pPr>
            <a:r>
              <a:rPr lang="id-ID" sz="1050" dirty="0">
                <a:solidFill>
                  <a:schemeClr val="tx1"/>
                </a:solidFill>
                <a:latin typeface="+mj-lt"/>
              </a:rPr>
              <a:t>Mengedukasi teknisi terkait pengisian perubahan setting parameter dibelakang checksheet daily setting parameter jika ada perubahan setting parameter tidak sesuai dengan standart setting parameter</a:t>
            </a:r>
          </a:p>
          <a:p>
            <a:pPr marL="171450" indent="-171450">
              <a:buFont typeface="Arial" panose="020B0604020202020204" pitchFamily="34" charset="0"/>
              <a:buChar char="•"/>
              <a:defRPr/>
            </a:pPr>
            <a:r>
              <a:rPr lang="id-ID" sz="1050" dirty="0">
                <a:solidFill>
                  <a:schemeClr val="tx1"/>
                </a:solidFill>
                <a:latin typeface="+mj-lt"/>
              </a:rPr>
              <a:t>Teknisi menulis nama dan ttd sebagai penanda siapa yang mengisi checksheet daily setting parameter dan dapat terlihat siapa yang melakukan perubahan setting parameter</a:t>
            </a:r>
          </a:p>
          <a:p>
            <a:pPr marL="171450" indent="-171450">
              <a:buFont typeface="Arial" panose="020B0604020202020204" pitchFamily="34" charset="0"/>
              <a:buChar char="•"/>
              <a:defRPr/>
            </a:pPr>
            <a:endParaRPr lang="id-ID" sz="1050" dirty="0">
              <a:solidFill>
                <a:schemeClr val="tx1"/>
              </a:solidFill>
              <a:latin typeface="+mj-lt"/>
            </a:endParaRPr>
          </a:p>
        </p:txBody>
      </p:sp>
      <p:sp>
        <p:nvSpPr>
          <p:cNvPr id="16" name="Rectangle 15">
            <a:extLst>
              <a:ext uri="{FF2B5EF4-FFF2-40B4-BE49-F238E27FC236}">
                <a16:creationId xmlns:a16="http://schemas.microsoft.com/office/drawing/2014/main" id="{AAD05668-07A9-4207-9982-32C51A5F7D6A}"/>
              </a:ext>
            </a:extLst>
          </p:cNvPr>
          <p:cNvSpPr/>
          <p:nvPr/>
        </p:nvSpPr>
        <p:spPr>
          <a:xfrm>
            <a:off x="7752764" y="4665507"/>
            <a:ext cx="4093827" cy="201348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285750" indent="-285750">
              <a:buFontTx/>
              <a:buChar char="-"/>
              <a:defRPr/>
            </a:pPr>
            <a:r>
              <a:rPr lang="id-ID" sz="1400" dirty="0">
                <a:solidFill>
                  <a:schemeClr val="tx1"/>
                </a:solidFill>
                <a:latin typeface="Arial Narrow" panose="020B0606020202030204" pitchFamily="34" charset="0"/>
              </a:rPr>
              <a:t>Pengisian checksheet Daily Parameter Setting Change Record oleh teknisi ketika terjadinya perubahan setting parameter dengan standart setting parameter</a:t>
            </a:r>
            <a:endParaRPr lang="en-US" sz="1400" dirty="0">
              <a:solidFill>
                <a:schemeClr val="tx1"/>
              </a:solidFill>
              <a:latin typeface="Arial Narrow" panose="020B0606020202030204" pitchFamily="34" charset="0"/>
            </a:endParaRPr>
          </a:p>
          <a:p>
            <a:pPr>
              <a:defRPr/>
            </a:pPr>
            <a:r>
              <a:rPr lang="en-US" sz="1400" dirty="0">
                <a:solidFill>
                  <a:schemeClr val="tx1"/>
                </a:solidFill>
                <a:latin typeface="Arial Narrow" panose="020B0606020202030204" pitchFamily="34" charset="0"/>
              </a:rPr>
              <a:t>       </a:t>
            </a:r>
            <a:r>
              <a:rPr lang="en-US" sz="1200" dirty="0">
                <a:solidFill>
                  <a:schemeClr val="tx1"/>
                </a:solidFill>
                <a:latin typeface="Arial Narrow" panose="020B0606020202030204" pitchFamily="34" charset="0"/>
              </a:rPr>
              <a:t>(</a:t>
            </a:r>
            <a:r>
              <a:rPr lang="id-ID" sz="1200" b="1" dirty="0">
                <a:solidFill>
                  <a:schemeClr val="tx1"/>
                </a:solidFill>
                <a:latin typeface="Arial Narrow" panose="020B0606020202030204" pitchFamily="34" charset="0"/>
              </a:rPr>
              <a:t>TPM-F-PROD-033</a:t>
            </a:r>
            <a:r>
              <a:rPr lang="en-US" altLang="en-US" sz="1200" b="1" dirty="0">
                <a:solidFill>
                  <a:schemeClr val="tx1"/>
                </a:solidFill>
                <a:latin typeface="Arial Narrow" panose="020B0606020202030204" pitchFamily="34" charset="0"/>
              </a:rPr>
              <a:t>)</a:t>
            </a:r>
          </a:p>
        </p:txBody>
      </p:sp>
      <p:sp>
        <p:nvSpPr>
          <p:cNvPr id="17" name="Text Box 25">
            <a:extLst>
              <a:ext uri="{FF2B5EF4-FFF2-40B4-BE49-F238E27FC236}">
                <a16:creationId xmlns:a16="http://schemas.microsoft.com/office/drawing/2014/main" id="{B824F4F7-FA1F-C87C-27A2-5AE44C6A979D}"/>
              </a:ext>
            </a:extLst>
          </p:cNvPr>
          <p:cNvSpPr txBox="1">
            <a:spLocks noChangeArrowheads="1"/>
          </p:cNvSpPr>
          <p:nvPr/>
        </p:nvSpPr>
        <p:spPr bwMode="auto">
          <a:xfrm>
            <a:off x="7711053" y="2612536"/>
            <a:ext cx="1817259"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050" b="1" i="1" u="sng" dirty="0">
                <a:solidFill>
                  <a:srgbClr val="000066"/>
                </a:solidFill>
                <a:latin typeface="+mj-lt"/>
              </a:rPr>
              <a:t>Corrective action</a:t>
            </a:r>
          </a:p>
        </p:txBody>
      </p:sp>
      <p:sp>
        <p:nvSpPr>
          <p:cNvPr id="18" name="Text Box 25">
            <a:extLst>
              <a:ext uri="{FF2B5EF4-FFF2-40B4-BE49-F238E27FC236}">
                <a16:creationId xmlns:a16="http://schemas.microsoft.com/office/drawing/2014/main" id="{440B6A63-1719-11E4-8910-DA5A01742ED9}"/>
              </a:ext>
            </a:extLst>
          </p:cNvPr>
          <p:cNvSpPr txBox="1">
            <a:spLocks noChangeArrowheads="1"/>
          </p:cNvSpPr>
          <p:nvPr/>
        </p:nvSpPr>
        <p:spPr bwMode="auto">
          <a:xfrm>
            <a:off x="7753516" y="4624087"/>
            <a:ext cx="1634701"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050" b="1" i="1" u="sng" dirty="0">
                <a:solidFill>
                  <a:srgbClr val="000066"/>
                </a:solidFill>
                <a:latin typeface="+mj-lt"/>
              </a:rPr>
              <a:t>Preventive Action</a:t>
            </a:r>
          </a:p>
        </p:txBody>
      </p:sp>
      <p:sp>
        <p:nvSpPr>
          <p:cNvPr id="25" name="TextBox 24"/>
          <p:cNvSpPr txBox="1"/>
          <p:nvPr/>
        </p:nvSpPr>
        <p:spPr>
          <a:xfrm>
            <a:off x="1005920" y="121931"/>
            <a:ext cx="5425360" cy="461665"/>
          </a:xfrm>
          <a:prstGeom prst="rect">
            <a:avLst/>
          </a:prstGeom>
          <a:noFill/>
        </p:spPr>
        <p:txBody>
          <a:bodyPr wrap="square" rtlCol="0">
            <a:spAutoFit/>
          </a:bodyPr>
          <a:lstStyle/>
          <a:p>
            <a:r>
              <a:rPr lang="en-US" sz="2400" dirty="0">
                <a:solidFill>
                  <a:srgbClr val="002060"/>
                </a:solidFill>
                <a:latin typeface="Segoe UI" panose="020B0502040204020203" pitchFamily="34" charset="0"/>
                <a:cs typeface="Segoe UI" panose="020B0502040204020203" pitchFamily="34" charset="0"/>
              </a:rPr>
              <a:t>Self Audit TPQ </a:t>
            </a:r>
            <a:r>
              <a:rPr lang="id-ID" sz="2400" dirty="0">
                <a:solidFill>
                  <a:srgbClr val="002060"/>
                </a:solidFill>
                <a:latin typeface="Segoe UI" panose="020B0502040204020203" pitchFamily="34" charset="0"/>
                <a:cs typeface="Segoe UI" panose="020B0502040204020203" pitchFamily="34" charset="0"/>
              </a:rPr>
              <a:t>Trivindo Prima Mandiri</a:t>
            </a:r>
            <a:endParaRPr lang="en-US" sz="2400" dirty="0">
              <a:solidFill>
                <a:srgbClr val="002060"/>
              </a:solidFill>
              <a:latin typeface="Segoe UI" panose="020B0502040204020203" pitchFamily="34" charset="0"/>
              <a:cs typeface="Segoe UI" panose="020B0502040204020203" pitchFamily="34" charset="0"/>
            </a:endParaRPr>
          </a:p>
        </p:txBody>
      </p:sp>
      <p:cxnSp>
        <p:nvCxnSpPr>
          <p:cNvPr id="26" name="Straight Connector 25"/>
          <p:cNvCxnSpPr/>
          <p:nvPr/>
        </p:nvCxnSpPr>
        <p:spPr>
          <a:xfrm>
            <a:off x="227526" y="800100"/>
            <a:ext cx="11704320" cy="0"/>
          </a:xfrm>
          <a:prstGeom prst="line">
            <a:avLst/>
          </a:prstGeom>
          <a:noFill/>
          <a:ln w="28575" cap="flat" cmpd="sng" algn="ctr">
            <a:solidFill>
              <a:srgbClr val="002060"/>
            </a:solidFill>
            <a:prstDash val="solid"/>
            <a:miter lim="800000"/>
          </a:ln>
          <a:effectLst/>
        </p:spPr>
      </p:cxnSp>
      <p:pic>
        <p:nvPicPr>
          <p:cNvPr id="28" name="Picture 27">
            <a:extLst>
              <a:ext uri="{FF2B5EF4-FFF2-40B4-BE49-F238E27FC236}">
                <a16:creationId xmlns:a16="http://schemas.microsoft.com/office/drawing/2014/main" id="{27316A86-AE91-480B-A569-35FA21734804}"/>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204103" y="131200"/>
            <a:ext cx="692932" cy="567389"/>
          </a:xfrm>
          <a:prstGeom prst="rect">
            <a:avLst/>
          </a:prstGeom>
        </p:spPr>
      </p:pic>
      <p:sp>
        <p:nvSpPr>
          <p:cNvPr id="29" name="Rectangle 28"/>
          <p:cNvSpPr/>
          <p:nvPr/>
        </p:nvSpPr>
        <p:spPr>
          <a:xfrm>
            <a:off x="9918341" y="-148401"/>
            <a:ext cx="2031714" cy="948501"/>
          </a:xfrm>
          <a:prstGeom prst="rect">
            <a:avLst/>
          </a:prstGeom>
          <a:noFill/>
          <a:ln w="12700" cap="flat" cmpd="sng" algn="ctr">
            <a:noFill/>
            <a:prstDash val="solid"/>
            <a:miter lim="800000"/>
          </a:ln>
          <a:effectLst/>
        </p:spPr>
        <p:txBody>
          <a:bodyPr rtlCol="0" anchor="ctr"/>
          <a:lstStyle/>
          <a:p>
            <a:pPr algn="ctr">
              <a:defRPr/>
            </a:pPr>
            <a:r>
              <a:rPr lang="en-US" sz="4400" b="1" kern="0" dirty="0">
                <a:solidFill>
                  <a:srgbClr val="C00000"/>
                </a:solidFill>
                <a:latin typeface="Segoe UI" panose="020B0502040204020203" pitchFamily="34" charset="0"/>
                <a:ea typeface="Segoe UI Historic" panose="020B0502040204020203" pitchFamily="34" charset="0"/>
                <a:cs typeface="Segoe UI" panose="020B0502040204020203" pitchFamily="34" charset="0"/>
              </a:rPr>
              <a:t>TPQ</a:t>
            </a:r>
          </a:p>
          <a:p>
            <a:pPr algn="ctr">
              <a:defRPr/>
            </a:pPr>
            <a:r>
              <a:rPr lang="en-US" sz="1100" b="1" kern="0" dirty="0">
                <a:solidFill>
                  <a:srgbClr val="E7E6E6">
                    <a:lumMod val="25000"/>
                  </a:srgbClr>
                </a:solidFill>
                <a:latin typeface="Segoe UI" panose="020B0502040204020203" pitchFamily="34" charset="0"/>
                <a:ea typeface="Segoe UI Historic" panose="020B0502040204020203" pitchFamily="34" charset="0"/>
                <a:cs typeface="Segoe UI" panose="020B0502040204020203" pitchFamily="34" charset="0"/>
              </a:rPr>
              <a:t>TPM – PRINCIPLE QUALITY</a:t>
            </a:r>
          </a:p>
        </p:txBody>
      </p:sp>
      <p:pic>
        <p:nvPicPr>
          <p:cNvPr id="20" name="Picture 19">
            <a:extLst>
              <a:ext uri="{FF2B5EF4-FFF2-40B4-BE49-F238E27FC236}">
                <a16:creationId xmlns:a16="http://schemas.microsoft.com/office/drawing/2014/main" id="{492FC761-0D74-4246-8719-0E038DDBCB7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187" t="13147" r="3531" b="12479"/>
          <a:stretch/>
        </p:blipFill>
        <p:spPr>
          <a:xfrm>
            <a:off x="873590" y="2675403"/>
            <a:ext cx="3028897" cy="1813548"/>
          </a:xfrm>
          <a:prstGeom prst="rect">
            <a:avLst/>
          </a:prstGeom>
        </p:spPr>
      </p:pic>
      <p:pic>
        <p:nvPicPr>
          <p:cNvPr id="30" name="Picture 29">
            <a:extLst>
              <a:ext uri="{FF2B5EF4-FFF2-40B4-BE49-F238E27FC236}">
                <a16:creationId xmlns:a16="http://schemas.microsoft.com/office/drawing/2014/main" id="{D70399CE-6349-47C9-BCF0-95F856371C3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08527" y="2850286"/>
            <a:ext cx="2785534" cy="1693892"/>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A3FF138D-5069-417F-A5A4-DE44248BE83B}"/>
              </a:ext>
            </a:extLst>
          </p:cNvPr>
          <p:cNvSpPr txBox="1"/>
          <p:nvPr/>
        </p:nvSpPr>
        <p:spPr>
          <a:xfrm>
            <a:off x="4893512" y="5142060"/>
            <a:ext cx="2615564" cy="892552"/>
          </a:xfrm>
          <a:prstGeom prst="rect">
            <a:avLst/>
          </a:prstGeom>
          <a:noFill/>
          <a:ln w="12700">
            <a:solidFill>
              <a:schemeClr val="tx1"/>
            </a:solidFill>
          </a:ln>
        </p:spPr>
        <p:txBody>
          <a:bodyPr wrap="square" rtlCol="0">
            <a:spAutoFit/>
          </a:bodyPr>
          <a:lstStyle/>
          <a:p>
            <a:r>
              <a:rPr lang="id-ID" sz="1300" dirty="0"/>
              <a:t>Teknisi mengisi checksheet change record setting parameter ketika terjadinya perbedaan dengan standart setting parameter</a:t>
            </a:r>
          </a:p>
        </p:txBody>
      </p:sp>
    </p:spTree>
    <p:extLst>
      <p:ext uri="{BB962C8B-B14F-4D97-AF65-F5344CB8AC3E}">
        <p14:creationId xmlns:p14="http://schemas.microsoft.com/office/powerpoint/2010/main" val="559533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42215" y="22795"/>
            <a:ext cx="4752304" cy="461665"/>
          </a:xfrm>
          <a:prstGeom prst="rect">
            <a:avLst/>
          </a:prstGeom>
          <a:noFill/>
        </p:spPr>
        <p:txBody>
          <a:bodyPr wrap="square" rtlCol="0">
            <a:spAutoFit/>
          </a:bodyPr>
          <a:lstStyle/>
          <a:p>
            <a:r>
              <a:rPr lang="en-US" sz="2400" dirty="0">
                <a:solidFill>
                  <a:srgbClr val="002060"/>
                </a:solidFill>
                <a:latin typeface="Segoe UI" panose="020B0502040204020203" pitchFamily="34" charset="0"/>
                <a:cs typeface="Segoe UI" panose="020B0502040204020203" pitchFamily="34" charset="0"/>
              </a:rPr>
              <a:t>Self Audit TPQ Plant Cirebon</a:t>
            </a:r>
          </a:p>
        </p:txBody>
      </p:sp>
      <p:cxnSp>
        <p:nvCxnSpPr>
          <p:cNvPr id="3" name="Straight Connector 2"/>
          <p:cNvCxnSpPr/>
          <p:nvPr/>
        </p:nvCxnSpPr>
        <p:spPr>
          <a:xfrm>
            <a:off x="227526" y="800100"/>
            <a:ext cx="11704320" cy="0"/>
          </a:xfrm>
          <a:prstGeom prst="line">
            <a:avLst/>
          </a:prstGeom>
          <a:noFill/>
          <a:ln w="28575" cap="flat" cmpd="sng" algn="ctr">
            <a:solidFill>
              <a:srgbClr val="002060"/>
            </a:solidFill>
            <a:prstDash val="solid"/>
            <a:miter lim="800000"/>
          </a:ln>
          <a:effectLst/>
        </p:spPr>
      </p:cxnSp>
      <p:sp>
        <p:nvSpPr>
          <p:cNvPr id="4" name="Rectangle 3"/>
          <p:cNvSpPr/>
          <p:nvPr/>
        </p:nvSpPr>
        <p:spPr>
          <a:xfrm>
            <a:off x="9918341" y="-148401"/>
            <a:ext cx="2031714" cy="948501"/>
          </a:xfrm>
          <a:prstGeom prst="rect">
            <a:avLst/>
          </a:prstGeom>
          <a:noFill/>
          <a:ln w="12700" cap="flat" cmpd="sng" algn="ctr">
            <a:noFill/>
            <a:prstDash val="solid"/>
            <a:miter lim="800000"/>
          </a:ln>
          <a:effectLst/>
        </p:spPr>
        <p:txBody>
          <a:bodyPr rtlCol="0" anchor="ctr"/>
          <a:lstStyle/>
          <a:p>
            <a:pPr algn="ctr">
              <a:defRPr/>
            </a:pPr>
            <a:r>
              <a:rPr lang="en-US" sz="4400" b="1" kern="0" dirty="0">
                <a:solidFill>
                  <a:srgbClr val="C00000"/>
                </a:solidFill>
                <a:latin typeface="Segoe UI" panose="020B0502040204020203" pitchFamily="34" charset="0"/>
                <a:ea typeface="Segoe UI Historic" panose="020B0502040204020203" pitchFamily="34" charset="0"/>
                <a:cs typeface="Segoe UI" panose="020B0502040204020203" pitchFamily="34" charset="0"/>
              </a:rPr>
              <a:t>TPQ</a:t>
            </a:r>
          </a:p>
          <a:p>
            <a:pPr algn="ctr">
              <a:defRPr/>
            </a:pPr>
            <a:r>
              <a:rPr lang="en-US" sz="1100" b="1" kern="0" dirty="0">
                <a:solidFill>
                  <a:srgbClr val="E7E6E6">
                    <a:lumMod val="25000"/>
                  </a:srgbClr>
                </a:solidFill>
                <a:latin typeface="Segoe UI" panose="020B0502040204020203" pitchFamily="34" charset="0"/>
                <a:ea typeface="Segoe UI Historic" panose="020B0502040204020203" pitchFamily="34" charset="0"/>
                <a:cs typeface="Segoe UI" panose="020B0502040204020203" pitchFamily="34" charset="0"/>
              </a:rPr>
              <a:t>TPM – PRINCIPLE QUALITY</a:t>
            </a:r>
          </a:p>
        </p:txBody>
      </p:sp>
      <p:pic>
        <p:nvPicPr>
          <p:cNvPr id="6" name="Picture 5">
            <a:extLst>
              <a:ext uri="{FF2B5EF4-FFF2-40B4-BE49-F238E27FC236}">
                <a16:creationId xmlns:a16="http://schemas.microsoft.com/office/drawing/2014/main" id="{27316A86-AE91-480B-A569-35FA21734804}"/>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935152" y="169604"/>
            <a:ext cx="692932" cy="567389"/>
          </a:xfrm>
          <a:prstGeom prst="rect">
            <a:avLst/>
          </a:prstGeom>
        </p:spPr>
      </p:pic>
      <p:sp>
        <p:nvSpPr>
          <p:cNvPr id="7" name="Rectangle 6">
            <a:extLst>
              <a:ext uri="{FF2B5EF4-FFF2-40B4-BE49-F238E27FC236}">
                <a16:creationId xmlns:a16="http://schemas.microsoft.com/office/drawing/2014/main" id="{68CB9FF7-113E-4E4E-1926-2A2FDBD6E4E8}"/>
              </a:ext>
            </a:extLst>
          </p:cNvPr>
          <p:cNvSpPr/>
          <p:nvPr/>
        </p:nvSpPr>
        <p:spPr>
          <a:xfrm>
            <a:off x="204955" y="949717"/>
            <a:ext cx="11788261" cy="58655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B0F0"/>
              </a:solidFill>
              <a:effectLst/>
              <a:uLnTx/>
              <a:uFillTx/>
              <a:latin typeface="Arial"/>
              <a:ea typeface="+mn-ea"/>
              <a:cs typeface="+mn-cs"/>
            </a:endParaRPr>
          </a:p>
        </p:txBody>
      </p:sp>
      <p:sp>
        <p:nvSpPr>
          <p:cNvPr id="8" name="TextBox 7">
            <a:extLst>
              <a:ext uri="{FF2B5EF4-FFF2-40B4-BE49-F238E27FC236}">
                <a16:creationId xmlns:a16="http://schemas.microsoft.com/office/drawing/2014/main" id="{0997C6D3-8CA5-760E-A543-2589A9648841}"/>
              </a:ext>
            </a:extLst>
          </p:cNvPr>
          <p:cNvSpPr txBox="1"/>
          <p:nvPr/>
        </p:nvSpPr>
        <p:spPr>
          <a:xfrm>
            <a:off x="1461704" y="1066780"/>
            <a:ext cx="8991807" cy="646331"/>
          </a:xfrm>
          <a:prstGeom prst="rect">
            <a:avLst/>
          </a:prstGeom>
          <a:noFill/>
          <a:ln>
            <a:solidFill>
              <a:srgbClr val="E1C364"/>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Daftar </a:t>
            </a:r>
            <a:r>
              <a:rPr kumimoji="0" lang="en-US" sz="1800" b="0" i="0" u="none" strike="noStrike" kern="1200" cap="none" spc="0" normalizeH="0" baseline="0" noProof="0" dirty="0" err="1">
                <a:ln>
                  <a:noFill/>
                </a:ln>
                <a:solidFill>
                  <a:prstClr val="black"/>
                </a:solidFill>
                <a:effectLst/>
                <a:uLnTx/>
                <a:uFillTx/>
                <a:latin typeface="Arial"/>
                <a:ea typeface="+mn-ea"/>
                <a:cs typeface="+mn-cs"/>
              </a:rPr>
              <a:t>hadir</a:t>
            </a:r>
            <a:r>
              <a:rPr kumimoji="0" lang="en-US" sz="1800" b="0" i="0" u="none" strike="noStrike" kern="1200" cap="none" spc="0" normalizeH="0" baseline="0" noProof="0" dirty="0">
                <a:ln>
                  <a:noFill/>
                </a:ln>
                <a:solidFill>
                  <a:prstClr val="black"/>
                </a:solidFill>
                <a:effectLst/>
                <a:uLnTx/>
                <a:uFillTx/>
                <a:latin typeface="Arial"/>
                <a:ea typeface="+mn-ea"/>
                <a:cs typeface="+mn-cs"/>
              </a:rPr>
              <a:t> </a:t>
            </a:r>
            <a:r>
              <a:rPr kumimoji="0" lang="en-US" sz="1800" b="0" i="0" u="none" strike="noStrike" kern="1200" cap="none" spc="0" normalizeH="0" baseline="0" noProof="0" dirty="0" err="1">
                <a:ln>
                  <a:noFill/>
                </a:ln>
                <a:solidFill>
                  <a:prstClr val="black"/>
                </a:solidFill>
                <a:effectLst/>
                <a:uLnTx/>
                <a:uFillTx/>
                <a:latin typeface="Arial"/>
                <a:ea typeface="+mn-ea"/>
                <a:cs typeface="+mn-cs"/>
              </a:rPr>
              <a:t>terkait</a:t>
            </a:r>
            <a:r>
              <a:rPr kumimoji="0" lang="en-US" sz="1800" b="0" i="0" u="none" strike="noStrike" kern="1200" cap="none" spc="0" normalizeH="0" baseline="0" noProof="0" dirty="0">
                <a:ln>
                  <a:noFill/>
                </a:ln>
                <a:solidFill>
                  <a:prstClr val="black"/>
                </a:solidFill>
                <a:effectLst/>
                <a:uLnTx/>
                <a:uFillTx/>
                <a:latin typeface="Arial"/>
                <a:ea typeface="+mn-ea"/>
                <a:cs typeface="+mn-cs"/>
              </a:rPr>
              <a:t> </a:t>
            </a:r>
            <a:r>
              <a:rPr kumimoji="0" lang="en-US" sz="1800" b="0" i="0" u="none" strike="noStrike" kern="1200" cap="none" spc="0" normalizeH="0" baseline="0" noProof="0" dirty="0" err="1">
                <a:ln>
                  <a:noFill/>
                </a:ln>
                <a:solidFill>
                  <a:prstClr val="black"/>
                </a:solidFill>
                <a:effectLst/>
                <a:uLnTx/>
                <a:uFillTx/>
                <a:latin typeface="Arial"/>
                <a:ea typeface="+mn-ea"/>
                <a:cs typeface="+mn-cs"/>
              </a:rPr>
              <a:t>sosialisasi</a:t>
            </a:r>
            <a:r>
              <a:rPr kumimoji="0" lang="en-US" sz="1800" b="0" i="0" u="none" strike="noStrike" kern="1200" cap="none" spc="0" normalizeH="0" baseline="0" noProof="0" dirty="0">
                <a:ln>
                  <a:noFill/>
                </a:ln>
                <a:solidFill>
                  <a:prstClr val="black"/>
                </a:solidFill>
                <a:effectLst/>
                <a:uLnTx/>
                <a:uFillTx/>
                <a:latin typeface="Arial"/>
                <a:ea typeface="+mn-ea"/>
                <a:cs typeface="+mn-cs"/>
              </a:rPr>
              <a:t> </a:t>
            </a:r>
            <a:r>
              <a:rPr lang="id-ID" dirty="0">
                <a:solidFill>
                  <a:prstClr val="black"/>
                </a:solidFill>
                <a:latin typeface="Arial"/>
              </a:rPr>
              <a:t>daily parameter setting change record &amp; new revision toleransi standard parameter setting</a:t>
            </a:r>
            <a:endParaRPr kumimoji="0" lang="en-ID"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TextBox 8">
            <a:extLst>
              <a:ext uri="{FF2B5EF4-FFF2-40B4-BE49-F238E27FC236}">
                <a16:creationId xmlns:a16="http://schemas.microsoft.com/office/drawing/2014/main" id="{1F555929-767F-047D-993C-DD09F36ADC1C}"/>
              </a:ext>
            </a:extLst>
          </p:cNvPr>
          <p:cNvSpPr txBox="1"/>
          <p:nvPr/>
        </p:nvSpPr>
        <p:spPr>
          <a:xfrm>
            <a:off x="4752894" y="4405380"/>
            <a:ext cx="7134305" cy="2031325"/>
          </a:xfrm>
          <a:prstGeom prst="rect">
            <a:avLst/>
          </a:prstGeom>
          <a:noFill/>
        </p:spPr>
        <p:txBody>
          <a:bodyPr wrap="square" rtlCol="0">
            <a:spAutoFit/>
          </a:bodyPr>
          <a:lstStyle/>
          <a:p>
            <a:pPr lvl="0"/>
            <a:r>
              <a:rPr kumimoji="0" lang="en-US" sz="1800" b="0" i="0" u="none" strike="noStrike" kern="1200" cap="none" spc="0" normalizeH="0" baseline="0" noProof="0" dirty="0" err="1">
                <a:ln>
                  <a:noFill/>
                </a:ln>
                <a:solidFill>
                  <a:prstClr val="black"/>
                </a:solidFill>
                <a:effectLst/>
                <a:uLnTx/>
                <a:uFillTx/>
                <a:latin typeface="Arial"/>
                <a:ea typeface="+mn-ea"/>
                <a:cs typeface="+mn-cs"/>
              </a:rPr>
              <a:t>Sosialisasi</a:t>
            </a:r>
            <a:r>
              <a:rPr kumimoji="0" lang="en-US" sz="1800" b="0" i="0" u="none" strike="noStrike" kern="1200" cap="none" spc="0" normalizeH="0" baseline="0" noProof="0" dirty="0">
                <a:ln>
                  <a:noFill/>
                </a:ln>
                <a:solidFill>
                  <a:prstClr val="black"/>
                </a:solidFill>
                <a:effectLst/>
                <a:uLnTx/>
                <a:uFillTx/>
                <a:latin typeface="Arial"/>
                <a:ea typeface="+mn-ea"/>
                <a:cs typeface="+mn-cs"/>
              </a:rPr>
              <a:t> </a:t>
            </a:r>
            <a:r>
              <a:rPr lang="id-ID" dirty="0">
                <a:solidFill>
                  <a:prstClr val="black"/>
                </a:solidFill>
                <a:latin typeface="Arial"/>
              </a:rPr>
              <a:t>daily setting change record &amp; new revision toleransi standard parameter setting</a:t>
            </a:r>
            <a:r>
              <a:rPr kumimoji="0" lang="en-US" sz="1800" b="0" i="0" u="none" strike="noStrike" kern="1200" cap="none" spc="0" normalizeH="0" baseline="0" noProof="0" dirty="0">
                <a:ln>
                  <a:noFill/>
                </a:ln>
                <a:solidFill>
                  <a:prstClr val="black"/>
                </a:solidFill>
                <a:effectLst/>
                <a:uLnTx/>
                <a:uFillTx/>
                <a:latin typeface="Arial"/>
                <a:ea typeface="+mn-ea"/>
                <a:cs typeface="+mn-cs"/>
              </a:rPr>
              <a:t> </a:t>
            </a:r>
            <a:r>
              <a:rPr kumimoji="0" lang="en-US" sz="1400" b="1" i="1"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(Doc </a:t>
            </a:r>
            <a:r>
              <a:rPr kumimoji="0" lang="pt-BR" altLang="en-US" sz="1400" b="1" i="1"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No. : </a:t>
            </a:r>
            <a:r>
              <a:rPr kumimoji="0" lang="id-ID" altLang="en-US" sz="1400" b="1" i="1"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TPM</a:t>
            </a:r>
            <a:r>
              <a:rPr lang="id-ID" altLang="en-US" sz="1400" b="1" i="1" dirty="0">
                <a:solidFill>
                  <a:prstClr val="black"/>
                </a:solidFill>
                <a:latin typeface="Arial" panose="020B0604020202020204" pitchFamily="34" charset="0"/>
                <a:cs typeface="Arial" panose="020B0604020202020204" pitchFamily="34" charset="0"/>
              </a:rPr>
              <a:t>-F-PROD-033</a:t>
            </a:r>
            <a:r>
              <a:rPr lang="en-US" altLang="en-US" sz="1400" b="1" i="1" dirty="0">
                <a:latin typeface="Arial" panose="020B0604020202020204" pitchFamily="34" charset="0"/>
                <a:cs typeface="Arial" panose="020B0604020202020204" pitchFamily="34" charset="0"/>
              </a:rPr>
              <a:t> </a:t>
            </a:r>
            <a:r>
              <a:rPr kumimoji="0" lang="pt-BR" altLang="en-US" sz="1400" b="1" i="1"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a:t>
            </a:r>
            <a:endParaRPr kumimoji="0" lang="en-US" sz="1400" b="1" i="1"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Arial"/>
                <a:ea typeface="+mn-ea"/>
                <a:cs typeface="+mn-cs"/>
              </a:rPr>
              <a:t>Tanggal</a:t>
            </a:r>
            <a:r>
              <a:rPr kumimoji="0" lang="en-US" sz="1800" b="0" i="0" u="none" strike="noStrike" kern="1200" cap="none" spc="0" normalizeH="0" baseline="0" noProof="0" dirty="0">
                <a:ln>
                  <a:noFill/>
                </a:ln>
                <a:solidFill>
                  <a:prstClr val="black"/>
                </a:solidFill>
                <a:effectLst/>
                <a:uLnTx/>
                <a:uFillTx/>
                <a:latin typeface="Arial"/>
                <a:ea typeface="+mn-ea"/>
                <a:cs typeface="+mn-cs"/>
              </a:rPr>
              <a:t>		: </a:t>
            </a:r>
            <a:r>
              <a:rPr lang="en-US" dirty="0">
                <a:solidFill>
                  <a:prstClr val="black"/>
                </a:solidFill>
                <a:latin typeface="Arial"/>
              </a:rPr>
              <a:t>0</a:t>
            </a:r>
            <a:r>
              <a:rPr lang="id-ID" dirty="0">
                <a:solidFill>
                  <a:prstClr val="black"/>
                </a:solidFill>
                <a:latin typeface="Arial"/>
              </a:rPr>
              <a:t>9</a:t>
            </a:r>
            <a:r>
              <a:rPr lang="en-US" dirty="0">
                <a:solidFill>
                  <a:prstClr val="black"/>
                </a:solidFill>
                <a:latin typeface="Arial"/>
              </a:rPr>
              <a:t> </a:t>
            </a:r>
            <a:r>
              <a:rPr lang="id-ID" dirty="0">
                <a:solidFill>
                  <a:prstClr val="black"/>
                </a:solidFill>
                <a:latin typeface="Arial"/>
              </a:rPr>
              <a:t>Januari</a:t>
            </a:r>
            <a:r>
              <a:rPr kumimoji="0" lang="en-US" sz="1800" b="0" i="0" u="none" strike="noStrike" kern="1200" cap="none" spc="0" normalizeH="0" baseline="0" noProof="0" dirty="0">
                <a:ln>
                  <a:noFill/>
                </a:ln>
                <a:solidFill>
                  <a:prstClr val="black"/>
                </a:solidFill>
                <a:effectLst/>
                <a:uLnTx/>
                <a:uFillTx/>
                <a:latin typeface="Arial"/>
                <a:ea typeface="+mn-ea"/>
                <a:cs typeface="+mn-cs"/>
              </a:rPr>
              <a:t> 202</a:t>
            </a:r>
            <a:r>
              <a:rPr kumimoji="0" lang="id-ID" sz="1800" b="0" i="0" u="none" strike="noStrike" kern="1200" cap="none" spc="0" normalizeH="0" baseline="0" noProof="0" dirty="0">
                <a:ln>
                  <a:noFill/>
                </a:ln>
                <a:solidFill>
                  <a:prstClr val="black"/>
                </a:solidFill>
                <a:effectLst/>
                <a:uLnTx/>
                <a:uFillTx/>
                <a:latin typeface="Arial"/>
                <a:ea typeface="+mn-ea"/>
                <a:cs typeface="+mn-cs"/>
              </a:rPr>
              <a:t>6</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Waktu		: </a:t>
            </a:r>
            <a:r>
              <a:rPr kumimoji="0" lang="id-ID" sz="1800" b="0" i="0" u="none" strike="noStrike" kern="1200" cap="none" spc="0" normalizeH="0" baseline="0" noProof="0" dirty="0">
                <a:ln>
                  <a:noFill/>
                </a:ln>
                <a:solidFill>
                  <a:prstClr val="black"/>
                </a:solidFill>
                <a:effectLst/>
                <a:uLnTx/>
                <a:uFillTx/>
                <a:latin typeface="Arial"/>
                <a:ea typeface="+mn-ea"/>
                <a:cs typeface="+mn-cs"/>
              </a:rPr>
              <a:t>15</a:t>
            </a:r>
            <a:r>
              <a:rPr kumimoji="0" lang="en-US" sz="1800" b="0" i="0" u="none" strike="noStrike" kern="1200" cap="none" spc="0" normalizeH="0" baseline="0" noProof="0" dirty="0">
                <a:ln>
                  <a:noFill/>
                </a:ln>
                <a:solidFill>
                  <a:prstClr val="black"/>
                </a:solidFill>
                <a:effectLst/>
                <a:uLnTx/>
                <a:uFillTx/>
                <a:latin typeface="Arial"/>
                <a:ea typeface="+mn-ea"/>
                <a:cs typeface="+mn-cs"/>
              </a:rPr>
              <a:t>:</a:t>
            </a:r>
            <a:r>
              <a:rPr kumimoji="0" lang="id-ID" sz="1800" b="0" i="0" u="none" strike="noStrike" kern="1200" cap="none" spc="0" normalizeH="0" baseline="0" noProof="0" dirty="0">
                <a:ln>
                  <a:noFill/>
                </a:ln>
                <a:solidFill>
                  <a:prstClr val="black"/>
                </a:solidFill>
                <a:effectLst/>
                <a:uLnTx/>
                <a:uFillTx/>
                <a:latin typeface="Arial"/>
                <a:ea typeface="+mn-ea"/>
                <a:cs typeface="+mn-cs"/>
              </a:rPr>
              <a:t>3</a:t>
            </a:r>
            <a:r>
              <a:rPr kumimoji="0" lang="en-US" sz="1800" b="0" i="0" u="none" strike="noStrike" kern="1200" cap="none" spc="0" normalizeH="0" baseline="0" noProof="0" dirty="0">
                <a:ln>
                  <a:noFill/>
                </a:ln>
                <a:solidFill>
                  <a:prstClr val="black"/>
                </a:solidFill>
                <a:effectLst/>
                <a:uLnTx/>
                <a:uFillTx/>
                <a:latin typeface="Arial"/>
                <a:ea typeface="+mn-ea"/>
                <a:cs typeface="+mn-cs"/>
              </a:rPr>
              <a:t>0 s/d </a:t>
            </a:r>
            <a:r>
              <a:rPr kumimoji="0" lang="en-US" sz="1800" b="0" i="0" u="none" strike="noStrike" kern="1200" cap="none" spc="0" normalizeH="0" baseline="0" noProof="0" dirty="0" err="1">
                <a:ln>
                  <a:noFill/>
                </a:ln>
                <a:solidFill>
                  <a:prstClr val="black"/>
                </a:solidFill>
                <a:effectLst/>
                <a:uLnTx/>
                <a:uFillTx/>
                <a:latin typeface="Arial"/>
                <a:ea typeface="+mn-ea"/>
                <a:cs typeface="+mn-cs"/>
              </a:rPr>
              <a:t>selesai</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Area		: </a:t>
            </a:r>
            <a:r>
              <a:rPr kumimoji="0" lang="en-US" sz="1800" b="0" i="0" u="none" strike="noStrike" kern="1200" cap="none" spc="0" normalizeH="0" baseline="0" noProof="0" dirty="0" err="1">
                <a:ln>
                  <a:noFill/>
                </a:ln>
                <a:solidFill>
                  <a:prstClr val="black"/>
                </a:solidFill>
                <a:effectLst/>
                <a:uLnTx/>
                <a:uFillTx/>
                <a:latin typeface="Arial"/>
                <a:ea typeface="+mn-ea"/>
                <a:cs typeface="+mn-cs"/>
              </a:rPr>
              <a:t>Produksi</a:t>
            </a:r>
            <a:r>
              <a:rPr kumimoji="0" lang="en-US" sz="1800" b="0" i="0" u="none" strike="noStrike" kern="1200" cap="none" spc="0" normalizeH="0" baseline="0" noProof="0" dirty="0">
                <a:ln>
                  <a:noFill/>
                </a:ln>
                <a:solidFill>
                  <a:prstClr val="black"/>
                </a:solidFill>
                <a:effectLst/>
                <a:uLnTx/>
                <a:uFillTx/>
                <a:latin typeface="Arial"/>
                <a:ea typeface="+mn-ea"/>
                <a:cs typeface="+mn-cs"/>
              </a:rPr>
              <a:t> </a:t>
            </a:r>
            <a:r>
              <a:rPr lang="id-ID" dirty="0">
                <a:solidFill>
                  <a:prstClr val="black"/>
                </a:solidFill>
                <a:latin typeface="Arial"/>
              </a:rPr>
              <a:t>Injection</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Arial"/>
                <a:ea typeface="+mn-ea"/>
                <a:cs typeface="+mn-cs"/>
              </a:rPr>
              <a:t>Pembimbing</a:t>
            </a:r>
            <a:r>
              <a:rPr kumimoji="0" lang="en-US" sz="1800" b="0" i="0" u="none" strike="noStrike" kern="1200" cap="none" spc="0" normalizeH="0" baseline="0" noProof="0" dirty="0">
                <a:ln>
                  <a:noFill/>
                </a:ln>
                <a:solidFill>
                  <a:prstClr val="black"/>
                </a:solidFill>
                <a:effectLst/>
                <a:uLnTx/>
                <a:uFillTx/>
                <a:latin typeface="Arial"/>
                <a:ea typeface="+mn-ea"/>
                <a:cs typeface="+mn-cs"/>
              </a:rPr>
              <a:t>	: </a:t>
            </a:r>
            <a:r>
              <a:rPr lang="id-ID" dirty="0">
                <a:solidFill>
                  <a:prstClr val="black"/>
                </a:solidFill>
                <a:latin typeface="Arial"/>
              </a:rPr>
              <a:t>Ainur R</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Arial"/>
                <a:ea typeface="+mn-ea"/>
                <a:cs typeface="+mn-cs"/>
              </a:rPr>
              <a:t>Peserta</a:t>
            </a:r>
            <a:r>
              <a:rPr kumimoji="0" lang="en-US" sz="1800" b="0" i="0" u="none" strike="noStrike" kern="1200" cap="none" spc="0" normalizeH="0" baseline="0" noProof="0" dirty="0">
                <a:ln>
                  <a:noFill/>
                </a:ln>
                <a:solidFill>
                  <a:prstClr val="black"/>
                </a:solidFill>
                <a:effectLst/>
                <a:uLnTx/>
                <a:uFillTx/>
                <a:latin typeface="Arial"/>
                <a:ea typeface="+mn-ea"/>
                <a:cs typeface="+mn-cs"/>
              </a:rPr>
              <a:t>		: </a:t>
            </a:r>
            <a:r>
              <a:rPr lang="en-US" dirty="0">
                <a:solidFill>
                  <a:prstClr val="black"/>
                </a:solidFill>
                <a:latin typeface="Arial"/>
              </a:rPr>
              <a:t>Leader &amp; </a:t>
            </a:r>
            <a:r>
              <a:rPr lang="id-ID" dirty="0">
                <a:solidFill>
                  <a:prstClr val="black"/>
                </a:solidFill>
                <a:latin typeface="Arial"/>
              </a:rPr>
              <a:t>Teknisi</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2" name="Action Button: Home 3">
            <a:hlinkClick r:id="rId3" action="ppaction://hlinksldjump" highlightClick="1"/>
            <a:extLst>
              <a:ext uri="{FF2B5EF4-FFF2-40B4-BE49-F238E27FC236}">
                <a16:creationId xmlns:a16="http://schemas.microsoft.com/office/drawing/2014/main" id="{EF895D35-2CF9-C813-6FBF-4F6C1E533DCE}"/>
              </a:ext>
            </a:extLst>
          </p:cNvPr>
          <p:cNvSpPr/>
          <p:nvPr/>
        </p:nvSpPr>
        <p:spPr>
          <a:xfrm>
            <a:off x="11753914" y="984351"/>
            <a:ext cx="198835" cy="214137"/>
          </a:xfrm>
          <a:prstGeom prst="actionButtonHo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latin typeface="+mj-lt"/>
            </a:endParaRPr>
          </a:p>
        </p:txBody>
      </p:sp>
      <p:pic>
        <p:nvPicPr>
          <p:cNvPr id="14" name="Picture 13">
            <a:extLst>
              <a:ext uri="{FF2B5EF4-FFF2-40B4-BE49-F238E27FC236}">
                <a16:creationId xmlns:a16="http://schemas.microsoft.com/office/drawing/2014/main" id="{E3E0E75E-01C7-4914-9E92-6B07A74212F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9347" y="2092662"/>
            <a:ext cx="3077613" cy="4354575"/>
          </a:xfrm>
          <a:prstGeom prst="rect">
            <a:avLst/>
          </a:prstGeom>
        </p:spPr>
      </p:pic>
      <p:pic>
        <p:nvPicPr>
          <p:cNvPr id="18" name="Picture 17">
            <a:extLst>
              <a:ext uri="{FF2B5EF4-FFF2-40B4-BE49-F238E27FC236}">
                <a16:creationId xmlns:a16="http://schemas.microsoft.com/office/drawing/2014/main" id="{60301382-2D4A-4168-A09E-F2EC07D879CA}"/>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26884"/>
          <a:stretch/>
        </p:blipFill>
        <p:spPr>
          <a:xfrm>
            <a:off x="4842904" y="2223354"/>
            <a:ext cx="2962183" cy="1624366"/>
          </a:xfrm>
          <a:prstGeom prst="rect">
            <a:avLst/>
          </a:prstGeom>
        </p:spPr>
      </p:pic>
      <p:pic>
        <p:nvPicPr>
          <p:cNvPr id="20" name="Picture 19">
            <a:extLst>
              <a:ext uri="{FF2B5EF4-FFF2-40B4-BE49-F238E27FC236}">
                <a16:creationId xmlns:a16="http://schemas.microsoft.com/office/drawing/2014/main" id="{418688FD-841E-4F04-8625-6448103E36CB}"/>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t="30514"/>
          <a:stretch/>
        </p:blipFill>
        <p:spPr>
          <a:xfrm>
            <a:off x="8296359" y="2287071"/>
            <a:ext cx="3077613" cy="1603878"/>
          </a:xfrm>
          <a:prstGeom prst="rect">
            <a:avLst/>
          </a:prstGeom>
        </p:spPr>
      </p:pic>
    </p:spTree>
    <p:extLst>
      <p:ext uri="{BB962C8B-B14F-4D97-AF65-F5344CB8AC3E}">
        <p14:creationId xmlns:p14="http://schemas.microsoft.com/office/powerpoint/2010/main" val="31093500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8712" y="35894"/>
            <a:ext cx="4752304" cy="461665"/>
          </a:xfrm>
          <a:prstGeom prst="rect">
            <a:avLst/>
          </a:prstGeom>
          <a:noFill/>
        </p:spPr>
        <p:txBody>
          <a:bodyPr wrap="square" rtlCol="0">
            <a:spAutoFit/>
          </a:bodyPr>
          <a:lstStyle/>
          <a:p>
            <a:r>
              <a:rPr lang="en-US" sz="2400" dirty="0">
                <a:solidFill>
                  <a:srgbClr val="002060"/>
                </a:solidFill>
                <a:latin typeface="Segoe UI" panose="020B0502040204020203" pitchFamily="34" charset="0"/>
                <a:cs typeface="Segoe UI" panose="020B0502040204020203" pitchFamily="34" charset="0"/>
              </a:rPr>
              <a:t>Self Audit TPQ Plant Cirebon</a:t>
            </a:r>
          </a:p>
        </p:txBody>
      </p:sp>
      <p:cxnSp>
        <p:nvCxnSpPr>
          <p:cNvPr id="3" name="Straight Connector 2"/>
          <p:cNvCxnSpPr/>
          <p:nvPr/>
        </p:nvCxnSpPr>
        <p:spPr>
          <a:xfrm>
            <a:off x="227526" y="800100"/>
            <a:ext cx="11704320" cy="0"/>
          </a:xfrm>
          <a:prstGeom prst="line">
            <a:avLst/>
          </a:prstGeom>
          <a:noFill/>
          <a:ln w="28575" cap="flat" cmpd="sng" algn="ctr">
            <a:solidFill>
              <a:srgbClr val="002060"/>
            </a:solidFill>
            <a:prstDash val="solid"/>
            <a:miter lim="800000"/>
          </a:ln>
          <a:effectLst/>
        </p:spPr>
      </p:cxnSp>
      <p:pic>
        <p:nvPicPr>
          <p:cNvPr id="5" name="Picture 4">
            <a:extLst>
              <a:ext uri="{FF2B5EF4-FFF2-40B4-BE49-F238E27FC236}">
                <a16:creationId xmlns:a16="http://schemas.microsoft.com/office/drawing/2014/main" id="{27316A86-AE91-480B-A569-35FA21734804}"/>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211062" y="112807"/>
            <a:ext cx="692932" cy="567389"/>
          </a:xfrm>
          <a:prstGeom prst="rect">
            <a:avLst/>
          </a:prstGeom>
        </p:spPr>
      </p:pic>
      <p:sp>
        <p:nvSpPr>
          <p:cNvPr id="6" name="Rectangle 5"/>
          <p:cNvSpPr/>
          <p:nvPr/>
        </p:nvSpPr>
        <p:spPr>
          <a:xfrm>
            <a:off x="9918341" y="-148401"/>
            <a:ext cx="2031714" cy="948501"/>
          </a:xfrm>
          <a:prstGeom prst="rect">
            <a:avLst/>
          </a:prstGeom>
          <a:noFill/>
          <a:ln w="12700" cap="flat" cmpd="sng" algn="ctr">
            <a:noFill/>
            <a:prstDash val="solid"/>
            <a:miter lim="800000"/>
          </a:ln>
          <a:effectLst/>
        </p:spPr>
        <p:txBody>
          <a:bodyPr rtlCol="0" anchor="ctr"/>
          <a:lstStyle/>
          <a:p>
            <a:pPr algn="ctr">
              <a:defRPr/>
            </a:pPr>
            <a:r>
              <a:rPr lang="en-US" sz="4400" b="1" kern="0" dirty="0">
                <a:solidFill>
                  <a:srgbClr val="C00000"/>
                </a:solidFill>
                <a:latin typeface="Segoe UI" panose="020B0502040204020203" pitchFamily="34" charset="0"/>
                <a:ea typeface="Segoe UI Historic" panose="020B0502040204020203" pitchFamily="34" charset="0"/>
                <a:cs typeface="Segoe UI" panose="020B0502040204020203" pitchFamily="34" charset="0"/>
              </a:rPr>
              <a:t>TPQ</a:t>
            </a:r>
          </a:p>
          <a:p>
            <a:pPr algn="ctr">
              <a:defRPr/>
            </a:pPr>
            <a:r>
              <a:rPr lang="en-US" sz="1100" b="1" kern="0" dirty="0">
                <a:solidFill>
                  <a:srgbClr val="E7E6E6">
                    <a:lumMod val="25000"/>
                  </a:srgbClr>
                </a:solidFill>
                <a:latin typeface="Segoe UI" panose="020B0502040204020203" pitchFamily="34" charset="0"/>
                <a:ea typeface="Segoe UI Historic" panose="020B0502040204020203" pitchFamily="34" charset="0"/>
                <a:cs typeface="Segoe UI" panose="020B0502040204020203" pitchFamily="34" charset="0"/>
              </a:rPr>
              <a:t>TPM – PRINCIPLE QUALITY</a:t>
            </a:r>
          </a:p>
        </p:txBody>
      </p:sp>
      <p:sp>
        <p:nvSpPr>
          <p:cNvPr id="7" name="Rectangle 6">
            <a:extLst>
              <a:ext uri="{FF2B5EF4-FFF2-40B4-BE49-F238E27FC236}">
                <a16:creationId xmlns:a16="http://schemas.microsoft.com/office/drawing/2014/main" id="{32B674A7-6170-ECEF-E9FE-1A7C2937496F}"/>
              </a:ext>
            </a:extLst>
          </p:cNvPr>
          <p:cNvSpPr/>
          <p:nvPr/>
        </p:nvSpPr>
        <p:spPr>
          <a:xfrm>
            <a:off x="211062" y="1039908"/>
            <a:ext cx="4401426" cy="126130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id-ID" sz="1400" dirty="0">
                <a:solidFill>
                  <a:srgbClr val="0070C0"/>
                </a:solidFill>
                <a:latin typeface="+mj-lt"/>
              </a:rPr>
              <a:t>Box NG standart berwarna merah tidak ada di area proses kerja</a:t>
            </a:r>
            <a:r>
              <a:rPr lang="en-US" sz="1400" dirty="0">
                <a:solidFill>
                  <a:srgbClr val="0070C0"/>
                </a:solidFill>
                <a:latin typeface="+mj-lt"/>
              </a:rPr>
              <a:t>.</a:t>
            </a:r>
          </a:p>
        </p:txBody>
      </p:sp>
      <p:sp>
        <p:nvSpPr>
          <p:cNvPr id="8" name="TextBox 7">
            <a:extLst>
              <a:ext uri="{FF2B5EF4-FFF2-40B4-BE49-F238E27FC236}">
                <a16:creationId xmlns:a16="http://schemas.microsoft.com/office/drawing/2014/main" id="{8326EF98-6BE2-BE59-0D85-E720E6207BA2}"/>
              </a:ext>
            </a:extLst>
          </p:cNvPr>
          <p:cNvSpPr txBox="1">
            <a:spLocks noChangeArrowheads="1"/>
          </p:cNvSpPr>
          <p:nvPr/>
        </p:nvSpPr>
        <p:spPr bwMode="auto">
          <a:xfrm>
            <a:off x="175653" y="1029396"/>
            <a:ext cx="963725"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id-ID" altLang="en-US" sz="1050" b="1" i="1" u="sng" dirty="0">
                <a:solidFill>
                  <a:srgbClr val="000099"/>
                </a:solidFill>
                <a:latin typeface="+mj-lt"/>
                <a:cs typeface="Arial" panose="020B0604020202020204" pitchFamily="34" charset="0"/>
              </a:rPr>
              <a:t>Standard</a:t>
            </a:r>
          </a:p>
        </p:txBody>
      </p:sp>
      <p:sp>
        <p:nvSpPr>
          <p:cNvPr id="9" name="Rectangle 8">
            <a:extLst>
              <a:ext uri="{FF2B5EF4-FFF2-40B4-BE49-F238E27FC236}">
                <a16:creationId xmlns:a16="http://schemas.microsoft.com/office/drawing/2014/main" id="{66DB83D4-4887-00A6-5E02-841033C373FC}"/>
              </a:ext>
            </a:extLst>
          </p:cNvPr>
          <p:cNvSpPr/>
          <p:nvPr/>
        </p:nvSpPr>
        <p:spPr>
          <a:xfrm>
            <a:off x="4682010" y="1026658"/>
            <a:ext cx="7258521" cy="127455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endParaRPr lang="id-ID" altLang="en-US" sz="1050" dirty="0">
              <a:latin typeface="+mj-lt"/>
            </a:endParaRPr>
          </a:p>
        </p:txBody>
      </p:sp>
      <p:sp>
        <p:nvSpPr>
          <p:cNvPr id="10" name="TextBox 9">
            <a:extLst>
              <a:ext uri="{FF2B5EF4-FFF2-40B4-BE49-F238E27FC236}">
                <a16:creationId xmlns:a16="http://schemas.microsoft.com/office/drawing/2014/main" id="{E2B9F6DE-36D4-F156-93BF-1AB97F257E81}"/>
              </a:ext>
            </a:extLst>
          </p:cNvPr>
          <p:cNvSpPr txBox="1">
            <a:spLocks noChangeArrowheads="1"/>
          </p:cNvSpPr>
          <p:nvPr/>
        </p:nvSpPr>
        <p:spPr bwMode="auto">
          <a:xfrm>
            <a:off x="4647897" y="999729"/>
            <a:ext cx="7258519"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050" b="1" i="1" u="sng" dirty="0">
                <a:solidFill>
                  <a:srgbClr val="000099"/>
                </a:solidFill>
                <a:latin typeface="+mj-lt"/>
                <a:cs typeface="Arial" panose="020B0604020202020204" pitchFamily="34" charset="0"/>
              </a:rPr>
              <a:t>Root Cause : </a:t>
            </a:r>
          </a:p>
          <a:p>
            <a:pPr eaLnBrk="1" hangingPunct="1">
              <a:lnSpc>
                <a:spcPct val="100000"/>
              </a:lnSpc>
              <a:spcBef>
                <a:spcPct val="0"/>
              </a:spcBef>
              <a:buFontTx/>
              <a:buNone/>
            </a:pPr>
            <a:r>
              <a:rPr lang="en-US" altLang="en-US" sz="1050" b="1" dirty="0">
                <a:solidFill>
                  <a:srgbClr val="000099"/>
                </a:solidFill>
                <a:latin typeface="+mj-lt"/>
                <a:cs typeface="Arial" panose="020B0604020202020204" pitchFamily="34" charset="0"/>
              </a:rPr>
              <a:t>D</a:t>
            </a:r>
            <a:r>
              <a:rPr lang="id-ID" altLang="en-US" sz="1050" b="1" dirty="0">
                <a:solidFill>
                  <a:srgbClr val="000099"/>
                </a:solidFill>
                <a:latin typeface="+mj-lt"/>
                <a:cs typeface="Arial" panose="020B0604020202020204" pitchFamily="34" charset="0"/>
              </a:rPr>
              <a:t>i area kerja box NG standart berwarna merah tidak ada dikarenakan MP crusher mengambil part NG sekaligus dengan box nya yang dibawa, tetapi tidak langsung mengembalikan box nya jika sudah selesai</a:t>
            </a:r>
            <a:r>
              <a:rPr lang="en-US" altLang="en-US" sz="1050" b="1" dirty="0">
                <a:solidFill>
                  <a:srgbClr val="000099"/>
                </a:solidFill>
                <a:latin typeface="+mj-lt"/>
                <a:cs typeface="Arial" panose="020B0604020202020204" pitchFamily="34" charset="0"/>
              </a:rPr>
              <a:t>.</a:t>
            </a:r>
            <a:endParaRPr lang="id-ID" altLang="en-US" sz="1050" b="1" dirty="0">
              <a:solidFill>
                <a:srgbClr val="000099"/>
              </a:solidFill>
              <a:latin typeface="+mj-lt"/>
              <a:cs typeface="Arial" panose="020B0604020202020204" pitchFamily="34" charset="0"/>
            </a:endParaRPr>
          </a:p>
        </p:txBody>
      </p:sp>
      <p:sp>
        <p:nvSpPr>
          <p:cNvPr id="11" name="Rectangle 10">
            <a:extLst>
              <a:ext uri="{FF2B5EF4-FFF2-40B4-BE49-F238E27FC236}">
                <a16:creationId xmlns:a16="http://schemas.microsoft.com/office/drawing/2014/main" id="{952D8BFC-B3C4-08DE-07E5-36D57D25C792}"/>
              </a:ext>
            </a:extLst>
          </p:cNvPr>
          <p:cNvSpPr/>
          <p:nvPr/>
        </p:nvSpPr>
        <p:spPr>
          <a:xfrm>
            <a:off x="210235" y="2344042"/>
            <a:ext cx="4401426" cy="437554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sz="1050">
              <a:latin typeface="+mj-lt"/>
            </a:endParaRPr>
          </a:p>
        </p:txBody>
      </p:sp>
      <p:sp>
        <p:nvSpPr>
          <p:cNvPr id="12" name="TextBox 11">
            <a:extLst>
              <a:ext uri="{FF2B5EF4-FFF2-40B4-BE49-F238E27FC236}">
                <a16:creationId xmlns:a16="http://schemas.microsoft.com/office/drawing/2014/main" id="{909173D2-AC2C-1A5A-EFF3-B4AD01FBAAB3}"/>
              </a:ext>
            </a:extLst>
          </p:cNvPr>
          <p:cNvSpPr txBox="1">
            <a:spLocks noChangeArrowheads="1"/>
          </p:cNvSpPr>
          <p:nvPr/>
        </p:nvSpPr>
        <p:spPr bwMode="auto">
          <a:xfrm>
            <a:off x="204103" y="2335077"/>
            <a:ext cx="2155031"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050" b="1" i="1" u="sng" dirty="0">
                <a:solidFill>
                  <a:srgbClr val="000099"/>
                </a:solidFill>
                <a:latin typeface="+mj-lt"/>
                <a:cs typeface="Arial" panose="020B0604020202020204" pitchFamily="34" charset="0"/>
              </a:rPr>
              <a:t>Point </a:t>
            </a:r>
            <a:r>
              <a:rPr lang="id-ID" altLang="en-US" sz="1050" b="1" i="1" u="sng" dirty="0">
                <a:solidFill>
                  <a:srgbClr val="000099"/>
                </a:solidFill>
                <a:latin typeface="+mj-lt"/>
                <a:cs typeface="Arial" panose="020B0604020202020204" pitchFamily="34" charset="0"/>
              </a:rPr>
              <a:t>Abnormal</a:t>
            </a:r>
            <a:r>
              <a:rPr lang="en-US" altLang="en-US" sz="1050" b="1" i="1" u="sng" dirty="0">
                <a:solidFill>
                  <a:srgbClr val="000099"/>
                </a:solidFill>
                <a:latin typeface="+mj-lt"/>
                <a:cs typeface="Arial" panose="020B0604020202020204" pitchFamily="34" charset="0"/>
              </a:rPr>
              <a:t> / Finding Audit</a:t>
            </a:r>
            <a:endParaRPr lang="id-ID" altLang="en-US" sz="1050" b="1" i="1" u="sng" dirty="0">
              <a:solidFill>
                <a:srgbClr val="000099"/>
              </a:solidFill>
              <a:latin typeface="+mj-lt"/>
              <a:cs typeface="Arial" panose="020B0604020202020204" pitchFamily="34" charset="0"/>
            </a:endParaRPr>
          </a:p>
        </p:txBody>
      </p:sp>
      <p:sp>
        <p:nvSpPr>
          <p:cNvPr id="13" name="Rectangle 12">
            <a:extLst>
              <a:ext uri="{FF2B5EF4-FFF2-40B4-BE49-F238E27FC236}">
                <a16:creationId xmlns:a16="http://schemas.microsoft.com/office/drawing/2014/main" id="{446E7931-D90B-7FF0-7474-C38C94CFB6E7}"/>
              </a:ext>
            </a:extLst>
          </p:cNvPr>
          <p:cNvSpPr/>
          <p:nvPr/>
        </p:nvSpPr>
        <p:spPr>
          <a:xfrm>
            <a:off x="4699154" y="2344042"/>
            <a:ext cx="7258521" cy="437554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sz="1050">
              <a:latin typeface="+mj-lt"/>
            </a:endParaRPr>
          </a:p>
        </p:txBody>
      </p:sp>
      <p:sp>
        <p:nvSpPr>
          <p:cNvPr id="14" name="TextBox 13">
            <a:extLst>
              <a:ext uri="{FF2B5EF4-FFF2-40B4-BE49-F238E27FC236}">
                <a16:creationId xmlns:a16="http://schemas.microsoft.com/office/drawing/2014/main" id="{69158929-FE57-11F4-50F0-6C57A457E02E}"/>
              </a:ext>
            </a:extLst>
          </p:cNvPr>
          <p:cNvSpPr txBox="1">
            <a:spLocks noChangeArrowheads="1"/>
          </p:cNvSpPr>
          <p:nvPr/>
        </p:nvSpPr>
        <p:spPr bwMode="auto">
          <a:xfrm>
            <a:off x="4682010" y="2338190"/>
            <a:ext cx="238958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050" b="1" i="1" u="sng" dirty="0">
                <a:solidFill>
                  <a:srgbClr val="000099"/>
                </a:solidFill>
                <a:latin typeface="+mj-lt"/>
                <a:cs typeface="Arial" panose="020B0604020202020204" pitchFamily="34" charset="0"/>
              </a:rPr>
              <a:t>Countermeasure / Improvement</a:t>
            </a:r>
            <a:endParaRPr lang="id-ID" altLang="en-US" sz="1050" b="1" i="1" u="sng" dirty="0">
              <a:solidFill>
                <a:srgbClr val="000099"/>
              </a:solidFill>
              <a:latin typeface="+mj-lt"/>
              <a:cs typeface="Arial" panose="020B0604020202020204" pitchFamily="34" charset="0"/>
            </a:endParaRPr>
          </a:p>
        </p:txBody>
      </p:sp>
      <p:sp>
        <p:nvSpPr>
          <p:cNvPr id="15" name="Text Box 25">
            <a:extLst>
              <a:ext uri="{FF2B5EF4-FFF2-40B4-BE49-F238E27FC236}">
                <a16:creationId xmlns:a16="http://schemas.microsoft.com/office/drawing/2014/main" id="{BBC9DA67-EF68-2544-0A8F-19C809C31205}"/>
              </a:ext>
            </a:extLst>
          </p:cNvPr>
          <p:cNvSpPr txBox="1">
            <a:spLocks noChangeArrowheads="1"/>
          </p:cNvSpPr>
          <p:nvPr/>
        </p:nvSpPr>
        <p:spPr bwMode="auto">
          <a:xfrm>
            <a:off x="4691535" y="1850843"/>
            <a:ext cx="7155056"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050" b="1" i="1" u="sng" dirty="0">
                <a:solidFill>
                  <a:srgbClr val="000066"/>
                </a:solidFill>
                <a:latin typeface="+mj-lt"/>
              </a:rPr>
              <a:t>Effect :</a:t>
            </a:r>
            <a:endParaRPr lang="en-US" altLang="en-US" sz="900" b="1" i="1" u="sng" dirty="0">
              <a:solidFill>
                <a:srgbClr val="000066"/>
              </a:solidFill>
              <a:latin typeface="+mj-lt"/>
            </a:endParaRPr>
          </a:p>
          <a:p>
            <a:pPr>
              <a:lnSpc>
                <a:spcPct val="100000"/>
              </a:lnSpc>
              <a:spcBef>
                <a:spcPct val="0"/>
              </a:spcBef>
              <a:buNone/>
            </a:pPr>
            <a:r>
              <a:rPr lang="en-US" altLang="en-US" sz="1050" b="1" dirty="0">
                <a:solidFill>
                  <a:srgbClr val="000066"/>
                </a:solidFill>
                <a:latin typeface="+mj-lt"/>
              </a:rPr>
              <a:t>Part NG</a:t>
            </a:r>
            <a:r>
              <a:rPr lang="id-ID" altLang="en-US" sz="1050" b="1" dirty="0">
                <a:solidFill>
                  <a:srgbClr val="000066"/>
                </a:solidFill>
                <a:latin typeface="+mj-lt"/>
              </a:rPr>
              <a:t> dapat mengalir ke proses selanjutnya dikarenakan box NG tidak berwarna merah melainkan mirip dengan box OK</a:t>
            </a:r>
            <a:r>
              <a:rPr lang="en-US" altLang="en-US" sz="1050" b="1" dirty="0">
                <a:solidFill>
                  <a:srgbClr val="000066"/>
                </a:solidFill>
                <a:latin typeface="+mj-lt"/>
              </a:rPr>
              <a:t>.</a:t>
            </a:r>
          </a:p>
        </p:txBody>
      </p:sp>
      <p:sp>
        <p:nvSpPr>
          <p:cNvPr id="17" name="Rectangle 16">
            <a:extLst>
              <a:ext uri="{FF2B5EF4-FFF2-40B4-BE49-F238E27FC236}">
                <a16:creationId xmlns:a16="http://schemas.microsoft.com/office/drawing/2014/main" id="{C3C3CD38-F5AF-5A6A-0090-4E27CAA5718C}"/>
              </a:ext>
            </a:extLst>
          </p:cNvPr>
          <p:cNvSpPr/>
          <p:nvPr/>
        </p:nvSpPr>
        <p:spPr>
          <a:xfrm>
            <a:off x="294952" y="2620761"/>
            <a:ext cx="4233645" cy="19192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sz="1050" dirty="0">
              <a:solidFill>
                <a:srgbClr val="FF0000"/>
              </a:solidFill>
              <a:latin typeface="+mj-lt"/>
            </a:endParaRPr>
          </a:p>
        </p:txBody>
      </p:sp>
      <p:sp>
        <p:nvSpPr>
          <p:cNvPr id="18" name="Rectangle 17">
            <a:extLst>
              <a:ext uri="{FF2B5EF4-FFF2-40B4-BE49-F238E27FC236}">
                <a16:creationId xmlns:a16="http://schemas.microsoft.com/office/drawing/2014/main" id="{C4196A53-5957-9EF6-CA59-B7ABBFB6077F}"/>
              </a:ext>
            </a:extLst>
          </p:cNvPr>
          <p:cNvSpPr/>
          <p:nvPr/>
        </p:nvSpPr>
        <p:spPr>
          <a:xfrm>
            <a:off x="294952" y="4634248"/>
            <a:ext cx="4233645" cy="201348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t"/>
            <a:r>
              <a:rPr lang="id-ID" sz="1100" dirty="0">
                <a:solidFill>
                  <a:srgbClr val="000000"/>
                </a:solidFill>
                <a:latin typeface="Arial" panose="020B0604020202020204" pitchFamily="34" charset="0"/>
              </a:rPr>
              <a:t>Box NG di area proses kerja tidak sesuai dengan standart berwarna merah, hal ini dapat menyebabkan part NG mengalir ke proses selanjutnya dikarenakan box NG mirip dengan box OK</a:t>
            </a:r>
            <a:endParaRPr lang="en-ID" sz="1100" dirty="0">
              <a:solidFill>
                <a:srgbClr val="000000"/>
              </a:solidFill>
              <a:latin typeface="Arial" panose="020B0604020202020204" pitchFamily="34" charset="0"/>
            </a:endParaRPr>
          </a:p>
        </p:txBody>
      </p:sp>
      <p:sp>
        <p:nvSpPr>
          <p:cNvPr id="19" name="Rectangle 18">
            <a:extLst>
              <a:ext uri="{FF2B5EF4-FFF2-40B4-BE49-F238E27FC236}">
                <a16:creationId xmlns:a16="http://schemas.microsoft.com/office/drawing/2014/main" id="{792A9711-A601-EA0B-7A66-1407D572B3B6}"/>
              </a:ext>
            </a:extLst>
          </p:cNvPr>
          <p:cNvSpPr/>
          <p:nvPr/>
        </p:nvSpPr>
        <p:spPr>
          <a:xfrm>
            <a:off x="4771876" y="2620761"/>
            <a:ext cx="2877423" cy="402697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050" dirty="0">
              <a:solidFill>
                <a:srgbClr val="00B0F0"/>
              </a:solidFill>
              <a:latin typeface="+mj-lt"/>
            </a:endParaRPr>
          </a:p>
        </p:txBody>
      </p:sp>
      <p:sp>
        <p:nvSpPr>
          <p:cNvPr id="20" name="Rectangle 19">
            <a:extLst>
              <a:ext uri="{FF2B5EF4-FFF2-40B4-BE49-F238E27FC236}">
                <a16:creationId xmlns:a16="http://schemas.microsoft.com/office/drawing/2014/main" id="{609FDBDA-B7B5-6CE2-5161-2DF9BD219D6B}"/>
              </a:ext>
            </a:extLst>
          </p:cNvPr>
          <p:cNvSpPr/>
          <p:nvPr/>
        </p:nvSpPr>
        <p:spPr>
          <a:xfrm>
            <a:off x="7752764" y="2620761"/>
            <a:ext cx="4093828" cy="191926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171450" indent="-171450">
              <a:buFont typeface="Arial" panose="020B0604020202020204" pitchFamily="34" charset="0"/>
              <a:buChar char="•"/>
              <a:defRPr/>
            </a:pPr>
            <a:r>
              <a:rPr lang="id-ID" sz="1200" dirty="0">
                <a:solidFill>
                  <a:schemeClr val="tx1"/>
                </a:solidFill>
                <a:latin typeface="+mj-lt"/>
              </a:rPr>
              <a:t>Mengedukasi MP crusher terkait pengambilan box NG</a:t>
            </a:r>
            <a:endParaRPr lang="en-US" sz="1200" dirty="0">
              <a:solidFill>
                <a:schemeClr val="tx1"/>
              </a:solidFill>
              <a:latin typeface="+mj-lt"/>
            </a:endParaRPr>
          </a:p>
          <a:p>
            <a:pPr marL="171450" indent="-171450">
              <a:buFont typeface="Arial" panose="020B0604020202020204" pitchFamily="34" charset="0"/>
              <a:buChar char="•"/>
              <a:defRPr/>
            </a:pPr>
            <a:r>
              <a:rPr lang="id-ID" sz="1200" dirty="0">
                <a:solidFill>
                  <a:schemeClr val="tx1"/>
                </a:solidFill>
                <a:latin typeface="+mj-lt"/>
              </a:rPr>
              <a:t>Operator tidak menerima box NG jika tidak sesuai dengan standart box NG berwarna merah</a:t>
            </a:r>
            <a:r>
              <a:rPr lang="en-US" sz="1200" dirty="0">
                <a:solidFill>
                  <a:schemeClr val="tx1"/>
                </a:solidFill>
                <a:latin typeface="+mj-lt"/>
              </a:rPr>
              <a:t>.</a:t>
            </a:r>
          </a:p>
        </p:txBody>
      </p:sp>
      <p:sp>
        <p:nvSpPr>
          <p:cNvPr id="21" name="Rectangle 20">
            <a:extLst>
              <a:ext uri="{FF2B5EF4-FFF2-40B4-BE49-F238E27FC236}">
                <a16:creationId xmlns:a16="http://schemas.microsoft.com/office/drawing/2014/main" id="{5AF3C2C0-95FF-6B3B-7FA8-1C9D1C8C66FB}"/>
              </a:ext>
            </a:extLst>
          </p:cNvPr>
          <p:cNvSpPr/>
          <p:nvPr/>
        </p:nvSpPr>
        <p:spPr>
          <a:xfrm>
            <a:off x="7752764" y="4634247"/>
            <a:ext cx="4093827" cy="201348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sz="1400" b="1" dirty="0">
              <a:solidFill>
                <a:schemeClr val="tx1"/>
              </a:solidFill>
              <a:latin typeface="Arial Narrow" panose="020B0606020202030204" pitchFamily="34" charset="0"/>
            </a:endParaRPr>
          </a:p>
        </p:txBody>
      </p:sp>
      <p:sp>
        <p:nvSpPr>
          <p:cNvPr id="22" name="Text Box 25">
            <a:extLst>
              <a:ext uri="{FF2B5EF4-FFF2-40B4-BE49-F238E27FC236}">
                <a16:creationId xmlns:a16="http://schemas.microsoft.com/office/drawing/2014/main" id="{58C1A7EC-5EE7-138F-C9EF-B04BC08F57CB}"/>
              </a:ext>
            </a:extLst>
          </p:cNvPr>
          <p:cNvSpPr txBox="1">
            <a:spLocks noChangeArrowheads="1"/>
          </p:cNvSpPr>
          <p:nvPr/>
        </p:nvSpPr>
        <p:spPr bwMode="auto">
          <a:xfrm>
            <a:off x="7711053" y="2612536"/>
            <a:ext cx="1817259"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050" b="1" i="1" u="sng" dirty="0">
                <a:solidFill>
                  <a:srgbClr val="000066"/>
                </a:solidFill>
                <a:latin typeface="+mj-lt"/>
              </a:rPr>
              <a:t>Corrective action</a:t>
            </a:r>
          </a:p>
        </p:txBody>
      </p:sp>
      <p:sp>
        <p:nvSpPr>
          <p:cNvPr id="23" name="Text Box 25">
            <a:extLst>
              <a:ext uri="{FF2B5EF4-FFF2-40B4-BE49-F238E27FC236}">
                <a16:creationId xmlns:a16="http://schemas.microsoft.com/office/drawing/2014/main" id="{83EE10B2-1651-2033-8CC8-DBF16B7FCCED}"/>
              </a:ext>
            </a:extLst>
          </p:cNvPr>
          <p:cNvSpPr txBox="1">
            <a:spLocks noChangeArrowheads="1"/>
          </p:cNvSpPr>
          <p:nvPr/>
        </p:nvSpPr>
        <p:spPr bwMode="auto">
          <a:xfrm>
            <a:off x="7753516" y="4634247"/>
            <a:ext cx="1634701"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050" b="1" i="1" u="sng" dirty="0">
                <a:solidFill>
                  <a:srgbClr val="000066"/>
                </a:solidFill>
                <a:latin typeface="+mj-lt"/>
              </a:rPr>
              <a:t>Preventive Action</a:t>
            </a:r>
          </a:p>
        </p:txBody>
      </p:sp>
      <p:sp>
        <p:nvSpPr>
          <p:cNvPr id="31" name="TextBox 30">
            <a:extLst>
              <a:ext uri="{FF2B5EF4-FFF2-40B4-BE49-F238E27FC236}">
                <a16:creationId xmlns:a16="http://schemas.microsoft.com/office/drawing/2014/main" id="{F0601544-AAD0-020F-55A5-395BE504E41F}"/>
              </a:ext>
            </a:extLst>
          </p:cNvPr>
          <p:cNvSpPr txBox="1"/>
          <p:nvPr/>
        </p:nvSpPr>
        <p:spPr>
          <a:xfrm>
            <a:off x="7783634" y="4816742"/>
            <a:ext cx="3829246" cy="954107"/>
          </a:xfrm>
          <a:prstGeom prst="rect">
            <a:avLst/>
          </a:prstGeom>
          <a:noFill/>
        </p:spPr>
        <p:txBody>
          <a:bodyPr wrap="square" rtlCol="0">
            <a:spAutoFit/>
          </a:bodyPr>
          <a:lstStyle/>
          <a:p>
            <a:r>
              <a:rPr lang="id-ID" sz="1400" dirty="0">
                <a:latin typeface="Arial Narrow" panose="020B0606020202030204" pitchFamily="34" charset="0"/>
              </a:rPr>
              <a:t>- Mengubah metode pengambilan part NG ke crusher dengan cara MP crusher membawa box kosong untuk penempatan part NG, bukan box NG berwarna merah yang dibawa ke crusher</a:t>
            </a:r>
            <a:endParaRPr lang="en-ID" sz="1400" dirty="0">
              <a:latin typeface="Arial Narrow" panose="020B0606020202030204" pitchFamily="34" charset="0"/>
            </a:endParaRPr>
          </a:p>
        </p:txBody>
      </p:sp>
      <p:pic>
        <p:nvPicPr>
          <p:cNvPr id="33" name="Picture 32">
            <a:extLst>
              <a:ext uri="{FF2B5EF4-FFF2-40B4-BE49-F238E27FC236}">
                <a16:creationId xmlns:a16="http://schemas.microsoft.com/office/drawing/2014/main" id="{A40F388F-8265-4304-8F1E-750F99D59FE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0996" t="42215" r="18923" b="6451"/>
          <a:stretch/>
        </p:blipFill>
        <p:spPr>
          <a:xfrm>
            <a:off x="1049452" y="2706078"/>
            <a:ext cx="2345412" cy="1751622"/>
          </a:xfrm>
          <a:prstGeom prst="rect">
            <a:avLst/>
          </a:prstGeom>
        </p:spPr>
      </p:pic>
      <p:pic>
        <p:nvPicPr>
          <p:cNvPr id="35" name="Picture 34">
            <a:extLst>
              <a:ext uri="{FF2B5EF4-FFF2-40B4-BE49-F238E27FC236}">
                <a16:creationId xmlns:a16="http://schemas.microsoft.com/office/drawing/2014/main" id="{4D01763A-B733-4F68-83B5-8EADB128090F}"/>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34179" r="17785" b="9762"/>
          <a:stretch/>
        </p:blipFill>
        <p:spPr>
          <a:xfrm>
            <a:off x="4940003" y="2815757"/>
            <a:ext cx="2530201" cy="2297618"/>
          </a:xfrm>
          <a:prstGeom prst="rect">
            <a:avLst/>
          </a:prstGeom>
        </p:spPr>
      </p:pic>
      <p:sp>
        <p:nvSpPr>
          <p:cNvPr id="36" name="TextBox 35">
            <a:extLst>
              <a:ext uri="{FF2B5EF4-FFF2-40B4-BE49-F238E27FC236}">
                <a16:creationId xmlns:a16="http://schemas.microsoft.com/office/drawing/2014/main" id="{ED1ACC06-8D43-4D7D-9F8D-65BA439ACBD1}"/>
              </a:ext>
            </a:extLst>
          </p:cNvPr>
          <p:cNvSpPr txBox="1"/>
          <p:nvPr/>
        </p:nvSpPr>
        <p:spPr>
          <a:xfrm>
            <a:off x="4844246" y="5472081"/>
            <a:ext cx="2721713" cy="954107"/>
          </a:xfrm>
          <a:prstGeom prst="rect">
            <a:avLst/>
          </a:prstGeom>
          <a:noFill/>
          <a:ln w="12700">
            <a:solidFill>
              <a:schemeClr val="tx1"/>
            </a:solidFill>
          </a:ln>
        </p:spPr>
        <p:txBody>
          <a:bodyPr wrap="square" rtlCol="0">
            <a:spAutoFit/>
          </a:bodyPr>
          <a:lstStyle/>
          <a:p>
            <a:r>
              <a:rPr lang="id-ID" sz="1400" dirty="0"/>
              <a:t>Sebelum memulai proses kerja, operator harus memastikan bahwa box NG yang digunakan sesuai dengan standart berwarna merah</a:t>
            </a:r>
          </a:p>
        </p:txBody>
      </p:sp>
    </p:spTree>
    <p:extLst>
      <p:ext uri="{BB962C8B-B14F-4D97-AF65-F5344CB8AC3E}">
        <p14:creationId xmlns:p14="http://schemas.microsoft.com/office/powerpoint/2010/main" val="11655594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42215" y="22795"/>
            <a:ext cx="4752304" cy="461665"/>
          </a:xfrm>
          <a:prstGeom prst="rect">
            <a:avLst/>
          </a:prstGeom>
          <a:noFill/>
        </p:spPr>
        <p:txBody>
          <a:bodyPr wrap="square" rtlCol="0">
            <a:spAutoFit/>
          </a:bodyPr>
          <a:lstStyle/>
          <a:p>
            <a:r>
              <a:rPr lang="en-US" sz="2400" dirty="0">
                <a:solidFill>
                  <a:srgbClr val="002060"/>
                </a:solidFill>
                <a:latin typeface="Segoe UI" panose="020B0502040204020203" pitchFamily="34" charset="0"/>
                <a:cs typeface="Segoe UI" panose="020B0502040204020203" pitchFamily="34" charset="0"/>
              </a:rPr>
              <a:t>Self Audit TPQ Plant Cirebon</a:t>
            </a:r>
          </a:p>
        </p:txBody>
      </p:sp>
      <p:cxnSp>
        <p:nvCxnSpPr>
          <p:cNvPr id="3" name="Straight Connector 2"/>
          <p:cNvCxnSpPr/>
          <p:nvPr/>
        </p:nvCxnSpPr>
        <p:spPr>
          <a:xfrm>
            <a:off x="227526" y="800100"/>
            <a:ext cx="11704320" cy="0"/>
          </a:xfrm>
          <a:prstGeom prst="line">
            <a:avLst/>
          </a:prstGeom>
          <a:noFill/>
          <a:ln w="28575" cap="flat" cmpd="sng" algn="ctr">
            <a:solidFill>
              <a:srgbClr val="002060"/>
            </a:solidFill>
            <a:prstDash val="solid"/>
            <a:miter lim="800000"/>
          </a:ln>
          <a:effectLst/>
        </p:spPr>
      </p:cxnSp>
      <p:pic>
        <p:nvPicPr>
          <p:cNvPr id="5" name="Picture 4">
            <a:extLst>
              <a:ext uri="{FF2B5EF4-FFF2-40B4-BE49-F238E27FC236}">
                <a16:creationId xmlns:a16="http://schemas.microsoft.com/office/drawing/2014/main" id="{27316A86-AE91-480B-A569-35FA21734804}"/>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935152" y="169604"/>
            <a:ext cx="692932" cy="567389"/>
          </a:xfrm>
          <a:prstGeom prst="rect">
            <a:avLst/>
          </a:prstGeom>
        </p:spPr>
      </p:pic>
      <p:sp>
        <p:nvSpPr>
          <p:cNvPr id="6" name="Rectangle 5"/>
          <p:cNvSpPr/>
          <p:nvPr/>
        </p:nvSpPr>
        <p:spPr>
          <a:xfrm>
            <a:off x="9918341" y="-148401"/>
            <a:ext cx="2031714" cy="948501"/>
          </a:xfrm>
          <a:prstGeom prst="rect">
            <a:avLst/>
          </a:prstGeom>
          <a:noFill/>
          <a:ln w="12700" cap="flat" cmpd="sng" algn="ctr">
            <a:noFill/>
            <a:prstDash val="solid"/>
            <a:miter lim="800000"/>
          </a:ln>
          <a:effectLst/>
        </p:spPr>
        <p:txBody>
          <a:bodyPr rtlCol="0" anchor="ctr"/>
          <a:lstStyle/>
          <a:p>
            <a:pPr algn="ctr">
              <a:defRPr/>
            </a:pPr>
            <a:r>
              <a:rPr lang="en-US" sz="4400" b="1" kern="0" dirty="0">
                <a:solidFill>
                  <a:srgbClr val="C00000"/>
                </a:solidFill>
                <a:latin typeface="Segoe UI" panose="020B0502040204020203" pitchFamily="34" charset="0"/>
                <a:ea typeface="Segoe UI Historic" panose="020B0502040204020203" pitchFamily="34" charset="0"/>
                <a:cs typeface="Segoe UI" panose="020B0502040204020203" pitchFamily="34" charset="0"/>
              </a:rPr>
              <a:t>TPQ</a:t>
            </a:r>
          </a:p>
          <a:p>
            <a:pPr algn="ctr">
              <a:defRPr/>
            </a:pPr>
            <a:r>
              <a:rPr lang="en-US" sz="1100" b="1" kern="0" dirty="0">
                <a:solidFill>
                  <a:srgbClr val="E7E6E6">
                    <a:lumMod val="25000"/>
                  </a:srgbClr>
                </a:solidFill>
                <a:latin typeface="Segoe UI" panose="020B0502040204020203" pitchFamily="34" charset="0"/>
                <a:ea typeface="Segoe UI Historic" panose="020B0502040204020203" pitchFamily="34" charset="0"/>
                <a:cs typeface="Segoe UI" panose="020B0502040204020203" pitchFamily="34" charset="0"/>
              </a:rPr>
              <a:t>TPM – PRINCIPLE QUALITY</a:t>
            </a:r>
          </a:p>
        </p:txBody>
      </p:sp>
      <p:sp>
        <p:nvSpPr>
          <p:cNvPr id="12" name="Rectangle 11">
            <a:extLst>
              <a:ext uri="{FF2B5EF4-FFF2-40B4-BE49-F238E27FC236}">
                <a16:creationId xmlns:a16="http://schemas.microsoft.com/office/drawing/2014/main" id="{15E07850-9F46-030D-228C-20FFFFC95ABF}"/>
              </a:ext>
            </a:extLst>
          </p:cNvPr>
          <p:cNvSpPr/>
          <p:nvPr/>
        </p:nvSpPr>
        <p:spPr>
          <a:xfrm>
            <a:off x="204955" y="949717"/>
            <a:ext cx="11788261" cy="5865548"/>
          </a:xfrm>
          <a:prstGeom prst="rect">
            <a:avLst/>
          </a:prstGeom>
          <a:noFill/>
          <a:ln w="12700" cap="flat" cmpd="sng" algn="ctr">
            <a:solidFill>
              <a:srgbClr val="4472C4">
                <a:shade val="50000"/>
              </a:srgbClr>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B0F0"/>
              </a:solidFill>
              <a:effectLst/>
              <a:uLnTx/>
              <a:uFillTx/>
              <a:latin typeface="Arial"/>
              <a:ea typeface="+mn-ea"/>
              <a:cs typeface="+mn-cs"/>
            </a:endParaRPr>
          </a:p>
        </p:txBody>
      </p:sp>
      <p:sp>
        <p:nvSpPr>
          <p:cNvPr id="13" name="TextBox 12">
            <a:extLst>
              <a:ext uri="{FF2B5EF4-FFF2-40B4-BE49-F238E27FC236}">
                <a16:creationId xmlns:a16="http://schemas.microsoft.com/office/drawing/2014/main" id="{F9248F7B-8432-6AF8-AA73-404E550B629A}"/>
              </a:ext>
            </a:extLst>
          </p:cNvPr>
          <p:cNvSpPr txBox="1"/>
          <p:nvPr/>
        </p:nvSpPr>
        <p:spPr>
          <a:xfrm>
            <a:off x="1214818" y="1154935"/>
            <a:ext cx="9930196" cy="646331"/>
          </a:xfrm>
          <a:prstGeom prst="rect">
            <a:avLst/>
          </a:prstGeom>
          <a:noFill/>
          <a:ln>
            <a:solidFill>
              <a:srgbClr val="E1C364"/>
            </a:solidFill>
          </a:ln>
        </p:spPr>
        <p:txBody>
          <a:bodyPr wrap="square" rtlCol="0">
            <a:spAutoFit/>
          </a:bodyPr>
          <a:lstStyle/>
          <a:p>
            <a:pPr algn="ctr">
              <a:defRPr/>
            </a:pPr>
            <a:r>
              <a:rPr lang="en-US" dirty="0">
                <a:solidFill>
                  <a:prstClr val="black"/>
                </a:solidFill>
                <a:latin typeface="Arial"/>
              </a:rPr>
              <a:t>Daftar </a:t>
            </a:r>
            <a:r>
              <a:rPr lang="en-US" dirty="0" err="1">
                <a:solidFill>
                  <a:prstClr val="black"/>
                </a:solidFill>
                <a:latin typeface="Arial"/>
              </a:rPr>
              <a:t>hadir</a:t>
            </a:r>
            <a:r>
              <a:rPr lang="en-US" dirty="0">
                <a:solidFill>
                  <a:prstClr val="black"/>
                </a:solidFill>
                <a:latin typeface="Arial"/>
              </a:rPr>
              <a:t> </a:t>
            </a:r>
            <a:r>
              <a:rPr lang="en-US" dirty="0" err="1">
                <a:solidFill>
                  <a:prstClr val="black"/>
                </a:solidFill>
                <a:latin typeface="Arial"/>
              </a:rPr>
              <a:t>terkait</a:t>
            </a:r>
            <a:r>
              <a:rPr lang="id-ID" dirty="0">
                <a:solidFill>
                  <a:prstClr val="black"/>
                </a:solidFill>
                <a:latin typeface="Arial"/>
              </a:rPr>
              <a:t> standart box NG berwarna merah harus berada di line proses, penanganan part jatuh untuk langsung diambil dan penandatanganan IK sebagai bukti telah di sosialisasikan</a:t>
            </a:r>
            <a:endParaRPr lang="en-ID" dirty="0">
              <a:solidFill>
                <a:prstClr val="black"/>
              </a:solidFill>
              <a:latin typeface="Arial"/>
            </a:endParaRPr>
          </a:p>
        </p:txBody>
      </p:sp>
      <p:sp>
        <p:nvSpPr>
          <p:cNvPr id="14" name="TextBox 13">
            <a:extLst>
              <a:ext uri="{FF2B5EF4-FFF2-40B4-BE49-F238E27FC236}">
                <a16:creationId xmlns:a16="http://schemas.microsoft.com/office/drawing/2014/main" id="{1886E63A-DBEC-405C-46DA-0D4238317301}"/>
              </a:ext>
            </a:extLst>
          </p:cNvPr>
          <p:cNvSpPr txBox="1"/>
          <p:nvPr/>
        </p:nvSpPr>
        <p:spPr>
          <a:xfrm>
            <a:off x="4824919" y="4084861"/>
            <a:ext cx="6431183" cy="2215991"/>
          </a:xfrm>
          <a:prstGeom prst="rect">
            <a:avLst/>
          </a:prstGeom>
          <a:noFill/>
        </p:spPr>
        <p:txBody>
          <a:bodyPr wrap="square" rtlCol="0">
            <a:spAutoFit/>
          </a:bodyPr>
          <a:lstStyle/>
          <a:p>
            <a:r>
              <a:rPr lang="en-US" sz="1600" dirty="0" err="1">
                <a:solidFill>
                  <a:prstClr val="black"/>
                </a:solidFill>
                <a:latin typeface="Arial"/>
              </a:rPr>
              <a:t>Sosialisasi</a:t>
            </a:r>
            <a:r>
              <a:rPr lang="id-ID" sz="1600" dirty="0">
                <a:solidFill>
                  <a:prstClr val="black"/>
                </a:solidFill>
                <a:latin typeface="Arial"/>
              </a:rPr>
              <a:t> terkait standart box NG berwarna merah harus berada di line proses, penanganan part jatuh untuk langsung diambil dan penandatanganan IK sebagai bukti telah di sosialisasikan</a:t>
            </a:r>
            <a:endParaRPr lang="en-US" sz="1600" b="1" i="1" dirty="0">
              <a:solidFill>
                <a:prstClr val="black"/>
              </a:solidFill>
              <a:latin typeface="Arial" panose="020B0604020202020204" pitchFamily="34" charset="0"/>
              <a:cs typeface="Arial" panose="020B0604020202020204" pitchFamily="34" charset="0"/>
            </a:endParaRPr>
          </a:p>
          <a:p>
            <a:pPr>
              <a:defRPr/>
            </a:pPr>
            <a:r>
              <a:rPr lang="en-US" dirty="0" err="1">
                <a:solidFill>
                  <a:prstClr val="black"/>
                </a:solidFill>
                <a:latin typeface="Arial"/>
              </a:rPr>
              <a:t>Tanggal</a:t>
            </a:r>
            <a:r>
              <a:rPr lang="en-US" dirty="0">
                <a:solidFill>
                  <a:prstClr val="black"/>
                </a:solidFill>
                <a:latin typeface="Arial"/>
              </a:rPr>
              <a:t>		: </a:t>
            </a:r>
            <a:r>
              <a:rPr lang="id-ID" dirty="0">
                <a:solidFill>
                  <a:prstClr val="black"/>
                </a:solidFill>
                <a:latin typeface="Arial"/>
              </a:rPr>
              <a:t>12</a:t>
            </a:r>
            <a:r>
              <a:rPr lang="en-US" dirty="0">
                <a:solidFill>
                  <a:prstClr val="black"/>
                </a:solidFill>
                <a:latin typeface="Arial"/>
              </a:rPr>
              <a:t> </a:t>
            </a:r>
            <a:r>
              <a:rPr lang="id-ID" dirty="0">
                <a:solidFill>
                  <a:prstClr val="black"/>
                </a:solidFill>
                <a:latin typeface="Arial"/>
              </a:rPr>
              <a:t>Januari</a:t>
            </a:r>
            <a:r>
              <a:rPr lang="en-US" dirty="0">
                <a:solidFill>
                  <a:prstClr val="black"/>
                </a:solidFill>
                <a:latin typeface="Arial"/>
              </a:rPr>
              <a:t> 202</a:t>
            </a:r>
            <a:r>
              <a:rPr lang="id-ID" dirty="0">
                <a:solidFill>
                  <a:prstClr val="black"/>
                </a:solidFill>
                <a:latin typeface="Arial"/>
              </a:rPr>
              <a:t>6</a:t>
            </a:r>
            <a:endParaRPr lang="en-US" dirty="0">
              <a:solidFill>
                <a:prstClr val="black"/>
              </a:solidFill>
              <a:latin typeface="Arial"/>
            </a:endParaRPr>
          </a:p>
          <a:p>
            <a:pPr>
              <a:defRPr/>
            </a:pPr>
            <a:r>
              <a:rPr lang="en-US" dirty="0">
                <a:solidFill>
                  <a:prstClr val="black"/>
                </a:solidFill>
                <a:latin typeface="Arial"/>
              </a:rPr>
              <a:t>Waktu		: 15:00 s/d </a:t>
            </a:r>
            <a:r>
              <a:rPr lang="en-US" dirty="0" err="1">
                <a:solidFill>
                  <a:prstClr val="black"/>
                </a:solidFill>
                <a:latin typeface="Arial"/>
              </a:rPr>
              <a:t>selesai</a:t>
            </a:r>
            <a:endParaRPr lang="en-US" dirty="0">
              <a:solidFill>
                <a:prstClr val="black"/>
              </a:solidFill>
              <a:latin typeface="Arial"/>
            </a:endParaRPr>
          </a:p>
          <a:p>
            <a:pPr>
              <a:defRPr/>
            </a:pPr>
            <a:r>
              <a:rPr lang="en-US" dirty="0">
                <a:solidFill>
                  <a:prstClr val="black"/>
                </a:solidFill>
                <a:latin typeface="Arial"/>
              </a:rPr>
              <a:t>Area		: </a:t>
            </a:r>
            <a:r>
              <a:rPr lang="id-ID" dirty="0">
                <a:solidFill>
                  <a:prstClr val="black"/>
                </a:solidFill>
                <a:latin typeface="Arial"/>
              </a:rPr>
              <a:t>Area Produksi Injection</a:t>
            </a:r>
            <a:endParaRPr lang="en-US" dirty="0">
              <a:solidFill>
                <a:prstClr val="black"/>
              </a:solidFill>
              <a:latin typeface="Arial"/>
            </a:endParaRPr>
          </a:p>
          <a:p>
            <a:pPr>
              <a:defRPr/>
            </a:pPr>
            <a:r>
              <a:rPr lang="en-US" dirty="0" err="1">
                <a:solidFill>
                  <a:prstClr val="black"/>
                </a:solidFill>
                <a:latin typeface="Arial"/>
              </a:rPr>
              <a:t>Pembimbing</a:t>
            </a:r>
            <a:r>
              <a:rPr lang="en-US" dirty="0">
                <a:solidFill>
                  <a:prstClr val="black"/>
                </a:solidFill>
                <a:latin typeface="Arial"/>
              </a:rPr>
              <a:t>	: </a:t>
            </a:r>
            <a:r>
              <a:rPr lang="id-ID" dirty="0">
                <a:solidFill>
                  <a:prstClr val="black"/>
                </a:solidFill>
                <a:latin typeface="Arial"/>
              </a:rPr>
              <a:t>Pitoyo</a:t>
            </a:r>
            <a:endParaRPr lang="en-US" dirty="0">
              <a:solidFill>
                <a:prstClr val="black"/>
              </a:solidFill>
              <a:latin typeface="Arial"/>
            </a:endParaRPr>
          </a:p>
          <a:p>
            <a:pPr>
              <a:defRPr/>
            </a:pPr>
            <a:r>
              <a:rPr lang="en-US" dirty="0" err="1">
                <a:solidFill>
                  <a:prstClr val="black"/>
                </a:solidFill>
                <a:latin typeface="Arial"/>
              </a:rPr>
              <a:t>Peserta</a:t>
            </a:r>
            <a:r>
              <a:rPr lang="en-US" dirty="0">
                <a:solidFill>
                  <a:prstClr val="black"/>
                </a:solidFill>
                <a:latin typeface="Arial"/>
              </a:rPr>
              <a:t>		: </a:t>
            </a:r>
            <a:r>
              <a:rPr lang="id-ID" dirty="0">
                <a:solidFill>
                  <a:prstClr val="black"/>
                </a:solidFill>
                <a:latin typeface="Arial"/>
              </a:rPr>
              <a:t>Operator produksi &amp; finishing</a:t>
            </a:r>
            <a:endParaRPr lang="en-US" dirty="0">
              <a:solidFill>
                <a:prstClr val="black"/>
              </a:solidFill>
              <a:latin typeface="Arial"/>
            </a:endParaRPr>
          </a:p>
        </p:txBody>
      </p:sp>
      <p:pic>
        <p:nvPicPr>
          <p:cNvPr id="8" name="Picture 7">
            <a:extLst>
              <a:ext uri="{FF2B5EF4-FFF2-40B4-BE49-F238E27FC236}">
                <a16:creationId xmlns:a16="http://schemas.microsoft.com/office/drawing/2014/main" id="{4E4D9178-A2D1-4C3E-95F3-58B39723197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33418"/>
          <a:stretch/>
        </p:blipFill>
        <p:spPr>
          <a:xfrm>
            <a:off x="4946839" y="2183335"/>
            <a:ext cx="2876178" cy="1436269"/>
          </a:xfrm>
          <a:prstGeom prst="rect">
            <a:avLst/>
          </a:prstGeom>
        </p:spPr>
      </p:pic>
      <p:pic>
        <p:nvPicPr>
          <p:cNvPr id="10" name="Picture 9">
            <a:extLst>
              <a:ext uri="{FF2B5EF4-FFF2-40B4-BE49-F238E27FC236}">
                <a16:creationId xmlns:a16="http://schemas.microsoft.com/office/drawing/2014/main" id="{050703D7-DFD4-45E0-AE29-E76503DB450D}"/>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36348"/>
          <a:stretch/>
        </p:blipFill>
        <p:spPr>
          <a:xfrm>
            <a:off x="8160819" y="2183335"/>
            <a:ext cx="3008578" cy="1436268"/>
          </a:xfrm>
          <a:prstGeom prst="rect">
            <a:avLst/>
          </a:prstGeom>
        </p:spPr>
      </p:pic>
      <p:pic>
        <p:nvPicPr>
          <p:cNvPr id="19" name="Picture 18">
            <a:extLst>
              <a:ext uri="{FF2B5EF4-FFF2-40B4-BE49-F238E27FC236}">
                <a16:creationId xmlns:a16="http://schemas.microsoft.com/office/drawing/2014/main" id="{D4CA0221-BBC4-4AE9-B5BF-F830D4AC5B8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90634" y="2183335"/>
            <a:ext cx="1928050" cy="2737249"/>
          </a:xfrm>
          <a:prstGeom prst="rect">
            <a:avLst/>
          </a:prstGeom>
        </p:spPr>
      </p:pic>
      <p:pic>
        <p:nvPicPr>
          <p:cNvPr id="21" name="Picture 20">
            <a:extLst>
              <a:ext uri="{FF2B5EF4-FFF2-40B4-BE49-F238E27FC236}">
                <a16:creationId xmlns:a16="http://schemas.microsoft.com/office/drawing/2014/main" id="{83AE3F96-DF36-4846-B9B7-4E14ED1B84B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659513" y="2888568"/>
            <a:ext cx="1928050" cy="2737249"/>
          </a:xfrm>
          <a:prstGeom prst="rect">
            <a:avLst/>
          </a:prstGeom>
        </p:spPr>
      </p:pic>
      <p:pic>
        <p:nvPicPr>
          <p:cNvPr id="23" name="Picture 22">
            <a:extLst>
              <a:ext uri="{FF2B5EF4-FFF2-40B4-BE49-F238E27FC236}">
                <a16:creationId xmlns:a16="http://schemas.microsoft.com/office/drawing/2014/main" id="{847D4ED5-6F46-4837-94C2-16AD9EF55E4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350215" y="3808440"/>
            <a:ext cx="1778441" cy="2522611"/>
          </a:xfrm>
          <a:prstGeom prst="rect">
            <a:avLst/>
          </a:prstGeom>
        </p:spPr>
      </p:pic>
    </p:spTree>
    <p:extLst>
      <p:ext uri="{BB962C8B-B14F-4D97-AF65-F5344CB8AC3E}">
        <p14:creationId xmlns:p14="http://schemas.microsoft.com/office/powerpoint/2010/main" val="42827445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9905</TotalTime>
  <Words>1078</Words>
  <Application>Microsoft Office PowerPoint</Application>
  <PresentationFormat>Widescreen</PresentationFormat>
  <Paragraphs>178</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Arial Narrow</vt:lpstr>
      <vt:lpstr>Calibri</vt:lpstr>
      <vt:lpstr>Calibri Light</vt:lpstr>
      <vt:lpstr>Segoe UI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miftakhulyanan14@gmail.com</cp:lastModifiedBy>
  <cp:revision>59</cp:revision>
  <dcterms:created xsi:type="dcterms:W3CDTF">2025-11-21T06:40:33Z</dcterms:created>
  <dcterms:modified xsi:type="dcterms:W3CDTF">2026-02-17T09:56:32Z</dcterms:modified>
</cp:coreProperties>
</file>