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37" r:id="rId2"/>
    <p:sldId id="328" r:id="rId3"/>
    <p:sldId id="287" r:id="rId4"/>
    <p:sldId id="259" r:id="rId5"/>
    <p:sldId id="341" r:id="rId6"/>
    <p:sldId id="342" r:id="rId7"/>
    <p:sldId id="327" r:id="rId8"/>
    <p:sldId id="343" r:id="rId9"/>
    <p:sldId id="331" r:id="rId10"/>
    <p:sldId id="339" r:id="rId11"/>
    <p:sldId id="345" r:id="rId12"/>
    <p:sldId id="344" r:id="rId13"/>
    <p:sldId id="280" r:id="rId14"/>
  </p:sldIdLst>
  <p:sldSz cx="11880850" cy="7345363"/>
  <p:notesSz cx="6888163" cy="10020300"/>
  <p:defaultTextStyle>
    <a:defPPr>
      <a:defRPr lang="en-US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549275" lvl="1" indent="-92075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098550" lvl="2" indent="-18415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647825" lvl="3" indent="-276225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197100" lvl="4" indent="-36830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-36830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-36830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-36830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-36830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2" userDrawn="1">
          <p15:clr>
            <a:srgbClr val="A4A3A4"/>
          </p15:clr>
        </p15:guide>
        <p15:guide id="2" pos="375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0000"/>
    <a:srgbClr val="FF3300"/>
    <a:srgbClr val="FFFFFF"/>
    <a:srgbClr val="FF0000"/>
    <a:srgbClr val="0000FF"/>
    <a:srgbClr val="DC6624"/>
    <a:srgbClr val="FA40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4" autoAdjust="0"/>
    <p:restoredTop sz="94483"/>
  </p:normalViewPr>
  <p:slideViewPr>
    <p:cSldViewPr showGuides="1">
      <p:cViewPr varScale="1">
        <p:scale>
          <a:sx n="84" d="100"/>
          <a:sy n="84" d="100"/>
        </p:scale>
        <p:origin x="826" y="67"/>
      </p:cViewPr>
      <p:guideLst>
        <p:guide orient="horz" pos="2252"/>
        <p:guide pos="375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4500" cy="501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6603" tIns="48302" rIns="96603" bIns="48302" numCol="1" anchor="t" anchorCtr="0" compatLnSpc="1"/>
          <a:lstStyle>
            <a:lvl1pPr eaLnBrk="1" hangingPunct="1">
              <a:defRPr sz="13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02075" y="0"/>
            <a:ext cx="2984500" cy="501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6603" tIns="48302" rIns="96603" bIns="48302" numCol="1" anchor="t" anchorCtr="0" compatLnSpc="1"/>
          <a:lstStyle>
            <a:lvl1pPr algn="r" eaLnBrk="1" hangingPunct="1">
              <a:defRPr sz="13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388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404813" y="750888"/>
            <a:ext cx="6078537" cy="3757612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8975" y="4759325"/>
            <a:ext cx="5510213" cy="45100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6603" tIns="48302" rIns="96603" bIns="48302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styles</a:t>
            </a:r>
          </a:p>
          <a:p>
            <a:pPr marL="549275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109855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647825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21971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7063"/>
            <a:ext cx="2984500" cy="501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6603" tIns="48302" rIns="96603" bIns="48302" numCol="1" anchor="b" anchorCtr="0" compatLnSpc="1"/>
          <a:lstStyle>
            <a:lvl1pPr eaLnBrk="1" hangingPunct="1">
              <a:defRPr sz="13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075" y="9517063"/>
            <a:ext cx="2984500" cy="501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6603" tIns="48302" rIns="96603" bIns="48302" numCol="1" anchor="b" anchorCtr="0" compatLnSpc="1"/>
          <a:lstStyle/>
          <a:p>
            <a:pPr lvl="0" algn="r" eaLnBrk="1" hangingPunct="1">
              <a:buNone/>
            </a:pPr>
            <a:fld id="{9A0DB2DC-4C9A-4742-B13C-FB6460FD3503}" type="slidenum">
              <a:rPr lang="en-US" altLang="en-US" sz="1300" dirty="0"/>
              <a:t>‹#›</a:t>
            </a:fld>
            <a:endParaRPr lang="en-US" altLang="en-US" sz="13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9275" algn="l" rtl="0" eaLnBrk="0" fontAlgn="base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98550" algn="l" rtl="0" eaLnBrk="0" fontAlgn="base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47825" algn="l" rtl="0" eaLnBrk="0" fontAlgn="base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97100" algn="l" rtl="0" eaLnBrk="0" fontAlgn="base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46375" algn="l" defTabSz="109855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95650" algn="l" defTabSz="109855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44925" algn="l" defTabSz="109855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94200" algn="l" defTabSz="109855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411" name="Notes Placeholder 2"/>
          <p:cNvSpPr>
            <a:spLocks noGrp="1"/>
          </p:cNvSpPr>
          <p:nvPr>
            <p:ph type="body" idx="1"/>
          </p:nvPr>
        </p:nvSpPr>
        <p:spPr>
          <a:ln/>
        </p:spPr>
        <p:txBody>
          <a:bodyPr wrap="square" lIns="96603" tIns="48302" rIns="96603" bIns="48302" anchor="t" anchorCtr="0"/>
          <a:lstStyle/>
          <a:p>
            <a:pPr lvl="0"/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 txBox="1">
            <a:spLocks noGrp="1"/>
          </p:cNvSpPr>
          <p:nvPr>
            <p:ph type="sldNum" sz="quarter"/>
          </p:nvPr>
        </p:nvSpPr>
        <p:spPr>
          <a:xfrm>
            <a:off x="3902075" y="9517063"/>
            <a:ext cx="2984500" cy="501650"/>
          </a:xfrm>
          <a:prstGeom prst="rect">
            <a:avLst/>
          </a:prstGeom>
          <a:noFill/>
          <a:ln w="9525">
            <a:noFill/>
          </a:ln>
        </p:spPr>
        <p:txBody>
          <a:bodyPr lIns="96603" tIns="48302" rIns="96603" bIns="48302" anchor="b" anchorCtr="0"/>
          <a:lstStyle/>
          <a:p>
            <a:pPr lvl="0" algn="r" eaLnBrk="1" hangingPunct="1"/>
            <a:fld id="{9A0DB2DC-4C9A-4742-B13C-FB6460FD3503}" type="slidenum">
              <a:rPr lang="en-US" altLang="en-US" sz="1300" dirty="0">
                <a:solidFill>
                  <a:srgbClr val="000000"/>
                </a:solidFill>
              </a:rPr>
              <a:t>2</a:t>
            </a:fld>
            <a:endParaRPr lang="en-US" altLang="en-US" sz="1300" dirty="0">
              <a:solidFill>
                <a:srgbClr val="000000"/>
              </a:solidFill>
            </a:endParaRPr>
          </a:p>
        </p:txBody>
      </p:sp>
      <p:sp>
        <p:nvSpPr>
          <p:cNvPr id="18435" name="Rectangle 2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/>
          </p:cNvSpPr>
          <p:nvPr>
            <p:ph type="body" idx="1"/>
          </p:nvPr>
        </p:nvSpPr>
        <p:spPr>
          <a:xfrm>
            <a:off x="688975" y="4762500"/>
            <a:ext cx="5510213" cy="4506913"/>
          </a:xfrm>
          <a:ln/>
        </p:spPr>
        <p:txBody>
          <a:bodyPr wrap="square" lIns="96603" tIns="48302" rIns="96603" bIns="48302" anchor="t" anchorCtr="0"/>
          <a:lstStyle/>
          <a:p>
            <a:pPr lvl="0" eaLnBrk="1" hangingPunct="1"/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172917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5106" y="1202123"/>
            <a:ext cx="8910638" cy="2557275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106" y="3858016"/>
            <a:ext cx="8910638" cy="1773429"/>
          </a:xfrm>
        </p:spPr>
        <p:txBody>
          <a:bodyPr/>
          <a:lstStyle>
            <a:lvl1pPr marL="0" indent="0" algn="ctr">
              <a:buNone/>
              <a:defRPr sz="2900"/>
            </a:lvl1pPr>
            <a:lvl2pPr marL="549275" indent="0" algn="ctr">
              <a:buNone/>
              <a:defRPr sz="2400"/>
            </a:lvl2pPr>
            <a:lvl3pPr marL="1098550" indent="0" algn="ctr">
              <a:buNone/>
              <a:defRPr sz="2200"/>
            </a:lvl3pPr>
            <a:lvl4pPr marL="1647825" indent="0" algn="ctr">
              <a:buNone/>
              <a:defRPr sz="1900"/>
            </a:lvl4pPr>
            <a:lvl5pPr marL="2197100" indent="0" algn="ctr">
              <a:buNone/>
              <a:defRPr sz="1900"/>
            </a:lvl5pPr>
            <a:lvl6pPr marL="2746375" indent="0" algn="ctr">
              <a:buNone/>
              <a:defRPr sz="1900"/>
            </a:lvl6pPr>
            <a:lvl7pPr marL="3295650" indent="0" algn="ctr">
              <a:buNone/>
              <a:defRPr sz="1900"/>
            </a:lvl7pPr>
            <a:lvl8pPr marL="3844925" indent="0" algn="ctr">
              <a:buNone/>
              <a:defRPr sz="1900"/>
            </a:lvl8pPr>
            <a:lvl9pPr marL="4394200" indent="0" algn="ctr">
              <a:buNone/>
              <a:defRPr sz="19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Placeholder Tanggal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Nomor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laceholder Tanggal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Nomor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621" y="1831241"/>
            <a:ext cx="10247233" cy="3055466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621" y="4915613"/>
            <a:ext cx="10247233" cy="1606798"/>
          </a:xfrm>
        </p:spPr>
        <p:txBody>
          <a:bodyPr/>
          <a:lstStyle>
            <a:lvl1pPr marL="0" indent="0">
              <a:buNone/>
              <a:defRPr sz="2900"/>
            </a:lvl1pPr>
            <a:lvl2pPr marL="549275" indent="0">
              <a:buNone/>
              <a:defRPr sz="2400"/>
            </a:lvl2pPr>
            <a:lvl3pPr marL="1098550" indent="0">
              <a:buNone/>
              <a:defRPr sz="2200"/>
            </a:lvl3pPr>
            <a:lvl4pPr marL="1647825" indent="0">
              <a:buNone/>
              <a:defRPr sz="1900"/>
            </a:lvl4pPr>
            <a:lvl5pPr marL="2197100" indent="0">
              <a:buNone/>
              <a:defRPr sz="1900"/>
            </a:lvl5pPr>
            <a:lvl6pPr marL="2746375" indent="0">
              <a:buNone/>
              <a:defRPr sz="1900"/>
            </a:lvl6pPr>
            <a:lvl7pPr marL="3295650" indent="0">
              <a:buNone/>
              <a:defRPr sz="1900"/>
            </a:lvl7pPr>
            <a:lvl8pPr marL="3844925" indent="0">
              <a:buNone/>
              <a:defRPr sz="1900"/>
            </a:lvl8pPr>
            <a:lvl9pPr marL="4394200" indent="0">
              <a:buNone/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Placeholder Tanggal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Nomor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043" y="1713919"/>
            <a:ext cx="5247375" cy="4847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39432" y="1713919"/>
            <a:ext cx="5247375" cy="4847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laceholder Tanggal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Foo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Placeholder Nomor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872" y="391073"/>
            <a:ext cx="10247233" cy="141976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873" y="1800635"/>
            <a:ext cx="5026671" cy="88246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9275" indent="0">
              <a:buNone/>
              <a:defRPr sz="2400" b="1"/>
            </a:lvl2pPr>
            <a:lvl3pPr marL="1098550" indent="0">
              <a:buNone/>
              <a:defRPr sz="2200" b="1"/>
            </a:lvl3pPr>
            <a:lvl4pPr marL="1647825" indent="0">
              <a:buNone/>
              <a:defRPr sz="1900" b="1"/>
            </a:lvl4pPr>
            <a:lvl5pPr marL="2197100" indent="0">
              <a:buNone/>
              <a:defRPr sz="1900" b="1"/>
            </a:lvl5pPr>
            <a:lvl6pPr marL="2746375" indent="0">
              <a:buNone/>
              <a:defRPr sz="1900" b="1"/>
            </a:lvl6pPr>
            <a:lvl7pPr marL="3295650" indent="0">
              <a:buNone/>
              <a:defRPr sz="1900" b="1"/>
            </a:lvl7pPr>
            <a:lvl8pPr marL="3844925" indent="0">
              <a:buNone/>
              <a:defRPr sz="1900" b="1"/>
            </a:lvl8pPr>
            <a:lvl9pPr marL="4394200" indent="0">
              <a:buNone/>
              <a:defRPr sz="1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873" y="2683098"/>
            <a:ext cx="5026671" cy="39464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14680" y="1800635"/>
            <a:ext cx="5051425" cy="88246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9275" indent="0">
              <a:buNone/>
              <a:defRPr sz="2400" b="1"/>
            </a:lvl2pPr>
            <a:lvl3pPr marL="1098550" indent="0">
              <a:buNone/>
              <a:defRPr sz="2200" b="1"/>
            </a:lvl3pPr>
            <a:lvl4pPr marL="1647825" indent="0">
              <a:buNone/>
              <a:defRPr sz="1900" b="1"/>
            </a:lvl4pPr>
            <a:lvl5pPr marL="2197100" indent="0">
              <a:buNone/>
              <a:defRPr sz="1900" b="1"/>
            </a:lvl5pPr>
            <a:lvl6pPr marL="2746375" indent="0">
              <a:buNone/>
              <a:defRPr sz="1900" b="1"/>
            </a:lvl6pPr>
            <a:lvl7pPr marL="3295650" indent="0">
              <a:buNone/>
              <a:defRPr sz="1900" b="1"/>
            </a:lvl7pPr>
            <a:lvl8pPr marL="3844925" indent="0">
              <a:buNone/>
              <a:defRPr sz="1900" b="1"/>
            </a:lvl8pPr>
            <a:lvl9pPr marL="4394200" indent="0">
              <a:buNone/>
              <a:defRPr sz="1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14680" y="2683098"/>
            <a:ext cx="5051425" cy="39464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laceholder Tanggal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Placeholder Foo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Placeholder Nomor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laceholder Tanggal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Placeholder Foo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Nomor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Tanggal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" name="Placeholder Foo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Placeholder Nomor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872" y="489691"/>
            <a:ext cx="3832399" cy="1713918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1425" y="1057597"/>
            <a:ext cx="6014680" cy="5219969"/>
          </a:xfrm>
        </p:spPr>
        <p:txBody>
          <a:bodyPr/>
          <a:lstStyle>
            <a:lvl1pPr>
              <a:defRPr sz="3800"/>
            </a:lvl1pPr>
            <a:lvl2pPr>
              <a:defRPr sz="3400"/>
            </a:lvl2pPr>
            <a:lvl3pPr>
              <a:defRPr sz="29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872" y="2203609"/>
            <a:ext cx="3832399" cy="4082458"/>
          </a:xfrm>
        </p:spPr>
        <p:txBody>
          <a:bodyPr/>
          <a:lstStyle>
            <a:lvl1pPr marL="0" indent="0">
              <a:buNone/>
              <a:defRPr sz="1900"/>
            </a:lvl1pPr>
            <a:lvl2pPr marL="549275" indent="0">
              <a:buNone/>
              <a:defRPr sz="1700"/>
            </a:lvl2pPr>
            <a:lvl3pPr marL="1098550" indent="0">
              <a:buNone/>
              <a:defRPr sz="1400"/>
            </a:lvl3pPr>
            <a:lvl4pPr marL="1647825" indent="0">
              <a:buNone/>
              <a:defRPr sz="1200"/>
            </a:lvl4pPr>
            <a:lvl5pPr marL="2197100" indent="0">
              <a:buNone/>
              <a:defRPr sz="1200"/>
            </a:lvl5pPr>
            <a:lvl6pPr marL="2746375" indent="0">
              <a:buNone/>
              <a:defRPr sz="1200"/>
            </a:lvl6pPr>
            <a:lvl7pPr marL="3295650" indent="0">
              <a:buNone/>
              <a:defRPr sz="1200"/>
            </a:lvl7pPr>
            <a:lvl8pPr marL="3844925" indent="0">
              <a:buNone/>
              <a:defRPr sz="1200"/>
            </a:lvl8pPr>
            <a:lvl9pPr marL="439420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laceholder Tanggal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Foo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Placeholder Nomor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872" y="489691"/>
            <a:ext cx="3832399" cy="1713918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051425" y="1057597"/>
            <a:ext cx="6014680" cy="5219969"/>
          </a:xfrm>
        </p:spPr>
        <p:txBody>
          <a:bodyPr vert="horz" wrap="square" lIns="109856" tIns="54928" rIns="109856" bIns="54928" numCol="1" anchor="t" anchorCtr="0" compatLnSpc="1"/>
          <a:lstStyle>
            <a:lvl1pPr marL="0" indent="0">
              <a:buNone/>
              <a:defRPr sz="3800"/>
            </a:lvl1pPr>
            <a:lvl2pPr marL="549275" indent="0">
              <a:buNone/>
              <a:defRPr sz="3400"/>
            </a:lvl2pPr>
            <a:lvl3pPr marL="1098550" indent="0">
              <a:buNone/>
              <a:defRPr sz="2900"/>
            </a:lvl3pPr>
            <a:lvl4pPr marL="1647825" indent="0">
              <a:buNone/>
              <a:defRPr sz="2400"/>
            </a:lvl4pPr>
            <a:lvl5pPr marL="2197100" indent="0">
              <a:buNone/>
              <a:defRPr sz="2400"/>
            </a:lvl5pPr>
            <a:lvl6pPr marL="2746375" indent="0">
              <a:buNone/>
              <a:defRPr sz="2400"/>
            </a:lvl6pPr>
            <a:lvl7pPr marL="3295650" indent="0">
              <a:buNone/>
              <a:defRPr sz="2400"/>
            </a:lvl7pPr>
            <a:lvl8pPr marL="3844925" indent="0">
              <a:buNone/>
              <a:defRPr sz="2400"/>
            </a:lvl8pPr>
            <a:lvl9pPr marL="4394200" indent="0">
              <a:buNone/>
              <a:defRPr sz="24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872" y="2203609"/>
            <a:ext cx="3832399" cy="4082458"/>
          </a:xfrm>
        </p:spPr>
        <p:txBody>
          <a:bodyPr/>
          <a:lstStyle>
            <a:lvl1pPr marL="0" indent="0">
              <a:buNone/>
              <a:defRPr sz="1900"/>
            </a:lvl1pPr>
            <a:lvl2pPr marL="549275" indent="0">
              <a:buNone/>
              <a:defRPr sz="1700"/>
            </a:lvl2pPr>
            <a:lvl3pPr marL="1098550" indent="0">
              <a:buNone/>
              <a:defRPr sz="1400"/>
            </a:lvl3pPr>
            <a:lvl4pPr marL="1647825" indent="0">
              <a:buNone/>
              <a:defRPr sz="1200"/>
            </a:lvl4pPr>
            <a:lvl5pPr marL="2197100" indent="0">
              <a:buNone/>
              <a:defRPr sz="1200"/>
            </a:lvl5pPr>
            <a:lvl6pPr marL="2746375" indent="0">
              <a:buNone/>
              <a:defRPr sz="1200"/>
            </a:lvl6pPr>
            <a:lvl7pPr marL="3295650" indent="0">
              <a:buNone/>
              <a:defRPr sz="1200"/>
            </a:lvl7pPr>
            <a:lvl8pPr marL="3844925" indent="0">
              <a:buNone/>
              <a:defRPr sz="1200"/>
            </a:lvl8pPr>
            <a:lvl9pPr marL="439420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laceholder Tanggal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Foo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Placeholder Nomor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laceholder Tanggal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Nomor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13616" y="294156"/>
            <a:ext cx="2673191" cy="62673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042" y="294156"/>
            <a:ext cx="7821560" cy="62673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laceholder Tanggal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Placeholder Nomor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594043" y="294156"/>
            <a:ext cx="10692765" cy="6267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laceholder Tanggal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Placeholder Foo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Placeholder Nomor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593725" y="293688"/>
            <a:ext cx="10693400" cy="1223962"/>
          </a:xfrm>
          <a:prstGeom prst="rect">
            <a:avLst/>
          </a:prstGeom>
          <a:noFill/>
          <a:ln w="9525">
            <a:noFill/>
          </a:ln>
        </p:spPr>
        <p:txBody>
          <a:bodyPr lIns="109856" tIns="54928" rIns="109856" bIns="54928" anchor="ctr" anchorCtr="0"/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 idx="1"/>
          </p:nvPr>
        </p:nvSpPr>
        <p:spPr>
          <a:xfrm>
            <a:off x="593725" y="1714500"/>
            <a:ext cx="10693400" cy="4846638"/>
          </a:xfrm>
          <a:prstGeom prst="rect">
            <a:avLst/>
          </a:prstGeom>
          <a:noFill/>
          <a:ln w="9525">
            <a:noFill/>
          </a:ln>
        </p:spPr>
        <p:txBody>
          <a:bodyPr lIns="109856" tIns="54928" rIns="109856" bIns="54928"/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93725" y="6689725"/>
            <a:ext cx="2771775" cy="5095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9856" tIns="54928" rIns="109856" bIns="54928" numCol="1" anchor="t" anchorCtr="0" compatLnSpc="1"/>
          <a:lstStyle>
            <a:lvl1pPr eaLnBrk="1" hangingPunct="1">
              <a:defRPr sz="1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59238" y="6689725"/>
            <a:ext cx="3762375" cy="5095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9856" tIns="54928" rIns="109856" bIns="54928" numCol="1" anchor="t" anchorCtr="0" compatLnSpc="1"/>
          <a:lstStyle>
            <a:lvl1pPr algn="ctr" eaLnBrk="1" hangingPunct="1">
              <a:defRPr sz="1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17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15350" y="6689725"/>
            <a:ext cx="2771775" cy="5095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9856" tIns="54928" rIns="109856" bIns="54928" numCol="1" anchor="t" anchorCtr="0" compatLnSpc="1"/>
          <a:lstStyle>
            <a:lvl1pPr algn="r">
              <a:defRPr sz="1700"/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US" altLang="en-US" dirty="0">
                <a:latin typeface="Arial" panose="020B0604020202020204" pitchFamily="34" charset="0"/>
              </a:rPr>
              <a:t>‹#›</a:t>
            </a:fld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53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549275" algn="ctr" rtl="0" fontAlgn="base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1098550" algn="ctr" rtl="0" fontAlgn="base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647825" algn="ctr" rtl="0" fontAlgn="base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2197100" algn="ctr" rtl="0" fontAlgn="base">
        <a:spcBef>
          <a:spcPct val="0"/>
        </a:spcBef>
        <a:spcAft>
          <a:spcPct val="0"/>
        </a:spcAft>
        <a:defRPr sz="5300">
          <a:solidFill>
            <a:schemeClr val="tx2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411480" indent="-411480" algn="l" rtl="0" eaLnBrk="0" fontAlgn="base" hangingPunct="0">
        <a:spcBef>
          <a:spcPct val="20000"/>
        </a:spcBef>
        <a:spcAft>
          <a:spcPct val="0"/>
        </a:spcAft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92175" indent="-342900" algn="l" rtl="0" eaLnBrk="0" fontAlgn="base" hangingPunct="0">
        <a:spcBef>
          <a:spcPct val="20000"/>
        </a:spcBef>
        <a:spcAft>
          <a:spcPct val="0"/>
        </a:spcAft>
        <a:buChar char="–"/>
        <a:defRPr sz="3400" kern="1200">
          <a:solidFill>
            <a:schemeClr val="tx1"/>
          </a:solidFill>
          <a:latin typeface="+mn-lt"/>
          <a:ea typeface="+mn-ea"/>
          <a:cs typeface="+mn-cs"/>
        </a:defRPr>
      </a:lvl2pPr>
      <a:lvl3pPr marL="1373505" indent="-274955" algn="l" rtl="0" eaLnBrk="0" fontAlgn="base" hangingPunct="0">
        <a:spcBef>
          <a:spcPct val="20000"/>
        </a:spcBef>
        <a:spcAft>
          <a:spcPct val="0"/>
        </a:spcAft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1922780" indent="-274955" algn="l" rtl="0" eaLnBrk="0" fontAlgn="base" hangingPunct="0">
        <a:spcBef>
          <a:spcPct val="20000"/>
        </a:spcBef>
        <a:spcAft>
          <a:spcPct val="0"/>
        </a:spcAft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72055" indent="-274955" algn="l" rtl="0" eaLnBrk="0" fontAlgn="base" hangingPunct="0">
        <a:spcBef>
          <a:spcPct val="20000"/>
        </a:spcBef>
        <a:spcAft>
          <a:spcPct val="0"/>
        </a:spcAft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21330" indent="-274955" algn="l" defTabSz="109855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570605" indent="-274955" algn="l" defTabSz="109855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4119880" indent="-274955" algn="l" defTabSz="109855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669155" indent="-274955" algn="l" defTabSz="109855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49275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098550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47825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197100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46375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95650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844925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394200" algn="l" defTabSz="109855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notesSlide" Target="../notesSlides/notesSlide2.xml"/><Relationship Id="rId7" Type="http://schemas.openxmlformats.org/officeDocument/2006/relationships/slide" Target="slide6.xml"/><Relationship Id="rId12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slide" Target="slide5.xml"/><Relationship Id="rId11" Type="http://schemas.openxmlformats.org/officeDocument/2006/relationships/slide" Target="slide10.xml"/><Relationship Id="rId5" Type="http://schemas.openxmlformats.org/officeDocument/2006/relationships/slide" Target="slide4.xml"/><Relationship Id="rId10" Type="http://schemas.openxmlformats.org/officeDocument/2006/relationships/slide" Target="slide11.xml"/><Relationship Id="rId4" Type="http://schemas.openxmlformats.org/officeDocument/2006/relationships/slide" Target="slide3.xml"/><Relationship Id="rId9" Type="http://schemas.openxmlformats.org/officeDocument/2006/relationships/slide" Target="slide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slide" Target="slide2.xml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7.jpeg"/><Relationship Id="rId7" Type="http://schemas.openxmlformats.org/officeDocument/2006/relationships/image" Target="../media/image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 Same Side Corner Rectangle 10"/>
          <p:cNvSpPr/>
          <p:nvPr/>
        </p:nvSpPr>
        <p:spPr>
          <a:xfrm rot="5400000">
            <a:off x="3934619" y="-2434431"/>
            <a:ext cx="1239838" cy="910907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51" name="Title 1"/>
          <p:cNvSpPr>
            <a:spLocks noGrp="1"/>
          </p:cNvSpPr>
          <p:nvPr>
            <p:ph type="ctrTitle"/>
          </p:nvPr>
        </p:nvSpPr>
        <p:spPr>
          <a:xfrm>
            <a:off x="168275" y="1749425"/>
            <a:ext cx="8772525" cy="700088"/>
          </a:xfrm>
          <a:ln/>
        </p:spPr>
        <p:txBody>
          <a:bodyPr vert="horz" wrap="square" lIns="109856" tIns="54928" rIns="109856" bIns="54928" anchor="b" anchorCtr="0"/>
          <a:lstStyle/>
          <a:p>
            <a:pPr algn="l">
              <a:buClrTx/>
              <a:buSzTx/>
              <a:buFontTx/>
              <a:buNone/>
            </a:pPr>
            <a:r>
              <a:rPr lang="en-GB" altLang="x-none" sz="3600" b="1" kern="1200" dirty="0">
                <a:solidFill>
                  <a:srgbClr val="FFFF99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Problem Analysis &amp; Countermeasure Report</a:t>
            </a:r>
            <a:endParaRPr lang="en-GB" altLang="x-none" sz="3600" b="1" kern="1200" dirty="0">
              <a:solidFill>
                <a:srgbClr val="FFFF99"/>
              </a:solid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</p:txBody>
      </p:sp>
      <p:sp>
        <p:nvSpPr>
          <p:cNvPr id="2052" name="TextBox 2"/>
          <p:cNvSpPr txBox="1"/>
          <p:nvPr/>
        </p:nvSpPr>
        <p:spPr>
          <a:xfrm>
            <a:off x="768350" y="3090863"/>
            <a:ext cx="7723188" cy="163004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buNone/>
            </a:pPr>
            <a:r>
              <a:rPr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Problem 		: </a:t>
            </a:r>
            <a:r>
              <a:rPr lang="id-ID"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Shortmold</a:t>
            </a:r>
            <a:endParaRPr sz="2000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Subcontractor Name	:</a:t>
            </a:r>
            <a:r>
              <a:rPr lang="id-ID"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endParaRPr sz="2000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Part No			: </a:t>
            </a:r>
            <a:r>
              <a:rPr lang="id-ID"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ZP5128</a:t>
            </a:r>
            <a:endParaRPr sz="2000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Part Name		: </a:t>
            </a:r>
            <a:r>
              <a:rPr lang="id-ID"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Dummy Plug</a:t>
            </a:r>
            <a:endParaRPr sz="2000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sz="2000" b="1" dirty="0">
                <a:latin typeface="Arial" panose="020B0604020202020204" pitchFamily="34" charset="0"/>
                <a:cs typeface="Times New Roman" panose="02020603050405020304" pitchFamily="18" charset="0"/>
              </a:rPr>
              <a:t>Report Revision No.	: 00</a:t>
            </a:r>
            <a:endParaRPr sz="2000" b="1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018797"/>
              </p:ext>
            </p:extLst>
          </p:nvPr>
        </p:nvGraphicFramePr>
        <p:xfrm>
          <a:off x="7018338" y="4711700"/>
          <a:ext cx="4327917" cy="2259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2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107">
                <a:tc gridSpan="3">
                  <a:txBody>
                    <a:bodyPr/>
                    <a:lstStyle/>
                    <a:p>
                      <a:pPr algn="l"/>
                      <a:r>
                        <a:rPr lang="en-US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Reporting Date:</a:t>
                      </a: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10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Approved</a:t>
                      </a: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Checked</a:t>
                      </a: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Prepared</a:t>
                      </a: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5145">
                <a:tc>
                  <a:txBody>
                    <a:bodyPr/>
                    <a:lstStyle/>
                    <a:p>
                      <a:pPr algn="ctr"/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247">
                <a:tc>
                  <a:txBody>
                    <a:bodyPr/>
                    <a:lstStyle/>
                    <a:p>
                      <a:pPr algn="ctr"/>
                      <a:r>
                        <a:rPr lang="id-ID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Dwi L</a:t>
                      </a:r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Cahya S</a:t>
                      </a:r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700" b="0" dirty="0">
                          <a:solidFill>
                            <a:schemeClr val="tx1"/>
                          </a:solidFill>
                          <a:latin typeface="+mn-lt"/>
                        </a:rPr>
                        <a:t>Rizki A</a:t>
                      </a:r>
                      <a:endParaRPr lang="en-US" sz="17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89106" marR="89106" marT="48969" marB="4896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237EE550-2545-6003-E239-07CEC9072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8838" y="5464175"/>
            <a:ext cx="1192212" cy="1131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499C78-FA57-7D89-1B3A-4A0A650CD4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5713" y="5364163"/>
            <a:ext cx="914400" cy="1062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5B6A89-4923-78BA-7592-50A2D30A8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75" y="5561013"/>
            <a:ext cx="1511300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/>
          <p:nvPr/>
        </p:nvSpPr>
        <p:spPr>
          <a:xfrm>
            <a:off x="0" y="-3175"/>
            <a:ext cx="11880850" cy="81597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en-US" altLang="en-US" sz="2200" dirty="0">
              <a:solidFill>
                <a:srgbClr val="000000"/>
              </a:solidFill>
            </a:endParaRPr>
          </a:p>
        </p:txBody>
      </p:sp>
      <p:sp>
        <p:nvSpPr>
          <p:cNvPr id="68" name="Rectangle 2"/>
          <p:cNvSpPr>
            <a:spLocks noChangeArrowheads="1"/>
          </p:cNvSpPr>
          <p:nvPr/>
        </p:nvSpPr>
        <p:spPr bwMode="auto">
          <a:xfrm>
            <a:off x="0" y="0"/>
            <a:ext cx="7540625" cy="225425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Problem Analysis &amp; </a:t>
            </a:r>
            <a:r>
              <a:rPr kumimoji="0" lang="en-US" alt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Counstermeasure</a:t>
            </a: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Report</a:t>
            </a:r>
          </a:p>
        </p:txBody>
      </p:sp>
      <p:graphicFrame>
        <p:nvGraphicFramePr>
          <p:cNvPr id="6" name="Group 194"/>
          <p:cNvGraphicFramePr>
            <a:graphicFrameLocks noGrp="1"/>
          </p:cNvGraphicFramePr>
          <p:nvPr/>
        </p:nvGraphicFramePr>
        <p:xfrm>
          <a:off x="74613" y="1550988"/>
          <a:ext cx="6348412" cy="2071687"/>
        </p:xfrm>
        <a:graphic>
          <a:graphicData uri="http://schemas.openxmlformats.org/drawingml/2006/table">
            <a:tbl>
              <a:tblPr/>
              <a:tblGrid>
                <a:gridCol w="6348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7168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13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16930" marR="116930" marT="50078" marB="50078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567501"/>
              </p:ext>
            </p:extLst>
          </p:nvPr>
        </p:nvGraphicFramePr>
        <p:xfrm>
          <a:off x="74613" y="292100"/>
          <a:ext cx="11757025" cy="1173163"/>
        </p:xfrm>
        <a:graphic>
          <a:graphicData uri="http://schemas.openxmlformats.org/drawingml/2006/table">
            <a:tbl>
              <a:tblPr/>
              <a:tblGrid>
                <a:gridCol w="349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8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8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22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632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847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58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85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6739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Level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Part Name/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Part Number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Detect Problem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Place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Subject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Total NG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Total Suspect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11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40" marR="116940" marT="50047" marB="5004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Others</a:t>
                      </a:r>
                    </a:p>
                  </a:txBody>
                  <a:tcPr marL="116940" marR="116940" marT="50047" marB="5004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Unicode MS" pitchFamily="34" charset="-128"/>
                        <a:ea typeface="Arial Unicode MS" pitchFamily="34" charset="-128"/>
                        <a:cs typeface="Arial Unicode MS" pitchFamily="34" charset="-128"/>
                      </a:endParaRPr>
                    </a:p>
                  </a:txBody>
                  <a:tcPr marL="116940" marR="116940" marT="50047" marB="5004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Part Name :</a:t>
                      </a: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 Dummy Plug</a:t>
                      </a:r>
                      <a:endParaRPr lang="en-US" sz="1100" b="0" dirty="0"/>
                    </a:p>
                  </a:txBody>
                  <a:tcPr marL="59405" marR="59405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id-ID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Shortmold</a:t>
                      </a:r>
                      <a:endParaRPr kumimoji="0" lang="en-US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40" marR="116940" marT="50047" marB="5004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id-ID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Dharma</a:t>
                      </a:r>
                      <a:endParaRPr kumimoji="0" lang="en-US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40" marR="116940" marT="50047" marB="5004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SSA</a:t>
                      </a: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16940" marR="116940" marT="50057" marB="50057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     -</a:t>
                      </a:r>
                      <a:endParaRPr kumimoji="0" lang="en-US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Unicode MS" pitchFamily="34" charset="-128"/>
                        <a:ea typeface="Arial Unicode MS" pitchFamily="34" charset="-128"/>
                        <a:cs typeface="Arial Unicode MS" pitchFamily="34" charset="-128"/>
                      </a:endParaRPr>
                    </a:p>
                  </a:txBody>
                  <a:tcPr marL="116940" marR="116940" marT="50086" marB="50086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40" marR="116940" marT="50086" marB="50086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defTabSz="457200">
                        <a:spcBef>
                          <a:spcPct val="20000"/>
                        </a:spcBef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defTabSz="4572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40" marR="116940" marT="50086" marB="50086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328"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en-US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Part No : </a:t>
                      </a: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ZP5128</a:t>
                      </a:r>
                      <a:endParaRPr lang="en-US" sz="1100" b="0" dirty="0"/>
                    </a:p>
                  </a:txBody>
                  <a:tcPr marL="59405" marR="59405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328"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2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Supplier :</a:t>
                      </a: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 SSA</a:t>
                      </a:r>
                      <a:endParaRPr kumimoji="0" lang="en-US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9405" marR="59405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Group 61"/>
          <p:cNvGraphicFramePr>
            <a:graphicFrameLocks noGrp="1"/>
          </p:cNvGraphicFramePr>
          <p:nvPr/>
        </p:nvGraphicFramePr>
        <p:xfrm>
          <a:off x="74613" y="6019800"/>
          <a:ext cx="6346825" cy="1277938"/>
        </p:xfrm>
        <a:graphic>
          <a:graphicData uri="http://schemas.openxmlformats.org/drawingml/2006/table">
            <a:tbl>
              <a:tblPr/>
              <a:tblGrid>
                <a:gridCol w="1030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22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238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Self Assessment</a:t>
                      </a:r>
                      <a:r>
                        <a:rPr kumimoji="0" lang="en-US" altLang="en-US" sz="9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C0C0C0"/>
                            </a:outerShdw>
                          </a:effectLst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Date:</a:t>
                      </a: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Requirement for complete data evidence reporting </a:t>
                      </a: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Approved</a:t>
                      </a: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Checked</a:t>
                      </a: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C0C0C0"/>
                          </a:outerShdw>
                        </a:effectLst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546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C0C0C0"/>
                          </a:outerShdw>
                        </a:effectLst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C0C0C0"/>
                          </a:outerShdw>
                        </a:effectLst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C0C0C0"/>
                          </a:outerShdw>
                        </a:effectLst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325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9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C0C0C0"/>
                          </a:outerShdw>
                        </a:effectLst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9405" marR="59405" marT="48943" marB="48943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38" name="Tabel 3137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1759803"/>
              </p:ext>
            </p:extLst>
          </p:nvPr>
        </p:nvGraphicFramePr>
        <p:xfrm>
          <a:off x="74930" y="3575050"/>
          <a:ext cx="6336030" cy="4117975"/>
        </p:xfrm>
        <a:graphic>
          <a:graphicData uri="http://schemas.openxmlformats.org/drawingml/2006/table">
            <a:tbl>
              <a:tblPr/>
              <a:tblGrid>
                <a:gridCol w="3168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8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815">
                <a:tc gridSpan="2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</a:defRPr>
                      </a:lvl1pPr>
                      <a:lvl2pPr marL="549275" lvl="1" indent="-9207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098550" lvl="2" indent="-1841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47825" lvl="3" indent="-27622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197100" lvl="4" indent="-3683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defTabSz="457200" eaLnBrk="1" hangingPunct="1">
                        <a:lnSpc>
                          <a:spcPct val="108000"/>
                        </a:lnSpc>
                        <a:spcBef>
                          <a:spcPts val="275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altLang="en-US" sz="1200" b="1" dirty="0">
                          <a:solidFill>
                            <a:srgbClr val="D9D9D9"/>
                          </a:solidFill>
                          <a:latin typeface="Trebuchet MS" panose="020B0603020202020204" pitchFamily="34" charset="0"/>
                        </a:rPr>
                        <a:t>ROOT CAUSE ANALYSIS </a:t>
                      </a:r>
                    </a:p>
                  </a:txBody>
                  <a:tcPr marL="116943" marR="116943" marT="50081" marB="50081" anchor="ctr">
                    <a:lnL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>
                    <a:lnR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016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</a:defRPr>
                      </a:lvl1pPr>
                      <a:lvl2pPr marL="549275" lvl="1" indent="-9207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098550" lvl="2" indent="-1841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47825" lvl="3" indent="-27622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197100" lvl="4" indent="-3683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buChar char="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altLang="en-US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en-US" sz="13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Why Make: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altLang="en-US" sz="1300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 </a:t>
                      </a:r>
                      <a:r>
                        <a:rPr lang="en-US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</a:t>
                      </a: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1: Pada saat proses curring material tidak memenuhi seluruh flow cavity yang ada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W2: Ada bagian plow cavity yang masih terdapat kotoran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W3: Operator tidak konsisten membersihkan mold menggunakan air gun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W4: Ketersediaan kran air gun di produksi kurang</a:t>
                      </a:r>
                      <a:endParaRPr lang="id-ID" altLang="en-US" sz="1000" b="1" u="sng" dirty="0">
                        <a:latin typeface="Calibri" panose="020F0502020204030204" pitchFamily="34" charset="0"/>
                        <a:cs typeface="Calibri" panose="020F0502020204030204" pitchFamily="34" charset="0"/>
                        <a:sym typeface="+mn-ea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0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0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0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3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altLang="en-US" sz="13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altLang="en-US" sz="1300" b="1" u="sng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500" b="1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116943" marR="116943" marT="50081" marB="50081">
                    <a:lnL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</a:defRPr>
                      </a:lvl1pPr>
                      <a:lvl2pPr marL="549275" lvl="1" indent="-9207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098550" lvl="2" indent="-1841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47825" lvl="3" indent="-276225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197100" lvl="4" indent="-3683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Font typeface="Wingdings" panose="05000000000000000000" pitchFamily="2" charset="2"/>
                        <a:buChar char="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altLang="en-US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en-US" sz="13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Why Loose: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 </a:t>
                      </a:r>
                      <a:r>
                        <a:rPr lang="en-US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</a:t>
                      </a: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1: IPQC tidak melihat adanya shortmold pada part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W2: IPQC tidak melakukan pengecheckan secara 100% secara terus-menerus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W3: Pengechekan 100% dilakukan awal dan akhir sebanyak 1 shoot full , dan part dalam kondisi OK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W4: Selanjutnya IPQC hanya melakukan patrol  pengecheckan secara sampling 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id-ID" altLang="en-US" sz="1000" b="1" u="sng" dirty="0">
                          <a:latin typeface="Calibri" panose="020F0502020204030204" pitchFamily="34" charset="0"/>
                          <a:cs typeface="Calibri" panose="020F0502020204030204" pitchFamily="34" charset="0"/>
                          <a:sym typeface="+mn-ea"/>
                        </a:rPr>
                        <a:t>W5: Belum adanya standard terkait frekuensi terkait pengecheckan secara sampling</a:t>
                      </a: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id-ID" altLang="en-US" sz="1500" b="1" u="sng" dirty="0">
                        <a:latin typeface="Calibri" panose="020F0502020204030204" pitchFamily="34" charset="0"/>
                        <a:cs typeface="Calibri" panose="020F0502020204030204" pitchFamily="34" charset="0"/>
                        <a:sym typeface="+mn-ea"/>
                      </a:endParaRPr>
                    </a:p>
                    <a:p>
                      <a:pPr lvl="0" defTabSz="457200" eaLnBrk="1" hangingPunct="1">
                        <a:lnSpc>
                          <a:spcPct val="108000"/>
                        </a:lnSpc>
                        <a:spcBef>
                          <a:spcPts val="200"/>
                        </a:spcBef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lang="en-US" altLang="ja-JP" sz="1500" b="1" dirty="0">
                        <a:latin typeface="Calibri" panose="020F0502020204030204" pitchFamily="34" charset="0"/>
                        <a:ea typeface="MS PGothic" panose="020B0600070205080204" pitchFamily="34" charset="-128"/>
                      </a:endParaRPr>
                    </a:p>
                  </a:txBody>
                  <a:tcPr marL="116943" marR="116943" marT="50081" marB="50081">
                    <a:lnL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Group 182"/>
          <p:cNvGraphicFramePr>
            <a:graphicFrameLocks noGrp="1"/>
          </p:cNvGraphicFramePr>
          <p:nvPr/>
        </p:nvGraphicFramePr>
        <p:xfrm>
          <a:off x="6500813" y="5286375"/>
          <a:ext cx="5281612" cy="2011363"/>
        </p:xfrm>
        <a:graphic>
          <a:graphicData uri="http://schemas.openxmlformats.org/drawingml/2006/table">
            <a:tbl>
              <a:tblPr/>
              <a:tblGrid>
                <a:gridCol w="2625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64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78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7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CAUSES 5 PRICIPLE:</a:t>
                      </a:r>
                    </a:p>
                  </a:txBody>
                  <a:tcPr marL="116957" marR="116957" marT="50114" marB="50114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7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CAUSES ZENSHU RYOHIN (STEP):</a:t>
                      </a:r>
                    </a:p>
                  </a:txBody>
                  <a:tcPr marL="116957" marR="116957" marT="50114" marB="50114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85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57" marR="116957" marT="50114" marB="50114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en-US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57" marR="116957" marT="50114" marB="50114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Rectangle 124"/>
          <p:cNvSpPr>
            <a:spLocks noChangeArrowheads="1"/>
          </p:cNvSpPr>
          <p:nvPr/>
        </p:nvSpPr>
        <p:spPr bwMode="auto">
          <a:xfrm>
            <a:off x="6554788" y="5781675"/>
            <a:ext cx="100013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2" name="Rectangle 125"/>
          <p:cNvSpPr>
            <a:spLocks noChangeArrowheads="1"/>
          </p:cNvSpPr>
          <p:nvPr/>
        </p:nvSpPr>
        <p:spPr bwMode="auto">
          <a:xfrm>
            <a:off x="6542088" y="6061075"/>
            <a:ext cx="100013" cy="825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3" name="Rectangle 126"/>
          <p:cNvSpPr>
            <a:spLocks noChangeArrowheads="1"/>
          </p:cNvSpPr>
          <p:nvPr/>
        </p:nvSpPr>
        <p:spPr bwMode="auto">
          <a:xfrm>
            <a:off x="6542088" y="6345238"/>
            <a:ext cx="100013" cy="825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4" name="Rectangle 127"/>
          <p:cNvSpPr>
            <a:spLocks noChangeArrowheads="1"/>
          </p:cNvSpPr>
          <p:nvPr/>
        </p:nvSpPr>
        <p:spPr bwMode="auto">
          <a:xfrm>
            <a:off x="6554788" y="6753225"/>
            <a:ext cx="100013" cy="825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5" name="Rectangle 128"/>
          <p:cNvSpPr>
            <a:spLocks noChangeArrowheads="1"/>
          </p:cNvSpPr>
          <p:nvPr/>
        </p:nvSpPr>
        <p:spPr bwMode="auto">
          <a:xfrm>
            <a:off x="6554788" y="6978650"/>
            <a:ext cx="100013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6" name="Text Box 129"/>
          <p:cNvSpPr txBox="1">
            <a:spLocks noChangeArrowheads="1"/>
          </p:cNvSpPr>
          <p:nvPr/>
        </p:nvSpPr>
        <p:spPr bwMode="auto">
          <a:xfrm>
            <a:off x="6604000" y="5689600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MSK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(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Mematuhi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Standard 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Kerja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)</a:t>
            </a:r>
          </a:p>
        </p:txBody>
      </p:sp>
      <p:sp>
        <p:nvSpPr>
          <p:cNvPr id="17" name="Text Box 130"/>
          <p:cNvSpPr txBox="1">
            <a:spLocks noChangeArrowheads="1"/>
          </p:cNvSpPr>
          <p:nvPr/>
        </p:nvSpPr>
        <p:spPr bwMode="auto">
          <a:xfrm>
            <a:off x="6592888" y="5973763"/>
            <a:ext cx="2857500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KT     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(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Kerja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Tuntas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)</a:t>
            </a:r>
          </a:p>
        </p:txBody>
      </p:sp>
      <p:sp>
        <p:nvSpPr>
          <p:cNvPr id="18" name="Text Box 131"/>
          <p:cNvSpPr txBox="1">
            <a:spLocks noChangeArrowheads="1"/>
          </p:cNvSpPr>
          <p:nvPr/>
        </p:nvSpPr>
        <p:spPr bwMode="auto">
          <a:xfrm>
            <a:off x="6592888" y="6246813"/>
            <a:ext cx="2970213" cy="481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L="482600" marR="0" indent="-48260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PSSP 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(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Pemisaham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  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Sebelum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/ 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Sesudah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Proses)</a:t>
            </a:r>
            <a:endParaRPr kumimoji="1" lang="en-US" altLang="en-US" sz="1200" b="1" kern="1200" cap="none" spc="0" normalizeH="0" baseline="0" noProof="0" dirty="0">
              <a:solidFill>
                <a:prstClr val="black"/>
              </a:solidFill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9" name="Text Box 132"/>
          <p:cNvSpPr txBox="1">
            <a:spLocks noChangeArrowheads="1"/>
          </p:cNvSpPr>
          <p:nvPr/>
        </p:nvSpPr>
        <p:spPr bwMode="auto">
          <a:xfrm>
            <a:off x="6604000" y="6669088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PPN  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(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Penanganan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Part NG)</a:t>
            </a:r>
            <a:endParaRPr kumimoji="1" lang="en-US" altLang="en-US" sz="1200" b="1" kern="1200" cap="none" spc="0" normalizeH="0" baseline="0" noProof="0" dirty="0">
              <a:solidFill>
                <a:prstClr val="black"/>
              </a:solidFill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20" name="Text Box 133"/>
          <p:cNvSpPr txBox="1">
            <a:spLocks noChangeArrowheads="1"/>
          </p:cNvSpPr>
          <p:nvPr/>
        </p:nvSpPr>
        <p:spPr bwMode="auto">
          <a:xfrm>
            <a:off x="6592888" y="6889750"/>
            <a:ext cx="2857500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KAO  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(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Kontrol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</a:t>
            </a:r>
            <a:r>
              <a:rPr kumimoji="1" lang="en-US" altLang="en-US" sz="12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Awal</a:t>
            </a: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Operator)</a:t>
            </a:r>
            <a:endParaRPr kumimoji="1" lang="en-US" altLang="en-US" sz="1200" b="1" kern="1200" cap="none" spc="0" normalizeH="0" baseline="0" noProof="0" dirty="0">
              <a:solidFill>
                <a:prstClr val="black"/>
              </a:solidFill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21" name="Rectangle 134"/>
          <p:cNvSpPr>
            <a:spLocks noChangeArrowheads="1"/>
          </p:cNvSpPr>
          <p:nvPr/>
        </p:nvSpPr>
        <p:spPr bwMode="auto">
          <a:xfrm>
            <a:off x="9191625" y="5815013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22" name="Text Box 135"/>
          <p:cNvSpPr txBox="1">
            <a:spLocks noChangeArrowheads="1"/>
          </p:cNvSpPr>
          <p:nvPr/>
        </p:nvSpPr>
        <p:spPr bwMode="auto">
          <a:xfrm>
            <a:off x="9240838" y="5719763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1. Step 1: </a:t>
            </a:r>
            <a:r>
              <a:rPr kumimoji="1" lang="en-US" altLang="en-US" sz="11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Review Drawing</a:t>
            </a:r>
          </a:p>
        </p:txBody>
      </p:sp>
      <p:sp>
        <p:nvSpPr>
          <p:cNvPr id="23" name="Text Box 136"/>
          <p:cNvSpPr txBox="1">
            <a:spLocks noChangeArrowheads="1"/>
          </p:cNvSpPr>
          <p:nvPr/>
        </p:nvSpPr>
        <p:spPr bwMode="auto">
          <a:xfrm>
            <a:off x="9240838" y="5915025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2. Step 2: </a:t>
            </a:r>
            <a:r>
              <a:rPr kumimoji="1" lang="en-US" altLang="en-US" sz="11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Explain PQR</a:t>
            </a:r>
          </a:p>
        </p:txBody>
      </p:sp>
      <p:sp>
        <p:nvSpPr>
          <p:cNvPr id="24" name="Text Box 137"/>
          <p:cNvSpPr txBox="1">
            <a:spLocks noChangeArrowheads="1"/>
          </p:cNvSpPr>
          <p:nvPr/>
        </p:nvSpPr>
        <p:spPr bwMode="auto">
          <a:xfrm>
            <a:off x="9240838" y="6172200"/>
            <a:ext cx="2859088" cy="4254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3. Step 3: </a:t>
            </a:r>
            <a:r>
              <a:rPr kumimoji="1" lang="en-US" altLang="en-US" sz="10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Design Process (QCPC, Insp </a:t>
            </a:r>
          </a:p>
          <a:p>
            <a:pPr marR="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0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                    STD, ABCD table, </a:t>
            </a:r>
            <a:r>
              <a:rPr kumimoji="1" lang="en-US" altLang="en-US" sz="10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dll</a:t>
            </a:r>
            <a:r>
              <a:rPr kumimoji="1" lang="en-US" altLang="en-US" sz="10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)</a:t>
            </a:r>
          </a:p>
        </p:txBody>
      </p:sp>
      <p:sp>
        <p:nvSpPr>
          <p:cNvPr id="25" name="Text Box 138"/>
          <p:cNvSpPr txBox="1">
            <a:spLocks noChangeArrowheads="1"/>
          </p:cNvSpPr>
          <p:nvPr/>
        </p:nvSpPr>
        <p:spPr bwMode="auto">
          <a:xfrm>
            <a:off x="9240838" y="6438900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4. Step 4: </a:t>
            </a:r>
            <a:r>
              <a:rPr kumimoji="1" lang="en-US" altLang="en-US" sz="11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N1 &amp; N5</a:t>
            </a:r>
          </a:p>
        </p:txBody>
      </p:sp>
      <p:sp>
        <p:nvSpPr>
          <p:cNvPr id="26" name="Text Box 139"/>
          <p:cNvSpPr txBox="1">
            <a:spLocks noChangeArrowheads="1"/>
          </p:cNvSpPr>
          <p:nvPr/>
        </p:nvSpPr>
        <p:spPr bwMode="auto">
          <a:xfrm>
            <a:off x="9240838" y="6643688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5. Step 5: </a:t>
            </a:r>
            <a:r>
              <a:rPr kumimoji="1" lang="en-US" altLang="en-US" sz="12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N100</a:t>
            </a:r>
          </a:p>
        </p:txBody>
      </p:sp>
      <p:sp>
        <p:nvSpPr>
          <p:cNvPr id="27" name="Text Box 140"/>
          <p:cNvSpPr txBox="1">
            <a:spLocks noChangeArrowheads="1"/>
          </p:cNvSpPr>
          <p:nvPr/>
        </p:nvSpPr>
        <p:spPr bwMode="auto">
          <a:xfrm>
            <a:off x="9240838" y="6858000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6. Step 6: </a:t>
            </a:r>
            <a:r>
              <a:rPr kumimoji="1" lang="en-US" altLang="en-US" sz="12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N1000</a:t>
            </a:r>
          </a:p>
        </p:txBody>
      </p:sp>
      <p:sp>
        <p:nvSpPr>
          <p:cNvPr id="28" name="Text Box 141"/>
          <p:cNvSpPr txBox="1">
            <a:spLocks noChangeArrowheads="1"/>
          </p:cNvSpPr>
          <p:nvPr/>
        </p:nvSpPr>
        <p:spPr bwMode="auto">
          <a:xfrm>
            <a:off x="9240838" y="7072313"/>
            <a:ext cx="285908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b="1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7. Step 7: </a:t>
            </a:r>
            <a:r>
              <a:rPr kumimoji="1" lang="en-US" altLang="en-US" sz="1200" kern="1200" cap="none" spc="0" normalizeH="0" baseline="0" noProof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N10000</a:t>
            </a:r>
          </a:p>
        </p:txBody>
      </p:sp>
      <p:sp>
        <p:nvSpPr>
          <p:cNvPr id="29" name="Rectangle 142"/>
          <p:cNvSpPr>
            <a:spLocks noChangeArrowheads="1"/>
          </p:cNvSpPr>
          <p:nvPr/>
        </p:nvSpPr>
        <p:spPr bwMode="auto">
          <a:xfrm>
            <a:off x="9191625" y="5999163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0" name="Rectangle 143"/>
          <p:cNvSpPr>
            <a:spLocks noChangeArrowheads="1"/>
          </p:cNvSpPr>
          <p:nvPr/>
        </p:nvSpPr>
        <p:spPr bwMode="auto">
          <a:xfrm>
            <a:off x="9191625" y="6213475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1" name="Rectangle 144"/>
          <p:cNvSpPr>
            <a:spLocks noChangeArrowheads="1"/>
          </p:cNvSpPr>
          <p:nvPr/>
        </p:nvSpPr>
        <p:spPr bwMode="auto">
          <a:xfrm>
            <a:off x="9191625" y="6521450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2" name="Rectangle 145"/>
          <p:cNvSpPr>
            <a:spLocks noChangeArrowheads="1"/>
          </p:cNvSpPr>
          <p:nvPr/>
        </p:nvSpPr>
        <p:spPr bwMode="auto">
          <a:xfrm>
            <a:off x="9191625" y="6715125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3" name="Rectangle 146"/>
          <p:cNvSpPr>
            <a:spLocks noChangeArrowheads="1"/>
          </p:cNvSpPr>
          <p:nvPr/>
        </p:nvSpPr>
        <p:spPr bwMode="auto">
          <a:xfrm>
            <a:off x="9204325" y="6938963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4" name="Rectangle 147"/>
          <p:cNvSpPr>
            <a:spLocks noChangeArrowheads="1"/>
          </p:cNvSpPr>
          <p:nvPr/>
        </p:nvSpPr>
        <p:spPr bwMode="auto">
          <a:xfrm>
            <a:off x="9191625" y="7143750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7" name="Rectangle 150"/>
          <p:cNvSpPr>
            <a:spLocks noChangeArrowheads="1"/>
          </p:cNvSpPr>
          <p:nvPr/>
        </p:nvSpPr>
        <p:spPr bwMode="auto">
          <a:xfrm>
            <a:off x="7831138" y="47625"/>
            <a:ext cx="198438" cy="16351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8" name="Rectangle 151"/>
          <p:cNvSpPr>
            <a:spLocks noChangeArrowheads="1"/>
          </p:cNvSpPr>
          <p:nvPr/>
        </p:nvSpPr>
        <p:spPr bwMode="auto">
          <a:xfrm>
            <a:off x="8442325" y="63500"/>
            <a:ext cx="198438" cy="161925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39" name="Text Box 152"/>
          <p:cNvSpPr txBox="1">
            <a:spLocks noChangeArrowheads="1"/>
          </p:cNvSpPr>
          <p:nvPr/>
        </p:nvSpPr>
        <p:spPr bwMode="auto">
          <a:xfrm>
            <a:off x="8574088" y="19050"/>
            <a:ext cx="685800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Repeat</a:t>
            </a:r>
          </a:p>
        </p:txBody>
      </p:sp>
      <p:sp>
        <p:nvSpPr>
          <p:cNvPr id="40" name="Text Box 153"/>
          <p:cNvSpPr txBox="1">
            <a:spLocks noChangeArrowheads="1"/>
          </p:cNvSpPr>
          <p:nvPr/>
        </p:nvSpPr>
        <p:spPr bwMode="auto">
          <a:xfrm>
            <a:off x="7947025" y="6350"/>
            <a:ext cx="503238" cy="2952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en-US" sz="12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New</a:t>
            </a:r>
          </a:p>
        </p:txBody>
      </p:sp>
      <p:sp>
        <p:nvSpPr>
          <p:cNvPr id="41" name="Text Box 155"/>
          <p:cNvSpPr txBox="1">
            <a:spLocks noChangeArrowheads="1"/>
          </p:cNvSpPr>
          <p:nvPr/>
        </p:nvSpPr>
        <p:spPr bwMode="auto">
          <a:xfrm>
            <a:off x="2322513" y="6289675"/>
            <a:ext cx="3502025" cy="10398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109856" tIns="54928" rIns="109856" bIns="54928">
            <a:spAutoFit/>
          </a:bodyPr>
          <a:lstStyle/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Why </a:t>
            </a:r>
            <a:r>
              <a:rPr kumimoji="1" lang="en-US" altLang="en-US" sz="9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why</a:t>
            </a: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analysis problem</a:t>
            </a:r>
          </a:p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Countermeasure major evidence</a:t>
            </a:r>
          </a:p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Pass Inspection major evidence</a:t>
            </a:r>
          </a:p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Yokotenkai</a:t>
            </a: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detail </a:t>
            </a:r>
          </a:p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Saihatsu</a:t>
            </a: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</a:t>
            </a:r>
            <a:r>
              <a:rPr kumimoji="1" lang="en-US" altLang="en-US" sz="900" kern="1200" cap="none" spc="0" normalizeH="0" baseline="0" noProof="0" dirty="0" err="1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Boushi</a:t>
            </a: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 evidence (Procedure/Flow job)</a:t>
            </a:r>
          </a:p>
          <a:p>
            <a:pPr marL="137160" marR="0" indent="-137160" defTabSz="914400" eaLnBrk="1" fontAlgn="auto" hangingPunct="1">
              <a:lnSpc>
                <a:spcPct val="7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AutoNum type="arabicPeriod"/>
              <a:defRPr/>
            </a:pPr>
            <a:r>
              <a:rPr kumimoji="1" lang="en-US" altLang="en-US" sz="900" kern="1200" cap="none" spc="0" normalizeH="0" baseline="0" noProof="0" dirty="0">
                <a:solidFill>
                  <a:prstClr val="black"/>
                </a:solidFill>
                <a:latin typeface="Franklin Gothic Book" panose="020B0503020102020204"/>
                <a:ea typeface="+mn-ea"/>
                <a:cs typeface="+mn-cs"/>
              </a:rPr>
              <a:t>NG/Defect 2 times reason</a:t>
            </a:r>
          </a:p>
        </p:txBody>
      </p:sp>
      <p:sp>
        <p:nvSpPr>
          <p:cNvPr id="42" name="Rectangle 156"/>
          <p:cNvSpPr>
            <a:spLocks noChangeArrowheads="1"/>
          </p:cNvSpPr>
          <p:nvPr/>
        </p:nvSpPr>
        <p:spPr bwMode="auto">
          <a:xfrm>
            <a:off x="6151563" y="6342063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3" name="Rectangle 157"/>
          <p:cNvSpPr>
            <a:spLocks noChangeArrowheads="1"/>
          </p:cNvSpPr>
          <p:nvPr/>
        </p:nvSpPr>
        <p:spPr bwMode="auto">
          <a:xfrm>
            <a:off x="6151563" y="6484938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4" name="Rectangle 158"/>
          <p:cNvSpPr>
            <a:spLocks noChangeArrowheads="1"/>
          </p:cNvSpPr>
          <p:nvPr/>
        </p:nvSpPr>
        <p:spPr bwMode="auto">
          <a:xfrm>
            <a:off x="6151563" y="6637338"/>
            <a:ext cx="98425" cy="825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5" name="Rectangle 159"/>
          <p:cNvSpPr>
            <a:spLocks noChangeArrowheads="1"/>
          </p:cNvSpPr>
          <p:nvPr/>
        </p:nvSpPr>
        <p:spPr bwMode="auto">
          <a:xfrm>
            <a:off x="6151563" y="6791325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6" name="Rectangle 160"/>
          <p:cNvSpPr>
            <a:spLocks noChangeArrowheads="1"/>
          </p:cNvSpPr>
          <p:nvPr/>
        </p:nvSpPr>
        <p:spPr bwMode="auto">
          <a:xfrm>
            <a:off x="6151563" y="6954838"/>
            <a:ext cx="98425" cy="80963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7" name="Rectangle 161"/>
          <p:cNvSpPr>
            <a:spLocks noChangeArrowheads="1"/>
          </p:cNvSpPr>
          <p:nvPr/>
        </p:nvSpPr>
        <p:spPr bwMode="auto">
          <a:xfrm>
            <a:off x="6151563" y="7116763"/>
            <a:ext cx="98425" cy="825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en-US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49" name="Text Box 184"/>
          <p:cNvSpPr txBox="1">
            <a:spLocks noChangeArrowheads="1"/>
          </p:cNvSpPr>
          <p:nvPr/>
        </p:nvSpPr>
        <p:spPr bwMode="auto">
          <a:xfrm>
            <a:off x="49213" y="917575"/>
            <a:ext cx="495300" cy="3937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109856" tIns="54928" rIns="109856" bIns="54928">
            <a:spAutoFit/>
          </a:bodyPr>
          <a:lstStyle/>
          <a:p>
            <a:pPr marR="0" defTabSz="914400" eaLnBrk="1" fontAlgn="auto" hangingPunct="1"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b="1" kern="1200" cap="none" spc="0" normalizeH="0" baseline="0" noProof="0" dirty="0">
                <a:solidFill>
                  <a:srgbClr val="FF0000"/>
                </a:solidFill>
                <a:latin typeface="Arial Black" panose="020B0A04020102020204" pitchFamily="34" charset="0"/>
                <a:ea typeface="+mn-ea"/>
                <a:cs typeface="+mn-cs"/>
                <a:sym typeface="Wingdings" panose="05000000000000000000" pitchFamily="2" charset="2"/>
              </a:rPr>
              <a:t></a:t>
            </a:r>
            <a:endParaRPr kumimoji="0" lang="en-US" b="1" kern="1200" cap="none" spc="0" normalizeH="0" baseline="0" noProof="0" dirty="0">
              <a:solidFill>
                <a:srgbClr val="FF0000"/>
              </a:solidFill>
              <a:latin typeface="Arial Black" panose="020B0A04020102020204" pitchFamily="34" charset="0"/>
              <a:ea typeface="+mn-ea"/>
              <a:cs typeface="+mn-cs"/>
            </a:endParaRPr>
          </a:p>
        </p:txBody>
      </p:sp>
      <p:graphicFrame>
        <p:nvGraphicFramePr>
          <p:cNvPr id="54" name="Group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630392"/>
              </p:ext>
            </p:extLst>
          </p:nvPr>
        </p:nvGraphicFramePr>
        <p:xfrm>
          <a:off x="6477000" y="1544638"/>
          <a:ext cx="5354638" cy="1981200"/>
        </p:xfrm>
        <a:graphic>
          <a:graphicData uri="http://schemas.openxmlformats.org/drawingml/2006/table">
            <a:tbl>
              <a:tblPr/>
              <a:tblGrid>
                <a:gridCol w="26782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6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7792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COUNTERMEASURE</a:t>
                      </a:r>
                    </a:p>
                  </a:txBody>
                  <a:tcPr marL="116945" marR="116945" marT="50050" marB="5005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d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340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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sz="13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kumimoji="0" lang="en-US" sz="13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Why Make: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id-ID" altLang="en-US" sz="13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342900" marR="0" lvl="0" indent="-34290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AutoNum type="arabicPeriod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altLang="en-US" sz="13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 edukasi operator terkait penggunaan air gun</a:t>
                      </a:r>
                    </a:p>
                    <a:p>
                      <a:pPr marL="342900" marR="0" lvl="0" indent="-34290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AutoNum type="arabicPeriod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altLang="en-US" sz="13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Penambahan kran air gun</a:t>
                      </a:r>
                    </a:p>
                  </a:txBody>
                  <a:tcPr marL="116945" marR="116945" marT="50050" marB="5005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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sz="13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kumimoji="0" lang="en-US" sz="13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Why Loose: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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endParaRPr kumimoji="0" lang="id-ID" sz="1300" b="1" i="0" u="sng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sz="1300" b="0" i="0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 Penambahan point pada checksheet IPQC, check sampling  sebanyak 1 jam sekali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id-ID" sz="1300" b="0" i="0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 Edukasi IPQC terkait checksheet pengecheckan secara sampling</a:t>
                      </a:r>
                    </a:p>
                  </a:txBody>
                  <a:tcPr marL="116945" marR="116945" marT="50050" marB="5005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5" name="Group 1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830044"/>
              </p:ext>
            </p:extLst>
          </p:nvPr>
        </p:nvGraphicFramePr>
        <p:xfrm>
          <a:off x="6496050" y="3575050"/>
          <a:ext cx="5286375" cy="2953594"/>
        </p:xfrm>
        <a:graphic>
          <a:graphicData uri="http://schemas.openxmlformats.org/drawingml/2006/table">
            <a:tbl>
              <a:tblPr/>
              <a:tblGrid>
                <a:gridCol w="26375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8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0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7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YOKOTENKEI</a:t>
                      </a:r>
                    </a:p>
                  </a:txBody>
                  <a:tcPr marL="116917" marR="116917" marT="50168" marB="50168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75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kumimoji="0" lang="en-US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D9D9D9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TINDAKAN PENCEGAHAN</a:t>
                      </a:r>
                    </a:p>
                  </a:txBody>
                  <a:tcPr marL="116917" marR="116917" marT="50168" marB="50168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36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576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228600" marR="0" lvl="0" indent="-22860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rebuchet MS" panose="020B0603020202020204" pitchFamily="34" charset="0"/>
                          <a:cs typeface="Arial" panose="020B0604020202020204" pitchFamily="34" charset="0"/>
                        </a:rPr>
                        <a:t>Pengadaan air gun di masing-masing mesin</a:t>
                      </a:r>
                    </a:p>
                  </a:txBody>
                  <a:tcPr marL="116917" marR="116917" marT="50168" marB="50168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Franklin Gothic Book" panose="020B0503020102020204"/>
                        </a:defRPr>
                      </a:lvl9pPr>
                    </a:lstStyle>
                    <a:p>
                      <a:pPr marL="228600" marR="0" lvl="0" indent="-22860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  <a:cs typeface="Arial" panose="020B0604020202020204" pitchFamily="34" charset="0"/>
                        </a:rPr>
                        <a:t>Re edukasi IK terkait penggunaan air gun setiap 1 shoot sekali</a:t>
                      </a:r>
                    </a:p>
                    <a:p>
                      <a:pPr marL="228600" marR="0" lvl="0" indent="-22860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r>
                        <a:rPr kumimoji="0" lang="id-ID" altLang="en-US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ranklin Gothic Book" panose="020B0503020102020204" pitchFamily="34" charset="0"/>
                          <a:cs typeface="Arial" panose="020B0604020202020204" pitchFamily="34" charset="0"/>
                        </a:rPr>
                        <a:t>Edukasi IPQC adanya tambahan point check pengechekan sampling 1 jam sekali</a:t>
                      </a:r>
                    </a:p>
                  </a:txBody>
                  <a:tcPr marL="116917" marR="116917" marT="50168" marB="50168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5769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8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endParaRPr kumimoji="0" lang="id-ID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rebuchet MS" panose="020B0603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17" marR="116917" marT="50168" marB="50168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ts val="250"/>
                        </a:spcBef>
                        <a:spcAft>
                          <a:spcPts val="30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  <a:defRPr/>
                      </a:pPr>
                      <a:endParaRPr kumimoji="0" lang="id-ID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anklin Gothic Book" panose="020B0503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116917" marR="116917" marT="50168" marB="50168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0470625"/>
                  </a:ext>
                </a:extLst>
              </a:tr>
            </a:tbl>
          </a:graphicData>
        </a:graphic>
      </p:graphicFrame>
      <p:sp>
        <p:nvSpPr>
          <p:cNvPr id="3216" name="AutoShape 253">
            <a:hlinkClick r:id="rId4" action="ppaction://hlinksldjump"/>
          </p:cNvPr>
          <p:cNvSpPr/>
          <p:nvPr/>
        </p:nvSpPr>
        <p:spPr>
          <a:xfrm>
            <a:off x="1983899" y="1698545"/>
            <a:ext cx="198438" cy="163513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17" name="Text Box 153"/>
          <p:cNvSpPr txBox="1"/>
          <p:nvPr/>
        </p:nvSpPr>
        <p:spPr>
          <a:xfrm>
            <a:off x="9305925" y="0"/>
            <a:ext cx="819150" cy="295275"/>
          </a:xfrm>
          <a:prstGeom prst="rect">
            <a:avLst/>
          </a:prstGeom>
          <a:noFill/>
          <a:ln w="9525">
            <a:noFill/>
          </a:ln>
        </p:spPr>
        <p:txBody>
          <a:bodyPr wrap="none" lIns="109856" tIns="54928" rIns="109856" bIns="54928">
            <a:sp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r>
              <a:rPr lang="en-US" altLang="en-US" sz="1200" dirty="0"/>
              <a:t>Doc No: </a:t>
            </a:r>
          </a:p>
        </p:txBody>
      </p:sp>
      <p:sp>
        <p:nvSpPr>
          <p:cNvPr id="3218" name="TextBox 50"/>
          <p:cNvSpPr txBox="1"/>
          <p:nvPr/>
        </p:nvSpPr>
        <p:spPr>
          <a:xfrm>
            <a:off x="44450" y="1973263"/>
            <a:ext cx="1704975" cy="327025"/>
          </a:xfrm>
          <a:prstGeom prst="rect">
            <a:avLst/>
          </a:prstGeom>
          <a:noFill/>
          <a:ln w="9525">
            <a:noFill/>
          </a:ln>
        </p:spPr>
        <p:txBody>
          <a:bodyPr lIns="109856" tIns="54928" rIns="109856" bIns="54928">
            <a:sp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71450" lvl="0" indent="-171450"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4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Temporary Action</a:t>
            </a:r>
          </a:p>
        </p:txBody>
      </p:sp>
      <p:sp>
        <p:nvSpPr>
          <p:cNvPr id="3219" name="AutoShape 253">
            <a:hlinkClick r:id="rId5" action="ppaction://hlinksldjump"/>
          </p:cNvPr>
          <p:cNvSpPr/>
          <p:nvPr/>
        </p:nvSpPr>
        <p:spPr>
          <a:xfrm>
            <a:off x="1731963" y="2071688"/>
            <a:ext cx="198437" cy="161925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21" name="TextBox 50"/>
          <p:cNvSpPr txBox="1"/>
          <p:nvPr/>
        </p:nvSpPr>
        <p:spPr>
          <a:xfrm>
            <a:off x="38100" y="2430463"/>
            <a:ext cx="1254125" cy="327025"/>
          </a:xfrm>
          <a:prstGeom prst="rect">
            <a:avLst/>
          </a:prstGeom>
          <a:noFill/>
          <a:ln w="9525">
            <a:noFill/>
          </a:ln>
        </p:spPr>
        <p:txBody>
          <a:bodyPr wrap="none" lIns="109856" tIns="54928" rIns="109856" bIns="54928">
            <a:sp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71450" lvl="0" indent="-171450"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4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Traceability</a:t>
            </a:r>
          </a:p>
        </p:txBody>
      </p:sp>
      <p:sp>
        <p:nvSpPr>
          <p:cNvPr id="3222" name="TextBox 50"/>
          <p:cNvSpPr txBox="1"/>
          <p:nvPr/>
        </p:nvSpPr>
        <p:spPr>
          <a:xfrm>
            <a:off x="50800" y="2909888"/>
            <a:ext cx="1393825" cy="327025"/>
          </a:xfrm>
          <a:prstGeom prst="rect">
            <a:avLst/>
          </a:prstGeom>
          <a:noFill/>
          <a:ln w="9525">
            <a:noFill/>
          </a:ln>
        </p:spPr>
        <p:txBody>
          <a:bodyPr wrap="none" lIns="109856" tIns="54928" rIns="109856" bIns="54928">
            <a:sp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71450" lvl="0" indent="-171450"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4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Flow Process</a:t>
            </a:r>
          </a:p>
        </p:txBody>
      </p:sp>
      <p:sp>
        <p:nvSpPr>
          <p:cNvPr id="3223" name="AutoShape 253">
            <a:hlinkClick r:id="rId6" action="ppaction://hlinksldjump"/>
          </p:cNvPr>
          <p:cNvSpPr/>
          <p:nvPr/>
        </p:nvSpPr>
        <p:spPr>
          <a:xfrm>
            <a:off x="1550988" y="2995613"/>
            <a:ext cx="198437" cy="165100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24" name="TextBox 50"/>
          <p:cNvSpPr txBox="1"/>
          <p:nvPr/>
        </p:nvSpPr>
        <p:spPr>
          <a:xfrm>
            <a:off x="50800" y="1587341"/>
            <a:ext cx="2003425" cy="327025"/>
          </a:xfrm>
          <a:prstGeom prst="rect">
            <a:avLst/>
          </a:prstGeom>
          <a:noFill/>
          <a:ln w="9525">
            <a:noFill/>
          </a:ln>
        </p:spPr>
        <p:txBody>
          <a:bodyPr wrap="square" lIns="109856" tIns="54928" rIns="109856" bIns="54928">
            <a:sp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71450" lvl="0" indent="-171450"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4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Phenomena Problem</a:t>
            </a:r>
          </a:p>
        </p:txBody>
      </p:sp>
      <p:sp>
        <p:nvSpPr>
          <p:cNvPr id="3226" name="AutoShape 253">
            <a:hlinkClick r:id="rId7" action="ppaction://hlinksldjump"/>
          </p:cNvPr>
          <p:cNvSpPr/>
          <p:nvPr/>
        </p:nvSpPr>
        <p:spPr>
          <a:xfrm>
            <a:off x="2859088" y="5624513"/>
            <a:ext cx="198437" cy="163512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27" name="AutoShape 253">
            <a:hlinkClick r:id="rId8" action="ppaction://hlinksldjump"/>
          </p:cNvPr>
          <p:cNvSpPr/>
          <p:nvPr/>
        </p:nvSpPr>
        <p:spPr>
          <a:xfrm>
            <a:off x="6057900" y="5664200"/>
            <a:ext cx="198438" cy="163513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28" name="AutoShape 253">
            <a:hlinkClick r:id="rId9" action="ppaction://hlinksldjump"/>
          </p:cNvPr>
          <p:cNvSpPr/>
          <p:nvPr/>
        </p:nvSpPr>
        <p:spPr>
          <a:xfrm>
            <a:off x="8834438" y="3230563"/>
            <a:ext cx="200025" cy="163512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29" name="AutoShape 253">
            <a:hlinkClick r:id="rId9" action="ppaction://hlinksldjump"/>
          </p:cNvPr>
          <p:cNvSpPr/>
          <p:nvPr/>
        </p:nvSpPr>
        <p:spPr>
          <a:xfrm>
            <a:off x="11426825" y="3236913"/>
            <a:ext cx="198438" cy="163512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30" name="AutoShape 253">
            <a:hlinkClick r:id="rId10" action="ppaction://hlinksldjump"/>
          </p:cNvPr>
          <p:cNvSpPr/>
          <p:nvPr/>
        </p:nvSpPr>
        <p:spPr>
          <a:xfrm>
            <a:off x="11434763" y="4967288"/>
            <a:ext cx="198437" cy="165100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3231" name="AutoShape 253">
            <a:hlinkClick r:id="rId11" action="ppaction://hlinksldjump"/>
          </p:cNvPr>
          <p:cNvSpPr/>
          <p:nvPr/>
        </p:nvSpPr>
        <p:spPr>
          <a:xfrm>
            <a:off x="8816975" y="4996179"/>
            <a:ext cx="200025" cy="163513"/>
          </a:xfrm>
          <a:prstGeom prst="actionButtonForwardNext">
            <a:avLst/>
          </a:prstGeom>
          <a:solidFill>
            <a:srgbClr val="FF9900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None/>
            </a:pPr>
            <a:endParaRPr lang="id-ID" altLang="id-ID" sz="2200" dirty="0"/>
          </a:p>
        </p:txBody>
      </p:sp>
      <p:sp>
        <p:nvSpPr>
          <p:cNvPr id="65" name="Content Placeholder 2"/>
          <p:cNvSpPr txBox="1"/>
          <p:nvPr/>
        </p:nvSpPr>
        <p:spPr>
          <a:xfrm>
            <a:off x="1139825" y="1462405"/>
            <a:ext cx="5360670" cy="2286000"/>
          </a:xfrm>
          <a:prstGeom prst="rect">
            <a:avLst/>
          </a:prstGeom>
        </p:spPr>
        <p:txBody>
          <a:bodyPr>
            <a:noAutofit/>
          </a:bodyPr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21330" indent="-274955" algn="l" defTabSz="109855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70605" indent="-274955" algn="l" defTabSz="109855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19880" indent="-274955" algn="l" defTabSz="109855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69155" indent="-274955" algn="l" defTabSz="109855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233" name="TextBox 1"/>
          <p:cNvSpPr txBox="1"/>
          <p:nvPr/>
        </p:nvSpPr>
        <p:spPr>
          <a:xfrm>
            <a:off x="7769225" y="-49212"/>
            <a:ext cx="311150" cy="36830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ID" altLang="x-none" dirty="0">
                <a:latin typeface="Arial" panose="020B0604020202020204" pitchFamily="34" charset="0"/>
              </a:rPr>
              <a:t>√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496050" y="5689600"/>
            <a:ext cx="205105" cy="19431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noAutofit/>
          </a:bodyPr>
          <a:lstStyle/>
          <a:p>
            <a:pPr algn="ctr"/>
            <a:r>
              <a:rPr lang="en-ID" altLang="x-none" sz="900" b="1" dirty="0">
                <a:latin typeface="Arial" panose="020B0604020202020204" pitchFamily="34" charset="0"/>
              </a:rPr>
              <a:t>√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6B3296-A45C-2770-5F84-3F6E871F4BE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8" t="9034" r="41662" b="8993"/>
          <a:stretch>
            <a:fillRect/>
          </a:stretch>
        </p:blipFill>
        <p:spPr>
          <a:xfrm>
            <a:off x="2509520" y="1719928"/>
            <a:ext cx="3695383" cy="1748094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Phenomena Problem</a:t>
            </a:r>
          </a:p>
        </p:txBody>
      </p:sp>
      <p:sp>
        <p:nvSpPr>
          <p:cNvPr id="4100" name="Content Placeholder 2"/>
          <p:cNvSpPr txBox="1"/>
          <p:nvPr/>
        </p:nvSpPr>
        <p:spPr>
          <a:xfrm>
            <a:off x="368300" y="623888"/>
            <a:ext cx="5648325" cy="2895600"/>
          </a:xfrm>
          <a:prstGeom prst="rect">
            <a:avLst/>
          </a:prstGeom>
          <a:noFill/>
          <a:ln w="9525">
            <a:noFill/>
          </a:ln>
        </p:spPr>
        <p:txBody>
          <a:bodyPr lIns="109856" tIns="54928" rIns="109856" bIns="54928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buNone/>
            </a:pPr>
            <a:r>
              <a:rPr sz="1400" dirty="0"/>
              <a:t>Problem Name	:</a:t>
            </a:r>
            <a:r>
              <a:rPr lang="id-ID" sz="1400" dirty="0"/>
              <a:t> Shortmold</a:t>
            </a:r>
            <a:r>
              <a:rPr sz="1400" dirty="0"/>
              <a:t> </a:t>
            </a:r>
          </a:p>
          <a:p>
            <a:pPr marL="0" lvl="0" indent="0">
              <a:buNone/>
            </a:pPr>
            <a:r>
              <a:rPr sz="1400" dirty="0"/>
              <a:t>Part No.		: </a:t>
            </a:r>
            <a:r>
              <a:rPr lang="id-ID" sz="1400" dirty="0"/>
              <a:t>ZP5128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Part Name		:</a:t>
            </a:r>
            <a:r>
              <a:rPr lang="id-ID" sz="1400" dirty="0"/>
              <a:t> Dummy Plug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Occurrence Date	: </a:t>
            </a:r>
            <a:r>
              <a:rPr lang="id-ID" sz="1400" dirty="0"/>
              <a:t>19 Pebruary 2026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Occurrence Place	:</a:t>
            </a:r>
            <a:r>
              <a:rPr lang="id-ID" sz="1400" dirty="0"/>
              <a:t> PT.DEM</a:t>
            </a:r>
            <a:r>
              <a:rPr sz="1400" dirty="0"/>
              <a:t> </a:t>
            </a:r>
          </a:p>
          <a:p>
            <a:pPr marL="0" lvl="0" indent="0">
              <a:buNone/>
            </a:pPr>
            <a:r>
              <a:rPr sz="1400" dirty="0"/>
              <a:t>Quantity NG	: </a:t>
            </a:r>
            <a:r>
              <a:rPr lang="id-ID" sz="1400" dirty="0"/>
              <a:t>-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Lot No.		:</a:t>
            </a:r>
            <a:r>
              <a:rPr lang="id-ID" sz="1400" dirty="0"/>
              <a:t> SSA/250525/EP503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Detail Phenomenom	:</a:t>
            </a:r>
            <a:r>
              <a:rPr lang="id-ID" sz="1400" dirty="0"/>
              <a:t> Ditemukan shortmold pada bagian 		   ulir/liangkar luar part</a:t>
            </a:r>
            <a:endParaRPr sz="1400" dirty="0"/>
          </a:p>
          <a:p>
            <a:pPr marL="0" lvl="0" indent="0">
              <a:buNone/>
            </a:pPr>
            <a:r>
              <a:rPr sz="1400" dirty="0"/>
              <a:t> </a:t>
            </a:r>
          </a:p>
        </p:txBody>
      </p:sp>
      <p:sp>
        <p:nvSpPr>
          <p:cNvPr id="4101" name="Content Placeholder 2"/>
          <p:cNvSpPr txBox="1"/>
          <p:nvPr/>
        </p:nvSpPr>
        <p:spPr>
          <a:xfrm>
            <a:off x="377825" y="3443288"/>
            <a:ext cx="4648200" cy="346075"/>
          </a:xfrm>
          <a:prstGeom prst="rect">
            <a:avLst/>
          </a:prstGeom>
          <a:noFill/>
          <a:ln w="9525">
            <a:noFill/>
          </a:ln>
        </p:spPr>
        <p:txBody>
          <a:bodyPr lIns="109856" tIns="54928" rIns="109856" bIns="54928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buNone/>
            </a:pPr>
            <a:r>
              <a:rPr sz="1800" dirty="0"/>
              <a:t>Sketch of Problem	:</a:t>
            </a:r>
          </a:p>
          <a:p>
            <a:pPr marL="0" lvl="0" indent="0">
              <a:buNone/>
            </a:pPr>
            <a:endParaRPr sz="1800" dirty="0"/>
          </a:p>
        </p:txBody>
      </p:sp>
      <p:sp>
        <p:nvSpPr>
          <p:cNvPr id="2" name="Action Button: Home 1">
            <a:hlinkClick r:id="rId2" action="ppaction://hlinksldjump" highlightClick="1"/>
          </p:cNvPr>
          <p:cNvSpPr/>
          <p:nvPr/>
        </p:nvSpPr>
        <p:spPr>
          <a:xfrm>
            <a:off x="6192838" y="6764338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B49D98-8CED-5B49-EA8E-AF75BE36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29"/>
          <a:stretch>
            <a:fillRect/>
          </a:stretch>
        </p:blipFill>
        <p:spPr>
          <a:xfrm>
            <a:off x="368300" y="3901281"/>
            <a:ext cx="3743325" cy="21246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3E49E0-F15A-1A62-97C7-890B78EE5387}"/>
              </a:ext>
            </a:extLst>
          </p:cNvPr>
          <p:cNvSpPr txBox="1"/>
          <p:nvPr/>
        </p:nvSpPr>
        <p:spPr>
          <a:xfrm>
            <a:off x="4116070" y="4530723"/>
            <a:ext cx="2743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dirty="0">
                <a:solidFill>
                  <a:srgbClr val="FFFFFF"/>
                </a:solidFill>
                <a:highlight>
                  <a:srgbClr val="FF0000"/>
                </a:highlight>
              </a:rPr>
              <a:t>Terdapat shortmold pada bagian ulir/lingkar luar part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D704BA-C509-1D4C-A330-5BE41523EBFA}"/>
              </a:ext>
            </a:extLst>
          </p:cNvPr>
          <p:cNvSpPr/>
          <p:nvPr/>
        </p:nvSpPr>
        <p:spPr>
          <a:xfrm rot="1910240">
            <a:off x="835025" y="5084763"/>
            <a:ext cx="762000" cy="680173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969520C-2C30-C2AF-2DCB-ECB7B831A0F9}"/>
              </a:ext>
            </a:extLst>
          </p:cNvPr>
          <p:cNvSpPr/>
          <p:nvPr/>
        </p:nvSpPr>
        <p:spPr>
          <a:xfrm rot="498526">
            <a:off x="2670972" y="5210614"/>
            <a:ext cx="762000" cy="57610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26BF35-5533-8BE5-237F-466C4E1D19F7}"/>
              </a:ext>
            </a:extLst>
          </p:cNvPr>
          <p:cNvSpPr txBox="1"/>
          <p:nvPr/>
        </p:nvSpPr>
        <p:spPr>
          <a:xfrm>
            <a:off x="1060449" y="5925941"/>
            <a:ext cx="838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400" dirty="0">
                <a:highlight>
                  <a:srgbClr val="00FF00"/>
                </a:highlight>
              </a:rPr>
              <a:t>OK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5A312C-81C6-5E52-2855-8696DF572EE9}"/>
              </a:ext>
            </a:extLst>
          </p:cNvPr>
          <p:cNvSpPr txBox="1"/>
          <p:nvPr/>
        </p:nvSpPr>
        <p:spPr>
          <a:xfrm>
            <a:off x="2773362" y="5941022"/>
            <a:ext cx="838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400" dirty="0">
                <a:solidFill>
                  <a:srgbClr val="000000"/>
                </a:solidFill>
                <a:highlight>
                  <a:srgbClr val="FF0000"/>
                </a:highlight>
              </a:rPr>
              <a:t>NG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85694E81-F2CB-EBFA-1173-7D9A3E079769}"/>
              </a:ext>
            </a:extLst>
          </p:cNvPr>
          <p:cNvSpPr/>
          <p:nvPr/>
        </p:nvSpPr>
        <p:spPr>
          <a:xfrm>
            <a:off x="6969125" y="4640451"/>
            <a:ext cx="900112" cy="7445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17211-2831-1B4E-27D7-22C7DDDADA43}"/>
              </a:ext>
            </a:extLst>
          </p:cNvPr>
          <p:cNvSpPr txBox="1"/>
          <p:nvPr/>
        </p:nvSpPr>
        <p:spPr>
          <a:xfrm>
            <a:off x="7902892" y="4495670"/>
            <a:ext cx="33670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dirty="0">
                <a:solidFill>
                  <a:srgbClr val="000000"/>
                </a:solidFill>
              </a:rPr>
              <a:t>Kurang konsisten pemakaian air gun untuk cleaning mold karena ,air gun terbatas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27902C-1712-318A-2DAD-DF06B9C18952}"/>
              </a:ext>
            </a:extLst>
          </p:cNvPr>
          <p:cNvSpPr/>
          <p:nvPr/>
        </p:nvSpPr>
        <p:spPr>
          <a:xfrm>
            <a:off x="7902892" y="4510881"/>
            <a:ext cx="3367088" cy="8741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1EF8F-939C-D1A6-77A4-520E331BB1F0}"/>
              </a:ext>
            </a:extLst>
          </p:cNvPr>
          <p:cNvSpPr/>
          <p:nvPr/>
        </p:nvSpPr>
        <p:spPr>
          <a:xfrm>
            <a:off x="4111625" y="4533150"/>
            <a:ext cx="2814955" cy="8741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>
            <a:extLst>
              <a:ext uri="{FF2B5EF4-FFF2-40B4-BE49-F238E27FC236}">
                <a16:creationId xmlns:a16="http://schemas.microsoft.com/office/drawing/2014/main" id="{2EF5FE6E-7E54-9FC3-6456-1E1AFEA02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eaLnBrk="1" hangingPunct="1">
              <a:defRPr/>
            </a:pP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Temporary Action</a:t>
            </a:r>
          </a:p>
        </p:txBody>
      </p:sp>
      <p:sp>
        <p:nvSpPr>
          <p:cNvPr id="4" name="Action Button: Home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CDE9098-7331-E3A8-DE6C-48FA3DF49DF3}"/>
              </a:ext>
            </a:extLst>
          </p:cNvPr>
          <p:cNvSpPr/>
          <p:nvPr/>
        </p:nvSpPr>
        <p:spPr>
          <a:xfrm>
            <a:off x="6192838" y="6764338"/>
            <a:ext cx="354012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2" name="Action Button: Home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85821F8C-A84B-8DD4-312F-735641755FFB}"/>
              </a:ext>
            </a:extLst>
          </p:cNvPr>
          <p:cNvSpPr/>
          <p:nvPr/>
        </p:nvSpPr>
        <p:spPr>
          <a:xfrm>
            <a:off x="6192838" y="6764338"/>
            <a:ext cx="354012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9229" name="TextBox 15">
            <a:extLst>
              <a:ext uri="{FF2B5EF4-FFF2-40B4-BE49-F238E27FC236}">
                <a16:creationId xmlns:a16="http://schemas.microsoft.com/office/drawing/2014/main" id="{DB7B7A98-0055-D48D-BFC8-C9F021D75C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" y="980992"/>
            <a:ext cx="10190141" cy="400050"/>
          </a:xfrm>
          <a:prstGeom prst="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d-ID" altLang="id-ID" sz="2000" dirty="0"/>
              <a:t>Dibuatkan Informasi Problem terkirimnya part shortmold dan disosialisasikan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837B9-3AFF-360D-3F5B-76ECB2B81C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7" t="4355" b="7468"/>
          <a:stretch>
            <a:fillRect/>
          </a:stretch>
        </p:blipFill>
        <p:spPr>
          <a:xfrm rot="16200000">
            <a:off x="1201138" y="1171371"/>
            <a:ext cx="3083001" cy="39624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233238-566A-EA34-231A-354DD840F6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271"/>
          <a:stretch>
            <a:fillRect/>
          </a:stretch>
        </p:blipFill>
        <p:spPr>
          <a:xfrm>
            <a:off x="5395733" y="1611071"/>
            <a:ext cx="5497692" cy="26720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79">
            <a:extLst>
              <a:ext uri="{FF2B5EF4-FFF2-40B4-BE49-F238E27FC236}">
                <a16:creationId xmlns:a16="http://schemas.microsoft.com/office/drawing/2014/main" id="{EF7DFDF2-5311-A557-CF83-5982AE76330C}"/>
              </a:ext>
            </a:extLst>
          </p:cNvPr>
          <p:cNvSpPr txBox="1"/>
          <p:nvPr/>
        </p:nvSpPr>
        <p:spPr bwMode="auto">
          <a:xfrm>
            <a:off x="10745788" y="657225"/>
            <a:ext cx="992187" cy="73818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id-ID" sz="1400" dirty="0"/>
              <a:t>Finish Good &amp; Delivery </a:t>
            </a:r>
          </a:p>
        </p:txBody>
      </p:sp>
      <p:sp>
        <p:nvSpPr>
          <p:cNvPr id="101" name="TextBox 102">
            <a:extLst>
              <a:ext uri="{FF2B5EF4-FFF2-40B4-BE49-F238E27FC236}">
                <a16:creationId xmlns:a16="http://schemas.microsoft.com/office/drawing/2014/main" id="{8D03CE0A-86FA-B51E-79E9-F0112F81A69C}"/>
              </a:ext>
            </a:extLst>
          </p:cNvPr>
          <p:cNvSpPr txBox="1"/>
          <p:nvPr/>
        </p:nvSpPr>
        <p:spPr bwMode="auto">
          <a:xfrm>
            <a:off x="4981575" y="779463"/>
            <a:ext cx="954088" cy="43021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dirty="0" err="1"/>
              <a:t>Curring</a:t>
            </a:r>
            <a:r>
              <a:rPr lang="en-US" dirty="0"/>
              <a:t> Production</a:t>
            </a:r>
            <a:endParaRPr lang="id-ID" dirty="0"/>
          </a:p>
        </p:txBody>
      </p:sp>
      <p:sp>
        <p:nvSpPr>
          <p:cNvPr id="102" name="TextBox 179">
            <a:extLst>
              <a:ext uri="{FF2B5EF4-FFF2-40B4-BE49-F238E27FC236}">
                <a16:creationId xmlns:a16="http://schemas.microsoft.com/office/drawing/2014/main" id="{2600B50E-AE26-797C-5914-986FEEBCCFAB}"/>
              </a:ext>
            </a:extLst>
          </p:cNvPr>
          <p:cNvSpPr txBox="1"/>
          <p:nvPr/>
        </p:nvSpPr>
        <p:spPr bwMode="auto">
          <a:xfrm>
            <a:off x="7927975" y="858838"/>
            <a:ext cx="1009650" cy="30797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id-ID" sz="1400" dirty="0"/>
              <a:t>Finishing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9009E36-2FCE-1059-D6F8-8CF823329BFA}"/>
              </a:ext>
            </a:extLst>
          </p:cNvPr>
          <p:cNvSpPr txBox="1"/>
          <p:nvPr/>
        </p:nvSpPr>
        <p:spPr bwMode="auto">
          <a:xfrm>
            <a:off x="1801813" y="801688"/>
            <a:ext cx="1019175" cy="261937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dirty="0" err="1"/>
              <a:t>Tes</a:t>
            </a:r>
            <a:r>
              <a:rPr lang="en-US" dirty="0"/>
              <a:t> Lab</a:t>
            </a:r>
            <a:endParaRPr lang="id-ID" dirty="0"/>
          </a:p>
        </p:txBody>
      </p:sp>
      <p:sp>
        <p:nvSpPr>
          <p:cNvPr id="114" name="TextBox 179">
            <a:extLst>
              <a:ext uri="{FF2B5EF4-FFF2-40B4-BE49-F238E27FC236}">
                <a16:creationId xmlns:a16="http://schemas.microsoft.com/office/drawing/2014/main" id="{F06269B7-4F53-3454-F020-FD422E2941EB}"/>
              </a:ext>
            </a:extLst>
          </p:cNvPr>
          <p:cNvSpPr txBox="1"/>
          <p:nvPr/>
        </p:nvSpPr>
        <p:spPr bwMode="auto">
          <a:xfrm>
            <a:off x="9405938" y="747713"/>
            <a:ext cx="1009650" cy="52387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id-ID" sz="1400" dirty="0"/>
              <a:t>Final </a:t>
            </a:r>
            <a:r>
              <a:rPr lang="en-US" sz="1400" dirty="0"/>
              <a:t>Inspection</a:t>
            </a:r>
            <a:endParaRPr lang="id-ID" sz="1400" dirty="0"/>
          </a:p>
        </p:txBody>
      </p:sp>
      <p:sp>
        <p:nvSpPr>
          <p:cNvPr id="116" name="TextBox 102">
            <a:extLst>
              <a:ext uri="{FF2B5EF4-FFF2-40B4-BE49-F238E27FC236}">
                <a16:creationId xmlns:a16="http://schemas.microsoft.com/office/drawing/2014/main" id="{1A46DF16-A4D9-0F07-5D1B-ADFAE73119C6}"/>
              </a:ext>
            </a:extLst>
          </p:cNvPr>
          <p:cNvSpPr txBox="1"/>
          <p:nvPr/>
        </p:nvSpPr>
        <p:spPr bwMode="auto">
          <a:xfrm>
            <a:off x="206375" y="790575"/>
            <a:ext cx="1157288" cy="261938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dirty="0"/>
              <a:t>Receiving</a:t>
            </a:r>
            <a:endParaRPr lang="id-ID" dirty="0"/>
          </a:p>
        </p:txBody>
      </p:sp>
      <p:sp>
        <p:nvSpPr>
          <p:cNvPr id="118" name="Right Arrow 117">
            <a:extLst>
              <a:ext uri="{FF2B5EF4-FFF2-40B4-BE49-F238E27FC236}">
                <a16:creationId xmlns:a16="http://schemas.microsoft.com/office/drawing/2014/main" id="{D8CBB1FA-EA24-2EB3-CD4A-4695BCC62170}"/>
              </a:ext>
            </a:extLst>
          </p:cNvPr>
          <p:cNvSpPr/>
          <p:nvPr/>
        </p:nvSpPr>
        <p:spPr bwMode="auto">
          <a:xfrm>
            <a:off x="1495425" y="750888"/>
            <a:ext cx="198438" cy="523875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2" name="Right Arrow 121">
            <a:extLst>
              <a:ext uri="{FF2B5EF4-FFF2-40B4-BE49-F238E27FC236}">
                <a16:creationId xmlns:a16="http://schemas.microsoft.com/office/drawing/2014/main" id="{A9312B8D-95CA-1844-8D55-E00552B9DF66}"/>
              </a:ext>
            </a:extLst>
          </p:cNvPr>
          <p:cNvSpPr/>
          <p:nvPr/>
        </p:nvSpPr>
        <p:spPr bwMode="auto">
          <a:xfrm>
            <a:off x="2949575" y="763588"/>
            <a:ext cx="200025" cy="523875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3" name="Right Arrow 122">
            <a:extLst>
              <a:ext uri="{FF2B5EF4-FFF2-40B4-BE49-F238E27FC236}">
                <a16:creationId xmlns:a16="http://schemas.microsoft.com/office/drawing/2014/main" id="{44C7EEDB-AFA5-4493-CC38-D281BC11CE20}"/>
              </a:ext>
            </a:extLst>
          </p:cNvPr>
          <p:cNvSpPr/>
          <p:nvPr/>
        </p:nvSpPr>
        <p:spPr bwMode="auto">
          <a:xfrm>
            <a:off x="4557713" y="763588"/>
            <a:ext cx="198437" cy="522287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4" name="Right Arrow 123">
            <a:extLst>
              <a:ext uri="{FF2B5EF4-FFF2-40B4-BE49-F238E27FC236}">
                <a16:creationId xmlns:a16="http://schemas.microsoft.com/office/drawing/2014/main" id="{AE82740D-27D2-405A-35AA-29A197C4D215}"/>
              </a:ext>
            </a:extLst>
          </p:cNvPr>
          <p:cNvSpPr/>
          <p:nvPr/>
        </p:nvSpPr>
        <p:spPr bwMode="auto">
          <a:xfrm>
            <a:off x="6107113" y="808038"/>
            <a:ext cx="198437" cy="522287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5" name="Right Arrow 124">
            <a:extLst>
              <a:ext uri="{FF2B5EF4-FFF2-40B4-BE49-F238E27FC236}">
                <a16:creationId xmlns:a16="http://schemas.microsoft.com/office/drawing/2014/main" id="{42D73D3A-C204-95BD-00AF-69AFC1890E05}"/>
              </a:ext>
            </a:extLst>
          </p:cNvPr>
          <p:cNvSpPr/>
          <p:nvPr/>
        </p:nvSpPr>
        <p:spPr bwMode="auto">
          <a:xfrm>
            <a:off x="7588250" y="806450"/>
            <a:ext cx="198438" cy="523875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6" name="Right Arrow 125">
            <a:extLst>
              <a:ext uri="{FF2B5EF4-FFF2-40B4-BE49-F238E27FC236}">
                <a16:creationId xmlns:a16="http://schemas.microsoft.com/office/drawing/2014/main" id="{8B2AE43B-E549-BC86-8FD2-710EF2E601BD}"/>
              </a:ext>
            </a:extLst>
          </p:cNvPr>
          <p:cNvSpPr/>
          <p:nvPr/>
        </p:nvSpPr>
        <p:spPr bwMode="auto">
          <a:xfrm>
            <a:off x="9064625" y="798513"/>
            <a:ext cx="198438" cy="523875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28" name="Right Arrow 127">
            <a:extLst>
              <a:ext uri="{FF2B5EF4-FFF2-40B4-BE49-F238E27FC236}">
                <a16:creationId xmlns:a16="http://schemas.microsoft.com/office/drawing/2014/main" id="{A244E704-3F47-B68C-93AC-2A3C1D6DF8CB}"/>
              </a:ext>
            </a:extLst>
          </p:cNvPr>
          <p:cNvSpPr/>
          <p:nvPr/>
        </p:nvSpPr>
        <p:spPr bwMode="auto">
          <a:xfrm>
            <a:off x="10491788" y="790575"/>
            <a:ext cx="200025" cy="522288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98E3B6-81E2-C415-0AC7-354D4D999402}"/>
              </a:ext>
            </a:extLst>
          </p:cNvPr>
          <p:cNvSpPr txBox="1"/>
          <p:nvPr/>
        </p:nvSpPr>
        <p:spPr bwMode="auto">
          <a:xfrm>
            <a:off x="3379788" y="785813"/>
            <a:ext cx="1019175" cy="43021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dirty="0"/>
              <a:t>Cutting Compound</a:t>
            </a:r>
            <a:endParaRPr lang="id-ID" dirty="0"/>
          </a:p>
        </p:txBody>
      </p:sp>
      <p:sp>
        <p:nvSpPr>
          <p:cNvPr id="22" name="TextBox 102">
            <a:extLst>
              <a:ext uri="{FF2B5EF4-FFF2-40B4-BE49-F238E27FC236}">
                <a16:creationId xmlns:a16="http://schemas.microsoft.com/office/drawing/2014/main" id="{11DFE3AC-A937-BB00-E7B9-F3EADFE9480D}"/>
              </a:ext>
            </a:extLst>
          </p:cNvPr>
          <p:cNvSpPr txBox="1"/>
          <p:nvPr/>
        </p:nvSpPr>
        <p:spPr bwMode="auto">
          <a:xfrm>
            <a:off x="6464300" y="798513"/>
            <a:ext cx="954088" cy="4318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dirty="0"/>
              <a:t>Storage WIP</a:t>
            </a:r>
            <a:endParaRPr lang="id-ID" dirty="0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8B3215C0-F066-E68F-17A5-3DE4ADAF38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eaLnBrk="1" hangingPunct="1">
              <a:defRPr/>
            </a:pPr>
            <a:r>
              <a:rPr lang="id-ID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Flow Process</a:t>
            </a: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1A6630-0C2B-E3F9-8DE3-59B7322B8B4C}"/>
              </a:ext>
            </a:extLst>
          </p:cNvPr>
          <p:cNvSpPr/>
          <p:nvPr/>
        </p:nvSpPr>
        <p:spPr>
          <a:xfrm>
            <a:off x="10860088" y="3678238"/>
            <a:ext cx="792162" cy="214312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ID" sz="1100" b="1" dirty="0">
                <a:solidFill>
                  <a:schemeClr val="tx1"/>
                </a:solidFill>
              </a:rPr>
              <a:t>JUDGE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6194201-6551-2C09-3F99-0F4F5CB45FCD}"/>
              </a:ext>
            </a:extLst>
          </p:cNvPr>
          <p:cNvSpPr/>
          <p:nvPr/>
        </p:nvSpPr>
        <p:spPr>
          <a:xfrm>
            <a:off x="10860088" y="3925888"/>
            <a:ext cx="792162" cy="5873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US" sz="1100" dirty="0">
                <a:solidFill>
                  <a:schemeClr val="tx1"/>
                </a:solidFill>
              </a:rPr>
              <a:t>OK</a:t>
            </a:r>
            <a:endParaRPr lang="en-ID" sz="1100" dirty="0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22C85E5-84AD-787D-8CBA-146E21D70AF3}"/>
              </a:ext>
            </a:extLst>
          </p:cNvPr>
          <p:cNvSpPr/>
          <p:nvPr/>
        </p:nvSpPr>
        <p:spPr>
          <a:xfrm>
            <a:off x="10860088" y="4572000"/>
            <a:ext cx="792162" cy="6143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 algn="ctr">
              <a:defRPr/>
            </a:pPr>
            <a:r>
              <a:rPr lang="en-US" sz="1100" dirty="0">
                <a:solidFill>
                  <a:schemeClr val="tx1"/>
                </a:solidFill>
              </a:rPr>
              <a:t>OK</a:t>
            </a:r>
            <a:endParaRPr lang="en-ID" sz="1100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3DCBB94-AE2F-E17A-2AFE-0A50469A1C69}"/>
              </a:ext>
            </a:extLst>
          </p:cNvPr>
          <p:cNvSpPr/>
          <p:nvPr/>
        </p:nvSpPr>
        <p:spPr>
          <a:xfrm>
            <a:off x="10860088" y="5275263"/>
            <a:ext cx="792162" cy="113506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 algn="ctr">
              <a:defRPr/>
            </a:pPr>
            <a:r>
              <a:rPr lang="en-US" sz="1050" dirty="0">
                <a:solidFill>
                  <a:srgbClr val="FF0000"/>
                </a:solidFill>
              </a:rPr>
              <a:t>NG</a:t>
            </a:r>
            <a:endParaRPr lang="en-ID" sz="1050" dirty="0">
              <a:solidFill>
                <a:srgbClr val="FF0000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DF23357-FCBB-8BA6-DB3A-97AA6C3E44E4}"/>
              </a:ext>
            </a:extLst>
          </p:cNvPr>
          <p:cNvSpPr/>
          <p:nvPr/>
        </p:nvSpPr>
        <p:spPr>
          <a:xfrm>
            <a:off x="10869613" y="6505575"/>
            <a:ext cx="792162" cy="5635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US" sz="1050" dirty="0">
                <a:solidFill>
                  <a:schemeClr val="tx1"/>
                </a:solidFill>
              </a:rPr>
              <a:t>OK</a:t>
            </a:r>
            <a:endParaRPr lang="en-ID" sz="1050" dirty="0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43545C4-A2BF-26DC-F4A9-72D5DBAE7C41}"/>
              </a:ext>
            </a:extLst>
          </p:cNvPr>
          <p:cNvSpPr/>
          <p:nvPr/>
        </p:nvSpPr>
        <p:spPr>
          <a:xfrm>
            <a:off x="666750" y="3671888"/>
            <a:ext cx="1116013" cy="2159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ID" sz="1100" b="1" dirty="0">
                <a:solidFill>
                  <a:schemeClr val="tx1"/>
                </a:solidFill>
              </a:rPr>
              <a:t>ITEM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C71D6F-A767-7EE6-63A1-87E13BFC55C5}"/>
              </a:ext>
            </a:extLst>
          </p:cNvPr>
          <p:cNvSpPr/>
          <p:nvPr/>
        </p:nvSpPr>
        <p:spPr>
          <a:xfrm>
            <a:off x="666750" y="3925888"/>
            <a:ext cx="1116013" cy="5873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ID" sz="1100" dirty="0">
                <a:solidFill>
                  <a:schemeClr val="tx1"/>
                </a:solidFill>
              </a:rPr>
              <a:t>Material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6B9F94A-18F5-652D-8DCE-9A76CD47FE64}"/>
              </a:ext>
            </a:extLst>
          </p:cNvPr>
          <p:cNvSpPr/>
          <p:nvPr/>
        </p:nvSpPr>
        <p:spPr>
          <a:xfrm>
            <a:off x="666750" y="4572000"/>
            <a:ext cx="1116013" cy="6143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 algn="ctr">
              <a:defRPr/>
            </a:pPr>
            <a:r>
              <a:rPr lang="en-ID" sz="1100" dirty="0">
                <a:solidFill>
                  <a:schemeClr val="tx1"/>
                </a:solidFill>
              </a:rPr>
              <a:t>Machine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4F6917D-28C0-8464-46BB-953DD4D64D7B}"/>
              </a:ext>
            </a:extLst>
          </p:cNvPr>
          <p:cNvSpPr/>
          <p:nvPr/>
        </p:nvSpPr>
        <p:spPr>
          <a:xfrm>
            <a:off x="674688" y="6505575"/>
            <a:ext cx="1117600" cy="5635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id-ID" sz="1100" dirty="0">
                <a:solidFill>
                  <a:schemeClr val="tx1"/>
                </a:solidFill>
              </a:rPr>
              <a:t> Man</a:t>
            </a:r>
            <a:endParaRPr lang="en-ID" sz="1100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73BA070-AD15-913F-8FB6-19A220E97D8F}"/>
              </a:ext>
            </a:extLst>
          </p:cNvPr>
          <p:cNvSpPr/>
          <p:nvPr/>
        </p:nvSpPr>
        <p:spPr>
          <a:xfrm>
            <a:off x="666750" y="5283200"/>
            <a:ext cx="1116013" cy="11477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 algn="ctr">
              <a:defRPr/>
            </a:pPr>
            <a:r>
              <a:rPr lang="id-ID" sz="1100" dirty="0">
                <a:solidFill>
                  <a:schemeClr val="tx1"/>
                </a:solidFill>
              </a:rPr>
              <a:t> Methode</a:t>
            </a:r>
            <a:endParaRPr lang="en-ID" sz="1100" dirty="0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B3A10A-AE09-46F3-0597-DF63E80367D7}"/>
              </a:ext>
            </a:extLst>
          </p:cNvPr>
          <p:cNvSpPr/>
          <p:nvPr/>
        </p:nvSpPr>
        <p:spPr>
          <a:xfrm>
            <a:off x="3762375" y="3671888"/>
            <a:ext cx="3163888" cy="223837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ID" sz="1100" b="1" dirty="0">
                <a:solidFill>
                  <a:schemeClr val="tx1"/>
                </a:solidFill>
              </a:rPr>
              <a:t>STANDARD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3967B29-93BD-F440-FFC6-45063D708933}"/>
              </a:ext>
            </a:extLst>
          </p:cNvPr>
          <p:cNvSpPr/>
          <p:nvPr/>
        </p:nvSpPr>
        <p:spPr>
          <a:xfrm>
            <a:off x="7050088" y="3671888"/>
            <a:ext cx="3730625" cy="2159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ID" sz="1100" b="1" dirty="0">
                <a:solidFill>
                  <a:schemeClr val="tx1"/>
                </a:solidFill>
              </a:rPr>
              <a:t>ACTUAL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2AE352F-291A-827E-784B-99795CCCF607}"/>
              </a:ext>
            </a:extLst>
          </p:cNvPr>
          <p:cNvSpPr/>
          <p:nvPr/>
        </p:nvSpPr>
        <p:spPr>
          <a:xfrm>
            <a:off x="3762375" y="3925888"/>
            <a:ext cx="3189288" cy="5873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EP405</a:t>
            </a:r>
            <a:endParaRPr lang="id-ID" sz="1100" dirty="0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FB1E326-079A-50F8-C96C-4901AB4BAAFC}"/>
              </a:ext>
            </a:extLst>
          </p:cNvPr>
          <p:cNvSpPr/>
          <p:nvPr/>
        </p:nvSpPr>
        <p:spPr>
          <a:xfrm>
            <a:off x="7050088" y="3925888"/>
            <a:ext cx="3730625" cy="5873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EP405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7EAACEF-7615-A872-8F03-3E35DF2D51A7}"/>
              </a:ext>
            </a:extLst>
          </p:cNvPr>
          <p:cNvSpPr/>
          <p:nvPr/>
        </p:nvSpPr>
        <p:spPr>
          <a:xfrm>
            <a:off x="3762375" y="4572000"/>
            <a:ext cx="3211513" cy="6143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Rubber </a:t>
            </a:r>
            <a:r>
              <a:rPr lang="en-US" sz="1100" dirty="0" err="1">
                <a:solidFill>
                  <a:schemeClr val="tx1"/>
                </a:solidFill>
              </a:rPr>
              <a:t>Compresion</a:t>
            </a:r>
            <a:r>
              <a:rPr lang="en-US" sz="1100" dirty="0">
                <a:solidFill>
                  <a:schemeClr val="tx1"/>
                </a:solidFill>
              </a:rPr>
              <a:t> 2</a:t>
            </a:r>
            <a:r>
              <a:rPr lang="id-ID" sz="1100" dirty="0">
                <a:solidFill>
                  <a:schemeClr val="tx1"/>
                </a:solidFill>
              </a:rPr>
              <a:t>50T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105627E-6DBE-FE0C-BE06-C8CE78B90057}"/>
              </a:ext>
            </a:extLst>
          </p:cNvPr>
          <p:cNvSpPr/>
          <p:nvPr/>
        </p:nvSpPr>
        <p:spPr>
          <a:xfrm>
            <a:off x="7029450" y="4572000"/>
            <a:ext cx="3763963" cy="6143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Rubber </a:t>
            </a:r>
            <a:r>
              <a:rPr lang="en-US" sz="1100" dirty="0" err="1">
                <a:solidFill>
                  <a:schemeClr val="tx1"/>
                </a:solidFill>
              </a:rPr>
              <a:t>Compresion</a:t>
            </a:r>
            <a:r>
              <a:rPr lang="en-US" sz="1100" dirty="0">
                <a:solidFill>
                  <a:schemeClr val="tx1"/>
                </a:solidFill>
              </a:rPr>
              <a:t> 2</a:t>
            </a:r>
            <a:r>
              <a:rPr lang="id-ID" sz="1100" dirty="0">
                <a:solidFill>
                  <a:schemeClr val="tx1"/>
                </a:solidFill>
              </a:rPr>
              <a:t>50</a:t>
            </a:r>
            <a:r>
              <a:rPr lang="en-US" sz="11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45C7C6C-181D-7534-1771-9382F091E745}"/>
              </a:ext>
            </a:extLst>
          </p:cNvPr>
          <p:cNvSpPr/>
          <p:nvPr/>
        </p:nvSpPr>
        <p:spPr>
          <a:xfrm>
            <a:off x="3762375" y="5267325"/>
            <a:ext cx="3211513" cy="11477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 marL="266700" indent="-266700">
              <a:defRPr/>
            </a:pP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id-ID" sz="1100" dirty="0">
                <a:solidFill>
                  <a:schemeClr val="tx1"/>
                </a:solidFill>
              </a:rPr>
              <a:t>Air gun tersedia di setiap masing-masing mesin</a:t>
            </a:r>
            <a:endParaRPr lang="en-US" sz="1100" dirty="0">
              <a:solidFill>
                <a:schemeClr val="tx1"/>
              </a:solidFill>
            </a:endParaRPr>
          </a:p>
          <a:p>
            <a:pPr marL="266700" indent="-266700"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 marL="266700" indent="-266700">
              <a:defRPr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A690ED7-4B25-2FEB-D006-6F4ED59B48E3}"/>
              </a:ext>
            </a:extLst>
          </p:cNvPr>
          <p:cNvSpPr/>
          <p:nvPr/>
        </p:nvSpPr>
        <p:spPr>
          <a:xfrm>
            <a:off x="7029450" y="5267325"/>
            <a:ext cx="3763963" cy="11477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>
              <a:defRPr/>
            </a:pPr>
            <a:r>
              <a:rPr lang="id-ID" sz="1100" dirty="0">
                <a:solidFill>
                  <a:srgbClr val="FF0000"/>
                </a:solidFill>
              </a:rPr>
              <a:t>Air gun tidak tersedia di setiap mesin ( 2 MC memakai 1 air gun)</a:t>
            </a:r>
            <a:endParaRPr lang="en-US" sz="1100" dirty="0">
              <a:solidFill>
                <a:srgbClr val="FF0000"/>
              </a:solidFill>
            </a:endParaRPr>
          </a:p>
          <a:p>
            <a:pPr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>
              <a:defRPr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5188EDD-BAFD-FC6B-E633-1803F7EFE0F3}"/>
              </a:ext>
            </a:extLst>
          </p:cNvPr>
          <p:cNvSpPr/>
          <p:nvPr/>
        </p:nvSpPr>
        <p:spPr>
          <a:xfrm>
            <a:off x="3775075" y="6505575"/>
            <a:ext cx="3211513" cy="5635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  <a:latin typeface="+mj-lt"/>
              </a:rPr>
              <a:t>Sesuai mapping MP</a:t>
            </a:r>
            <a:endParaRPr lang="id-ID" sz="11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B5FAA9DE-CDAF-D5FC-5FC2-805239BDE064}"/>
              </a:ext>
            </a:extLst>
          </p:cNvPr>
          <p:cNvSpPr/>
          <p:nvPr/>
        </p:nvSpPr>
        <p:spPr>
          <a:xfrm>
            <a:off x="7042150" y="6505575"/>
            <a:ext cx="3763963" cy="5635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Sesuai Mapping</a:t>
            </a:r>
            <a:endParaRPr lang="id-ID" sz="1100" dirty="0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E0A597C-10A7-AA08-2005-70FFE3708C0C}"/>
              </a:ext>
            </a:extLst>
          </p:cNvPr>
          <p:cNvSpPr/>
          <p:nvPr/>
        </p:nvSpPr>
        <p:spPr>
          <a:xfrm>
            <a:off x="1882775" y="3671888"/>
            <a:ext cx="1781175" cy="214312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 algn="ctr">
              <a:defRPr/>
            </a:pPr>
            <a:r>
              <a:rPr lang="en-ID" sz="1100" b="1" dirty="0">
                <a:solidFill>
                  <a:schemeClr val="tx1"/>
                </a:solidFill>
              </a:rPr>
              <a:t>CONTROL ITEM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17CA767-6D99-9E75-3233-D4529685727E}"/>
              </a:ext>
            </a:extLst>
          </p:cNvPr>
          <p:cNvSpPr/>
          <p:nvPr/>
        </p:nvSpPr>
        <p:spPr>
          <a:xfrm>
            <a:off x="1882775" y="3925888"/>
            <a:ext cx="1781175" cy="5873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Jenis </a:t>
            </a:r>
            <a:r>
              <a:rPr lang="en-US" sz="1100" dirty="0" err="1">
                <a:solidFill>
                  <a:schemeClr val="tx1"/>
                </a:solidFill>
              </a:rPr>
              <a:t>Kompon</a:t>
            </a:r>
            <a:endParaRPr lang="en-ID" sz="11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6E34338-C186-9F99-3A45-FBF6579C59EA}"/>
              </a:ext>
            </a:extLst>
          </p:cNvPr>
          <p:cNvSpPr/>
          <p:nvPr/>
        </p:nvSpPr>
        <p:spPr>
          <a:xfrm>
            <a:off x="1882775" y="4572000"/>
            <a:ext cx="1781175" cy="6143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Jenis </a:t>
            </a:r>
            <a:r>
              <a:rPr lang="en-US" sz="1100" dirty="0" err="1">
                <a:solidFill>
                  <a:schemeClr val="tx1"/>
                </a:solidFill>
              </a:rPr>
              <a:t>Mesin</a:t>
            </a:r>
            <a:endParaRPr lang="id-ID" sz="1100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3DF0760-F8D3-09B3-3127-D423CBB74AB1}"/>
              </a:ext>
            </a:extLst>
          </p:cNvPr>
          <p:cNvSpPr/>
          <p:nvPr/>
        </p:nvSpPr>
        <p:spPr>
          <a:xfrm>
            <a:off x="1870075" y="6505575"/>
            <a:ext cx="1781175" cy="5635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 anchor="ctr"/>
          <a:lstStyle/>
          <a:p>
            <a:pPr>
              <a:defRPr/>
            </a:pPr>
            <a:r>
              <a:rPr lang="en-US" sz="1100" dirty="0">
                <a:solidFill>
                  <a:schemeClr val="tx1"/>
                </a:solidFill>
              </a:rPr>
              <a:t>Mapping MP Finishing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6A375CB-E0E0-5FD2-D4F4-3D02C9D0257D}"/>
              </a:ext>
            </a:extLst>
          </p:cNvPr>
          <p:cNvSpPr/>
          <p:nvPr/>
        </p:nvSpPr>
        <p:spPr>
          <a:xfrm>
            <a:off x="1868488" y="5283200"/>
            <a:ext cx="1779587" cy="11477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856" tIns="54928" rIns="109856" bIns="54928"/>
          <a:lstStyle/>
          <a:p>
            <a:pPr>
              <a:defRPr/>
            </a:pPr>
            <a:r>
              <a:rPr lang="id-ID" sz="1100" dirty="0">
                <a:solidFill>
                  <a:schemeClr val="tx1"/>
                </a:solidFill>
              </a:rPr>
              <a:t>Tools</a:t>
            </a:r>
            <a:endParaRPr lang="en-US" sz="1100" dirty="0">
              <a:solidFill>
                <a:schemeClr val="tx1"/>
              </a:solidFill>
            </a:endParaRPr>
          </a:p>
          <a:p>
            <a:pPr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>
              <a:defRPr/>
            </a:pPr>
            <a:endParaRPr lang="id-ID" sz="1100" dirty="0">
              <a:solidFill>
                <a:schemeClr val="tx1"/>
              </a:solidFill>
            </a:endParaRPr>
          </a:p>
        </p:txBody>
      </p:sp>
      <p:sp>
        <p:nvSpPr>
          <p:cNvPr id="10283" name="Rectangle 85">
            <a:extLst>
              <a:ext uri="{FF2B5EF4-FFF2-40B4-BE49-F238E27FC236}">
                <a16:creationId xmlns:a16="http://schemas.microsoft.com/office/drawing/2014/main" id="{6B6EFDC0-6A1A-4675-68FA-88900B8ED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363" y="3290888"/>
            <a:ext cx="3576637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ja-JP" altLang="en-US" sz="1900" b="1">
                <a:ea typeface="Meiryo UI" panose="020B0604030504040204" pitchFamily="34" charset="-128"/>
              </a:rPr>
              <a:t>■</a:t>
            </a:r>
            <a:r>
              <a:rPr lang="en-ID" altLang="ja-JP" sz="1900" b="1">
                <a:ea typeface="Meiryo UI" panose="020B0604030504040204" pitchFamily="34" charset="-128"/>
              </a:rPr>
              <a:t>FTA</a:t>
            </a:r>
            <a:r>
              <a:rPr lang="id-ID" altLang="ja-JP" sz="1900" b="1">
                <a:ea typeface="Meiryo UI" panose="020B0604030504040204" pitchFamily="34" charset="-128"/>
              </a:rPr>
              <a:t> (Failure Tree </a:t>
            </a:r>
            <a:r>
              <a:rPr lang="en-ID" altLang="ja-JP" sz="1900" b="1">
                <a:ea typeface="Meiryo UI" panose="020B0604030504040204" pitchFamily="34" charset="-128"/>
              </a:rPr>
              <a:t>Analysis</a:t>
            </a:r>
            <a:r>
              <a:rPr lang="id-ID" altLang="ja-JP" sz="1900" b="1">
                <a:ea typeface="Meiryo UI" panose="020B0604030504040204" pitchFamily="34" charset="-128"/>
              </a:rPr>
              <a:t>)</a:t>
            </a:r>
            <a:endParaRPr lang="en-ID" altLang="en-US" sz="1900" b="1">
              <a:ea typeface="Meiryo UI" panose="020B0604030504040204" pitchFamily="34" charset="-128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832705-FBB2-397E-3D27-08E44EF1952D}"/>
              </a:ext>
            </a:extLst>
          </p:cNvPr>
          <p:cNvSpPr/>
          <p:nvPr/>
        </p:nvSpPr>
        <p:spPr>
          <a:xfrm>
            <a:off x="4829176" y="638732"/>
            <a:ext cx="1249362" cy="261045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9AD93-B013-DE81-9BAE-832D15F6F3EC}"/>
              </a:ext>
            </a:extLst>
          </p:cNvPr>
          <p:cNvSpPr txBox="1"/>
          <p:nvPr/>
        </p:nvSpPr>
        <p:spPr>
          <a:xfrm>
            <a:off x="4829176" y="3264456"/>
            <a:ext cx="130035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 err="1">
                <a:effectLst>
                  <a:glow rad="228600">
                    <a:srgbClr val="FFFF00">
                      <a:alpha val="40000"/>
                    </a:srgbClr>
                  </a:glow>
                </a:effectLst>
                <a:latin typeface="Arial" charset="0"/>
                <a:cs typeface="Arial" charset="0"/>
              </a:rPr>
              <a:t>Occurence</a:t>
            </a:r>
            <a:endParaRPr lang="en-ID" dirty="0">
              <a:effectLst>
                <a:glow rad="228600">
                  <a:srgbClr val="FFFF00">
                    <a:alpha val="40000"/>
                  </a:srgbClr>
                </a:glow>
              </a:effectLst>
              <a:latin typeface="Arial" charset="0"/>
              <a:cs typeface="Arial" charset="0"/>
            </a:endParaRPr>
          </a:p>
        </p:txBody>
      </p:sp>
      <p:sp>
        <p:nvSpPr>
          <p:cNvPr id="65" name="Action Button: Home 6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C485DB99-82A2-0370-24A0-DC2DFF2C86E4}"/>
              </a:ext>
            </a:extLst>
          </p:cNvPr>
          <p:cNvSpPr/>
          <p:nvPr/>
        </p:nvSpPr>
        <p:spPr>
          <a:xfrm>
            <a:off x="5940425" y="6948488"/>
            <a:ext cx="352425" cy="261937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0291" name="TextBox 5">
            <a:extLst>
              <a:ext uri="{FF2B5EF4-FFF2-40B4-BE49-F238E27FC236}">
                <a16:creationId xmlns:a16="http://schemas.microsoft.com/office/drawing/2014/main" id="{8E891BF2-446F-D8BD-F933-209EF6996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70814" y="2790825"/>
            <a:ext cx="158115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100" dirty="0"/>
              <a:t>Final Inspection</a:t>
            </a:r>
          </a:p>
        </p:txBody>
      </p:sp>
      <p:sp>
        <p:nvSpPr>
          <p:cNvPr id="10293" name="TextBox 5">
            <a:extLst>
              <a:ext uri="{FF2B5EF4-FFF2-40B4-BE49-F238E27FC236}">
                <a16:creationId xmlns:a16="http://schemas.microsoft.com/office/drawing/2014/main" id="{F0288A01-9530-8410-1C0D-2DC8986D3C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5191" y="2402494"/>
            <a:ext cx="145292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id-ID" altLang="id-ID" sz="1000" dirty="0"/>
              <a:t>Penempatan box WIP</a:t>
            </a:r>
          </a:p>
        </p:txBody>
      </p:sp>
      <p:sp>
        <p:nvSpPr>
          <p:cNvPr id="10295" name="TextBox 5">
            <a:extLst>
              <a:ext uri="{FF2B5EF4-FFF2-40B4-BE49-F238E27FC236}">
                <a16:creationId xmlns:a16="http://schemas.microsoft.com/office/drawing/2014/main" id="{DDE764A4-FC87-5A94-5C59-1EE7EEC236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8444" y="2697163"/>
            <a:ext cx="1295400" cy="253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050" dirty="0"/>
              <a:t>Proses finishing</a:t>
            </a:r>
          </a:p>
        </p:txBody>
      </p:sp>
      <p:pic>
        <p:nvPicPr>
          <p:cNvPr id="10296" name="Picture 8">
            <a:extLst>
              <a:ext uri="{FF2B5EF4-FFF2-40B4-BE49-F238E27FC236}">
                <a16:creationId xmlns:a16="http://schemas.microsoft.com/office/drawing/2014/main" id="{874AAC14-F78A-294C-6EE0-52C7C4001C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32" t="28506" r="8446"/>
          <a:stretch>
            <a:fillRect/>
          </a:stretch>
        </p:blipFill>
        <p:spPr bwMode="auto">
          <a:xfrm>
            <a:off x="4987925" y="1300164"/>
            <a:ext cx="947738" cy="1073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7" name="Picture 11">
            <a:extLst>
              <a:ext uri="{FF2B5EF4-FFF2-40B4-BE49-F238E27FC236}">
                <a16:creationId xmlns:a16="http://schemas.microsoft.com/office/drawing/2014/main" id="{36C16CB3-ABAA-3998-490C-D0A9C5FF7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469" b="10764"/>
          <a:stretch>
            <a:fillRect/>
          </a:stretch>
        </p:blipFill>
        <p:spPr bwMode="auto">
          <a:xfrm>
            <a:off x="10690225" y="1517650"/>
            <a:ext cx="1131888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8" name="Picture 13">
            <a:extLst>
              <a:ext uri="{FF2B5EF4-FFF2-40B4-BE49-F238E27FC236}">
                <a16:creationId xmlns:a16="http://schemas.microsoft.com/office/drawing/2014/main" id="{1E079A57-5953-AD3A-FC30-7D6347F5B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3" t="9109" r="17020"/>
          <a:stretch>
            <a:fillRect/>
          </a:stretch>
        </p:blipFill>
        <p:spPr bwMode="auto">
          <a:xfrm>
            <a:off x="1841500" y="1195388"/>
            <a:ext cx="1000125" cy="163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9" name="Picture 15">
            <a:extLst>
              <a:ext uri="{FF2B5EF4-FFF2-40B4-BE49-F238E27FC236}">
                <a16:creationId xmlns:a16="http://schemas.microsoft.com/office/drawing/2014/main" id="{7384F204-8A23-BD66-B121-963AA6715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64" t="6129" r="22945" b="3023"/>
          <a:stretch>
            <a:fillRect/>
          </a:stretch>
        </p:blipFill>
        <p:spPr bwMode="auto">
          <a:xfrm>
            <a:off x="3455988" y="1276350"/>
            <a:ext cx="896937" cy="148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00" name="TextBox 5">
            <a:extLst>
              <a:ext uri="{FF2B5EF4-FFF2-40B4-BE49-F238E27FC236}">
                <a16:creationId xmlns:a16="http://schemas.microsoft.com/office/drawing/2014/main" id="{F9237FB5-43CB-58B2-59A2-624C510E51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9738" y="2833688"/>
            <a:ext cx="134620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000" dirty="0"/>
              <a:t>Test Lab compound  </a:t>
            </a:r>
          </a:p>
        </p:txBody>
      </p:sp>
      <p:sp>
        <p:nvSpPr>
          <p:cNvPr id="10301" name="TextBox 5">
            <a:extLst>
              <a:ext uri="{FF2B5EF4-FFF2-40B4-BE49-F238E27FC236}">
                <a16:creationId xmlns:a16="http://schemas.microsoft.com/office/drawing/2014/main" id="{2B648355-5A06-C6DE-01F0-AD1589DFB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450" y="2878138"/>
            <a:ext cx="134620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000" dirty="0"/>
              <a:t>Cutting Compound</a:t>
            </a:r>
          </a:p>
        </p:txBody>
      </p:sp>
      <p:sp>
        <p:nvSpPr>
          <p:cNvPr id="10302" name="TextBox 5">
            <a:extLst>
              <a:ext uri="{FF2B5EF4-FFF2-40B4-BE49-F238E27FC236}">
                <a16:creationId xmlns:a16="http://schemas.microsoft.com/office/drawing/2014/main" id="{A0F4C28C-C47E-E528-4BA4-A47C7E6EB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2669" y="2408492"/>
            <a:ext cx="1346200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id-ID" altLang="id-ID" sz="900" dirty="0"/>
              <a:t>Pada saat proses curring, operator sempat tidak menggunakan air gun untuk cleaning mold</a:t>
            </a:r>
          </a:p>
        </p:txBody>
      </p:sp>
      <p:sp>
        <p:nvSpPr>
          <p:cNvPr id="10303" name="TextBox 5">
            <a:extLst>
              <a:ext uri="{FF2B5EF4-FFF2-40B4-BE49-F238E27FC236}">
                <a16:creationId xmlns:a16="http://schemas.microsoft.com/office/drawing/2014/main" id="{AD08FDE6-B789-1C88-BCBA-A0C9680500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90225" y="2357438"/>
            <a:ext cx="1346200" cy="247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000" dirty="0"/>
              <a:t>Area Finish Good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812DC8-B095-6AC5-F8A8-7E64D7FCD8F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5" r="2312" b="7327"/>
          <a:stretch>
            <a:fillRect/>
          </a:stretch>
        </p:blipFill>
        <p:spPr>
          <a:xfrm>
            <a:off x="6355967" y="1327118"/>
            <a:ext cx="1191391" cy="8897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3BC1BC-E2C8-3248-4ACD-17B27D4FCF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75"/>
          <a:stretch>
            <a:fillRect/>
          </a:stretch>
        </p:blipFill>
        <p:spPr>
          <a:xfrm>
            <a:off x="7886107" y="1225550"/>
            <a:ext cx="1128312" cy="14401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D58D69-F46D-C8A0-A983-770C6ED261D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386" y="1317466"/>
            <a:ext cx="1080016" cy="14400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>
            <a:extLst>
              <a:ext uri="{FF2B5EF4-FFF2-40B4-BE49-F238E27FC236}">
                <a16:creationId xmlns:a16="http://schemas.microsoft.com/office/drawing/2014/main" id="{112DE3AF-BAB5-0521-8D38-875CEE3F2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eaLnBrk="1" hangingPunct="1">
              <a:defRPr/>
            </a:pP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</a:t>
            </a:r>
            <a:r>
              <a:rPr lang="en-US" altLang="en-US" b="1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Penyebab</a:t>
            </a: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b="1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Terjadi</a:t>
            </a: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(Why Make)</a:t>
            </a:r>
          </a:p>
        </p:txBody>
      </p:sp>
      <p:sp>
        <p:nvSpPr>
          <p:cNvPr id="11" name="Action Button: Home 10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E8D43DDB-A46B-91D9-6C95-B766238B35BB}"/>
              </a:ext>
            </a:extLst>
          </p:cNvPr>
          <p:cNvSpPr/>
          <p:nvPr/>
        </p:nvSpPr>
        <p:spPr>
          <a:xfrm>
            <a:off x="5764213" y="6948488"/>
            <a:ext cx="352425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6E0578-6109-5720-B92D-CDDFC135A35A}"/>
              </a:ext>
            </a:extLst>
          </p:cNvPr>
          <p:cNvSpPr txBox="1"/>
          <p:nvPr/>
        </p:nvSpPr>
        <p:spPr>
          <a:xfrm>
            <a:off x="2838902" y="1504859"/>
            <a:ext cx="1848399" cy="3077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id-ID" sz="1400" dirty="0"/>
              <a:t>PROCES CURRING</a:t>
            </a:r>
            <a:endParaRPr lang="en-ID" sz="1400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FA5CC69-9ACB-A565-660A-A09DB8CEBA99}"/>
              </a:ext>
            </a:extLst>
          </p:cNvPr>
          <p:cNvSpPr/>
          <p:nvPr/>
        </p:nvSpPr>
        <p:spPr>
          <a:xfrm flipV="1">
            <a:off x="2190524" y="2219808"/>
            <a:ext cx="348475" cy="986466"/>
          </a:xfrm>
          <a:prstGeom prst="rightArrow">
            <a:avLst>
              <a:gd name="adj1" fmla="val 50000"/>
              <a:gd name="adj2" fmla="val 520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1277" name="TextBox 24">
            <a:extLst>
              <a:ext uri="{FF2B5EF4-FFF2-40B4-BE49-F238E27FC236}">
                <a16:creationId xmlns:a16="http://schemas.microsoft.com/office/drawing/2014/main" id="{08F52813-9A2C-01A0-A884-9360C3EFC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74516" y="5651259"/>
            <a:ext cx="2365375" cy="307777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id-ID" altLang="id-ID" sz="1400" dirty="0">
                <a:solidFill>
                  <a:schemeClr val="bg1"/>
                </a:solidFill>
              </a:rPr>
              <a:t>Part NG shortmold terkirim</a:t>
            </a:r>
            <a:endParaRPr lang="en-ID" altLang="id-ID" sz="1400" dirty="0">
              <a:solidFill>
                <a:schemeClr val="bg1"/>
              </a:solidFill>
            </a:endParaRPr>
          </a:p>
        </p:txBody>
      </p:sp>
      <p:sp>
        <p:nvSpPr>
          <p:cNvPr id="26" name="Arrow: Curved Left 25">
            <a:extLst>
              <a:ext uri="{FF2B5EF4-FFF2-40B4-BE49-F238E27FC236}">
                <a16:creationId xmlns:a16="http://schemas.microsoft.com/office/drawing/2014/main" id="{66E494BD-60D2-3990-FB13-ABF0DBF3DA7A}"/>
              </a:ext>
            </a:extLst>
          </p:cNvPr>
          <p:cNvSpPr/>
          <p:nvPr/>
        </p:nvSpPr>
        <p:spPr>
          <a:xfrm>
            <a:off x="10777190" y="2281535"/>
            <a:ext cx="933450" cy="379730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>
              <a:solidFill>
                <a:schemeClr val="tx1"/>
              </a:solidFill>
            </a:endParaRPr>
          </a:p>
        </p:txBody>
      </p:sp>
      <p:sp>
        <p:nvSpPr>
          <p:cNvPr id="11283" name="TextBox 50">
            <a:extLst>
              <a:ext uri="{FF2B5EF4-FFF2-40B4-BE49-F238E27FC236}">
                <a16:creationId xmlns:a16="http://schemas.microsoft.com/office/drawing/2014/main" id="{91BDC965-A286-4B7C-E97F-BE82DAA32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225" y="546100"/>
            <a:ext cx="2032000" cy="38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>
                <a:solidFill>
                  <a:srgbClr val="000000"/>
                </a:solidFill>
                <a:latin typeface="Calibri" panose="020F0502020204030204" pitchFamily="34" charset="0"/>
              </a:rPr>
              <a:t> Process Analysis</a:t>
            </a:r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B68AFA78-5654-4E0E-F556-1BF0408351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32" t="28506" r="8446"/>
          <a:stretch>
            <a:fillRect/>
          </a:stretch>
        </p:blipFill>
        <p:spPr bwMode="auto">
          <a:xfrm>
            <a:off x="2968313" y="1809426"/>
            <a:ext cx="1611950" cy="18252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DC25DB-58BF-5C41-0202-821DE39658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440" y="1868019"/>
            <a:ext cx="1522451" cy="18391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B50D48-05C0-FA5F-A635-585FF38141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8142" y="1782713"/>
            <a:ext cx="1409365" cy="18791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E319A7-B748-82A0-EA4D-1184595CCAF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141" y="1821939"/>
            <a:ext cx="1379386" cy="18391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26E7536-0C2F-6910-2AC1-CE761110D1CA}"/>
              </a:ext>
            </a:extLst>
          </p:cNvPr>
          <p:cNvSpPr txBox="1"/>
          <p:nvPr/>
        </p:nvSpPr>
        <p:spPr>
          <a:xfrm>
            <a:off x="149225" y="1301590"/>
            <a:ext cx="1890126" cy="52322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id-ID" sz="1400" dirty="0"/>
              <a:t>Peletakan Compound pada mold</a:t>
            </a:r>
            <a:endParaRPr lang="en-ID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616264-3765-169E-1135-641CF88E34C2}"/>
              </a:ext>
            </a:extLst>
          </p:cNvPr>
          <p:cNvSpPr txBox="1"/>
          <p:nvPr/>
        </p:nvSpPr>
        <p:spPr>
          <a:xfrm>
            <a:off x="5639701" y="1459904"/>
            <a:ext cx="1916120" cy="3077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id-ID" sz="1400" dirty="0"/>
              <a:t>Proses Handling part</a:t>
            </a:r>
            <a:endParaRPr lang="en-ID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87F88D-9D7B-4507-E890-E6C2AB3BF2D2}"/>
              </a:ext>
            </a:extLst>
          </p:cNvPr>
          <p:cNvSpPr txBox="1"/>
          <p:nvPr/>
        </p:nvSpPr>
        <p:spPr>
          <a:xfrm>
            <a:off x="8333041" y="1343650"/>
            <a:ext cx="1931250" cy="52322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id-ID" sz="1400" dirty="0"/>
              <a:t>Proses cleaning mold menggunakan air gun</a:t>
            </a:r>
            <a:endParaRPr lang="en-ID" sz="14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87CF2B2-C287-9A2D-A06B-A29BD064274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8" t="9034" r="41662" b="8993"/>
          <a:stretch>
            <a:fillRect/>
          </a:stretch>
        </p:blipFill>
        <p:spPr>
          <a:xfrm>
            <a:off x="239876" y="5084989"/>
            <a:ext cx="3695383" cy="1748094"/>
          </a:xfrm>
          <a:prstGeom prst="rect">
            <a:avLst/>
          </a:prstGeom>
        </p:spPr>
      </p:pic>
      <p:sp>
        <p:nvSpPr>
          <p:cNvPr id="11264" name="TextBox 11263">
            <a:extLst>
              <a:ext uri="{FF2B5EF4-FFF2-40B4-BE49-F238E27FC236}">
                <a16:creationId xmlns:a16="http://schemas.microsoft.com/office/drawing/2014/main" id="{D596E5A3-58EB-9113-D483-471E388F8598}"/>
              </a:ext>
            </a:extLst>
          </p:cNvPr>
          <p:cNvSpPr txBox="1"/>
          <p:nvPr/>
        </p:nvSpPr>
        <p:spPr>
          <a:xfrm>
            <a:off x="4021187" y="854779"/>
            <a:ext cx="317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000" dirty="0">
                <a:highlight>
                  <a:srgbClr val="FF3300"/>
                </a:highlight>
              </a:rPr>
              <a:t>Ilustrasi Sketch Problem</a:t>
            </a:r>
          </a:p>
        </p:txBody>
      </p:sp>
      <p:sp>
        <p:nvSpPr>
          <p:cNvPr id="11265" name="TextBox 11264">
            <a:extLst>
              <a:ext uri="{FF2B5EF4-FFF2-40B4-BE49-F238E27FC236}">
                <a16:creationId xmlns:a16="http://schemas.microsoft.com/office/drawing/2014/main" id="{EC1800B3-CFB4-B50E-8EB3-A4C0BA4CAFF5}"/>
              </a:ext>
            </a:extLst>
          </p:cNvPr>
          <p:cNvSpPr txBox="1"/>
          <p:nvPr/>
        </p:nvSpPr>
        <p:spPr>
          <a:xfrm>
            <a:off x="5767301" y="3716981"/>
            <a:ext cx="1869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1200" dirty="0"/>
              <a:t>Potensi NG, terdapat part sisa yang tertinggal di molding</a:t>
            </a:r>
          </a:p>
        </p:txBody>
      </p:sp>
      <p:sp>
        <p:nvSpPr>
          <p:cNvPr id="11266" name="TextBox 11265">
            <a:extLst>
              <a:ext uri="{FF2B5EF4-FFF2-40B4-BE49-F238E27FC236}">
                <a16:creationId xmlns:a16="http://schemas.microsoft.com/office/drawing/2014/main" id="{71C0D658-90F2-0AB1-40A7-C3F08E2FDC03}"/>
              </a:ext>
            </a:extLst>
          </p:cNvPr>
          <p:cNvSpPr txBox="1"/>
          <p:nvPr/>
        </p:nvSpPr>
        <p:spPr>
          <a:xfrm>
            <a:off x="8297013" y="3707199"/>
            <a:ext cx="212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1200" dirty="0"/>
              <a:t>Potensi NG, operator tidak konsisten menggunakan air gun saat cleaning mold</a:t>
            </a:r>
          </a:p>
        </p:txBody>
      </p:sp>
      <p:sp>
        <p:nvSpPr>
          <p:cNvPr id="11270" name="Arrow: Right 11269">
            <a:extLst>
              <a:ext uri="{FF2B5EF4-FFF2-40B4-BE49-F238E27FC236}">
                <a16:creationId xmlns:a16="http://schemas.microsoft.com/office/drawing/2014/main" id="{50BF04BD-07EE-CE25-489A-EA647CE32020}"/>
              </a:ext>
            </a:extLst>
          </p:cNvPr>
          <p:cNvSpPr/>
          <p:nvPr/>
        </p:nvSpPr>
        <p:spPr>
          <a:xfrm flipV="1">
            <a:off x="5036625" y="2248296"/>
            <a:ext cx="348475" cy="986466"/>
          </a:xfrm>
          <a:prstGeom prst="rightArrow">
            <a:avLst>
              <a:gd name="adj1" fmla="val 50000"/>
              <a:gd name="adj2" fmla="val 520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1271" name="Arrow: Right 11270">
            <a:extLst>
              <a:ext uri="{FF2B5EF4-FFF2-40B4-BE49-F238E27FC236}">
                <a16:creationId xmlns:a16="http://schemas.microsoft.com/office/drawing/2014/main" id="{35CC48BA-C638-DCFF-FBAF-5B404AA18630}"/>
              </a:ext>
            </a:extLst>
          </p:cNvPr>
          <p:cNvSpPr/>
          <p:nvPr/>
        </p:nvSpPr>
        <p:spPr>
          <a:xfrm flipV="1">
            <a:off x="7779003" y="2219808"/>
            <a:ext cx="348475" cy="986466"/>
          </a:xfrm>
          <a:prstGeom prst="rightArrow">
            <a:avLst>
              <a:gd name="adj1" fmla="val 50000"/>
              <a:gd name="adj2" fmla="val 520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pic>
        <p:nvPicPr>
          <p:cNvPr id="11272" name="Picture 11271">
            <a:extLst>
              <a:ext uri="{FF2B5EF4-FFF2-40B4-BE49-F238E27FC236}">
                <a16:creationId xmlns:a16="http://schemas.microsoft.com/office/drawing/2014/main" id="{F2FA0426-2455-B715-C3A5-7506884B720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5" r="2312" b="7327"/>
          <a:stretch>
            <a:fillRect/>
          </a:stretch>
        </p:blipFill>
        <p:spPr>
          <a:xfrm>
            <a:off x="8183338" y="5189930"/>
            <a:ext cx="2230653" cy="1665803"/>
          </a:xfrm>
          <a:prstGeom prst="rect">
            <a:avLst/>
          </a:prstGeom>
        </p:spPr>
      </p:pic>
      <p:sp>
        <p:nvSpPr>
          <p:cNvPr id="11278" name="TextBox 11277">
            <a:extLst>
              <a:ext uri="{FF2B5EF4-FFF2-40B4-BE49-F238E27FC236}">
                <a16:creationId xmlns:a16="http://schemas.microsoft.com/office/drawing/2014/main" id="{D874EAAA-43E3-BCD7-8E76-ECA096BC385B}"/>
              </a:ext>
            </a:extLst>
          </p:cNvPr>
          <p:cNvSpPr txBox="1"/>
          <p:nvPr/>
        </p:nvSpPr>
        <p:spPr>
          <a:xfrm>
            <a:off x="8204224" y="4882153"/>
            <a:ext cx="2222500" cy="3077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>
            <a:spAutoFit/>
          </a:bodyPr>
          <a:lstStyle/>
          <a:p>
            <a:pPr algn="ctr">
              <a:defRPr/>
            </a:pPr>
            <a:r>
              <a:rPr lang="id-ID" sz="1400" dirty="0"/>
              <a:t>AREA WIP</a:t>
            </a:r>
            <a:endParaRPr lang="en-ID" sz="1400" dirty="0"/>
          </a:p>
        </p:txBody>
      </p:sp>
      <p:sp>
        <p:nvSpPr>
          <p:cNvPr id="11280" name="Rectangle 11279">
            <a:extLst>
              <a:ext uri="{FF2B5EF4-FFF2-40B4-BE49-F238E27FC236}">
                <a16:creationId xmlns:a16="http://schemas.microsoft.com/office/drawing/2014/main" id="{D7AB5D92-DACC-41BF-731D-26A74E425444}"/>
              </a:ext>
            </a:extLst>
          </p:cNvPr>
          <p:cNvSpPr/>
          <p:nvPr/>
        </p:nvSpPr>
        <p:spPr>
          <a:xfrm>
            <a:off x="5624571" y="1386327"/>
            <a:ext cx="1931250" cy="298964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1281" name="Rectangle 11280">
            <a:extLst>
              <a:ext uri="{FF2B5EF4-FFF2-40B4-BE49-F238E27FC236}">
                <a16:creationId xmlns:a16="http://schemas.microsoft.com/office/drawing/2014/main" id="{808F7B99-6AF5-685D-27FC-EE8169268CC8}"/>
              </a:ext>
            </a:extLst>
          </p:cNvPr>
          <p:cNvSpPr/>
          <p:nvPr/>
        </p:nvSpPr>
        <p:spPr>
          <a:xfrm>
            <a:off x="8333041" y="1322531"/>
            <a:ext cx="1931250" cy="305344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1282" name="Arrow: Right 11281">
            <a:extLst>
              <a:ext uri="{FF2B5EF4-FFF2-40B4-BE49-F238E27FC236}">
                <a16:creationId xmlns:a16="http://schemas.microsoft.com/office/drawing/2014/main" id="{D74E59D4-5D28-9DE7-3C48-62B301D999D1}"/>
              </a:ext>
            </a:extLst>
          </p:cNvPr>
          <p:cNvSpPr/>
          <p:nvPr/>
        </p:nvSpPr>
        <p:spPr>
          <a:xfrm flipH="1" flipV="1">
            <a:off x="7080686" y="5305055"/>
            <a:ext cx="685799" cy="986466"/>
          </a:xfrm>
          <a:prstGeom prst="rightArrow">
            <a:avLst>
              <a:gd name="adj1" fmla="val 50000"/>
              <a:gd name="adj2" fmla="val 520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4A3B4584-A35F-5AAC-5635-26E8005E4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eaLnBrk="1" hangingPunct="1">
              <a:defRPr/>
            </a:pP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</a:t>
            </a:r>
            <a:r>
              <a:rPr lang="en-US" altLang="en-US" b="1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Penyebab</a:t>
            </a: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en-US" b="1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Terjadi</a:t>
            </a:r>
            <a:r>
              <a:rPr lang="en-US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(Why Send)</a:t>
            </a:r>
          </a:p>
        </p:txBody>
      </p:sp>
      <p:sp>
        <p:nvSpPr>
          <p:cNvPr id="13315" name="TextBox 50">
            <a:extLst>
              <a:ext uri="{FF2B5EF4-FFF2-40B4-BE49-F238E27FC236}">
                <a16:creationId xmlns:a16="http://schemas.microsoft.com/office/drawing/2014/main" id="{48DB0951-6DC3-3725-BE5F-739686A756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225" y="546100"/>
            <a:ext cx="2032000" cy="38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Process Analysis</a:t>
            </a:r>
          </a:p>
        </p:txBody>
      </p:sp>
      <p:sp>
        <p:nvSpPr>
          <p:cNvPr id="6" name="Action Button: Home 5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4345158-0C7D-C0FF-AF6A-725BEB802DD7}"/>
              </a:ext>
            </a:extLst>
          </p:cNvPr>
          <p:cNvSpPr/>
          <p:nvPr/>
        </p:nvSpPr>
        <p:spPr>
          <a:xfrm>
            <a:off x="4701665" y="6890395"/>
            <a:ext cx="354012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F09C06-53DD-B75A-7471-92457A161FC5}"/>
              </a:ext>
            </a:extLst>
          </p:cNvPr>
          <p:cNvSpPr txBox="1"/>
          <p:nvPr/>
        </p:nvSpPr>
        <p:spPr>
          <a:xfrm>
            <a:off x="149225" y="1233488"/>
            <a:ext cx="2671334" cy="73866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id-ID" sz="1400" dirty="0"/>
              <a:t>IPQC melakukan pengecheckan satu shoot full di dua periode awal dan akhir</a:t>
            </a:r>
            <a:endParaRPr lang="en-ID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F0157-2E70-8271-F6FB-45629BEFA406}"/>
              </a:ext>
            </a:extLst>
          </p:cNvPr>
          <p:cNvSpPr txBox="1"/>
          <p:nvPr/>
        </p:nvSpPr>
        <p:spPr>
          <a:xfrm>
            <a:off x="7398188" y="1231329"/>
            <a:ext cx="2222500" cy="73866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id-ID" sz="1400" dirty="0"/>
              <a:t>Diakhir shift IPQC melakukan judgement OK pada label WIP</a:t>
            </a:r>
            <a:endParaRPr lang="en-ID" sz="140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DFDF53A-2041-4F36-C408-E78B9F1BCA85}"/>
              </a:ext>
            </a:extLst>
          </p:cNvPr>
          <p:cNvSpPr/>
          <p:nvPr/>
        </p:nvSpPr>
        <p:spPr>
          <a:xfrm>
            <a:off x="2988326" y="1285875"/>
            <a:ext cx="596773" cy="5509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98962-1CEF-4C3C-F37D-07B94425CE32}"/>
              </a:ext>
            </a:extLst>
          </p:cNvPr>
          <p:cNvSpPr txBox="1"/>
          <p:nvPr/>
        </p:nvSpPr>
        <p:spPr>
          <a:xfrm>
            <a:off x="7624621" y="5165519"/>
            <a:ext cx="1219200" cy="3077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400" dirty="0"/>
              <a:t>QC Loss </a:t>
            </a:r>
            <a:r>
              <a:rPr lang="en-US" sz="1400" dirty="0" err="1"/>
              <a:t>cek</a:t>
            </a:r>
            <a:r>
              <a:rPr lang="en-US" sz="1400" dirty="0"/>
              <a:t> </a:t>
            </a:r>
            <a:endParaRPr lang="en-ID" sz="1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B1CD6F-E813-AF51-8B79-5CCB36753A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4" r="3931" b="8710"/>
          <a:stretch>
            <a:fillRect/>
          </a:stretch>
        </p:blipFill>
        <p:spPr>
          <a:xfrm>
            <a:off x="395867" y="1978089"/>
            <a:ext cx="2178049" cy="23621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957282-4780-6D2D-EE50-4065E271B3D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621" y="2004282"/>
            <a:ext cx="1769634" cy="2357246"/>
          </a:xfrm>
          <a:prstGeom prst="rect">
            <a:avLst/>
          </a:prstGeom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741BE3-C32D-1773-3542-20D90C392353}"/>
              </a:ext>
            </a:extLst>
          </p:cNvPr>
          <p:cNvSpPr/>
          <p:nvPr/>
        </p:nvSpPr>
        <p:spPr>
          <a:xfrm>
            <a:off x="6464111" y="1335803"/>
            <a:ext cx="596773" cy="5509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69ECAD7-6FCD-9E5C-CDA2-2F23080068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8" t="9034" r="41662" b="8993"/>
          <a:stretch>
            <a:fillRect/>
          </a:stretch>
        </p:blipFill>
        <p:spPr>
          <a:xfrm>
            <a:off x="6744456" y="5473296"/>
            <a:ext cx="3026671" cy="14317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C10B7F5-2DEF-99EF-863C-38411743E47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8475" y="1933734"/>
            <a:ext cx="1769634" cy="23567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AE4C28-346F-9E80-2C4E-0748EF32530F}"/>
              </a:ext>
            </a:extLst>
          </p:cNvPr>
          <p:cNvSpPr txBox="1"/>
          <p:nvPr/>
        </p:nvSpPr>
        <p:spPr>
          <a:xfrm>
            <a:off x="3814556" y="1313581"/>
            <a:ext cx="2373107" cy="52322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id-ID" sz="1400" dirty="0"/>
              <a:t>IPQC mencatat hasil dari 2 priode pengechekan part</a:t>
            </a:r>
            <a:endParaRPr lang="en-ID" sz="1400" dirty="0"/>
          </a:p>
        </p:txBody>
      </p:sp>
      <p:sp>
        <p:nvSpPr>
          <p:cNvPr id="28" name="Arrow: Curved Left 27">
            <a:extLst>
              <a:ext uri="{FF2B5EF4-FFF2-40B4-BE49-F238E27FC236}">
                <a16:creationId xmlns:a16="http://schemas.microsoft.com/office/drawing/2014/main" id="{B2BED366-FF9D-922B-4C88-04DDF2930D6A}"/>
              </a:ext>
            </a:extLst>
          </p:cNvPr>
          <p:cNvSpPr/>
          <p:nvPr/>
        </p:nvSpPr>
        <p:spPr>
          <a:xfrm>
            <a:off x="10147999" y="2391877"/>
            <a:ext cx="933450" cy="379730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ID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842E8-1FD4-D5DA-00EF-4C3E5D2E8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752AB7B-52BC-5D35-E064-C989593C5D15}"/>
              </a:ext>
            </a:extLst>
          </p:cNvPr>
          <p:cNvSpPr/>
          <p:nvPr/>
        </p:nvSpPr>
        <p:spPr>
          <a:xfrm>
            <a:off x="301625" y="928688"/>
            <a:ext cx="54864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F09BE046-DE9A-1D5A-AAAE-64868D082C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Countermeasure</a:t>
            </a:r>
            <a:r>
              <a:rPr kumimoji="0" lang="id-ID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Why Make</a:t>
            </a:r>
            <a:endParaRPr kumimoji="0" lang="en-US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1ADBD0-5367-A29A-4414-4AF933534D8F}"/>
              </a:ext>
            </a:extLst>
          </p:cNvPr>
          <p:cNvSpPr/>
          <p:nvPr/>
        </p:nvSpPr>
        <p:spPr>
          <a:xfrm>
            <a:off x="758825" y="776288"/>
            <a:ext cx="45720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BEFORE</a:t>
            </a:r>
            <a:endParaRPr kumimoji="0" lang="en-ID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2FA9ED3-3155-9094-A91F-1AF84E145BC2}"/>
              </a:ext>
            </a:extLst>
          </p:cNvPr>
          <p:cNvSpPr/>
          <p:nvPr/>
        </p:nvSpPr>
        <p:spPr>
          <a:xfrm>
            <a:off x="5940425" y="928688"/>
            <a:ext cx="55626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3514D25A-07A3-A79F-9595-DB0AE5BD151E}"/>
              </a:ext>
            </a:extLst>
          </p:cNvPr>
          <p:cNvSpPr/>
          <p:nvPr/>
        </p:nvSpPr>
        <p:spPr>
          <a:xfrm>
            <a:off x="6321425" y="776288"/>
            <a:ext cx="4724400" cy="304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AFTER</a:t>
            </a:r>
            <a:endParaRPr kumimoji="0" lang="en-ID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Action Button: Home 8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EFD6189-AF9D-F397-BBFA-91AE1FAFC471}"/>
              </a:ext>
            </a:extLst>
          </p:cNvPr>
          <p:cNvSpPr/>
          <p:nvPr/>
        </p:nvSpPr>
        <p:spPr>
          <a:xfrm>
            <a:off x="6192838" y="6764338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5BE551-D37D-61BA-5289-3140BB25C93B}"/>
              </a:ext>
            </a:extLst>
          </p:cNvPr>
          <p:cNvSpPr/>
          <p:nvPr/>
        </p:nvSpPr>
        <p:spPr>
          <a:xfrm>
            <a:off x="301625" y="5387975"/>
            <a:ext cx="5486400" cy="996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id-ID" dirty="0">
                <a:solidFill>
                  <a:srgbClr val="000000"/>
                </a:solidFill>
              </a:rPr>
              <a:t>Air gun tidak tersedia di masing-masing mesin</a:t>
            </a:r>
            <a:endParaRPr lang="en-ID" dirty="0">
              <a:solidFill>
                <a:srgbClr val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B04DE-1C0A-BF1E-02A2-053F98DA4B4B}"/>
              </a:ext>
            </a:extLst>
          </p:cNvPr>
          <p:cNvSpPr/>
          <p:nvPr/>
        </p:nvSpPr>
        <p:spPr>
          <a:xfrm>
            <a:off x="5940425" y="5434013"/>
            <a:ext cx="5562600" cy="989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id-ID" dirty="0">
                <a:solidFill>
                  <a:srgbClr val="000000"/>
                </a:solidFill>
              </a:rPr>
              <a:t>Air gun sudah tersedia di masing-masing mesin</a:t>
            </a:r>
            <a:endParaRPr lang="en-ID" dirty="0">
              <a:solidFill>
                <a:srgbClr val="0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77128E-0D89-1718-D5DC-80357111D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031" y="1134269"/>
            <a:ext cx="5150394" cy="40941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885CD2-1122-88AE-47C2-A26A77E541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57" y="1176900"/>
            <a:ext cx="5017968" cy="411622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EE63F533-271A-9717-1564-1BFDCCD7F974}"/>
              </a:ext>
            </a:extLst>
          </p:cNvPr>
          <p:cNvSpPr/>
          <p:nvPr/>
        </p:nvSpPr>
        <p:spPr>
          <a:xfrm>
            <a:off x="3578225" y="2301081"/>
            <a:ext cx="1143000" cy="2514600"/>
          </a:xfrm>
          <a:prstGeom prst="ellipse">
            <a:avLst/>
          </a:prstGeom>
          <a:noFill/>
          <a:ln w="38100">
            <a:solidFill>
              <a:srgbClr val="FF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B4EDC1-A6A5-E9EA-8558-86ADB57A6398}"/>
              </a:ext>
            </a:extLst>
          </p:cNvPr>
          <p:cNvSpPr/>
          <p:nvPr/>
        </p:nvSpPr>
        <p:spPr>
          <a:xfrm rot="21283290">
            <a:off x="8988425" y="2072481"/>
            <a:ext cx="1219200" cy="2590800"/>
          </a:xfrm>
          <a:prstGeom prst="ellipse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7322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301625" y="928688"/>
            <a:ext cx="54864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44" name="Rectangle 4"/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Countermeasure</a:t>
            </a:r>
            <a:r>
              <a:rPr kumimoji="0" lang="id-ID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Why Loose</a:t>
            </a:r>
            <a:endParaRPr kumimoji="0" lang="en-US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825" y="776288"/>
            <a:ext cx="4572000" cy="3048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BEFORE</a:t>
            </a:r>
            <a:endParaRPr kumimoji="0" lang="en-ID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37" name="Rectangle 336"/>
          <p:cNvSpPr/>
          <p:nvPr/>
        </p:nvSpPr>
        <p:spPr>
          <a:xfrm>
            <a:off x="5940425" y="928688"/>
            <a:ext cx="55626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36" name="Rectangle 335"/>
          <p:cNvSpPr/>
          <p:nvPr/>
        </p:nvSpPr>
        <p:spPr>
          <a:xfrm>
            <a:off x="6321425" y="776288"/>
            <a:ext cx="4724400" cy="304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AFTER</a:t>
            </a:r>
            <a:endParaRPr kumimoji="0" lang="en-ID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Action Button: Home 8">
            <a:hlinkClick r:id="rId2" action="ppaction://hlinksldjump" highlightClick="1"/>
          </p:cNvPr>
          <p:cNvSpPr/>
          <p:nvPr/>
        </p:nvSpPr>
        <p:spPr>
          <a:xfrm>
            <a:off x="6192838" y="6764338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591DC-2EAA-AB9F-D7B2-D349C9206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625" y="1430338"/>
            <a:ext cx="5410200" cy="35318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C02BE2C-1ED0-3AD7-3192-5DD3C33F2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68" y="1441145"/>
            <a:ext cx="5375714" cy="34296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D76D84-0F08-61B9-341C-A52D2C495DA2}"/>
              </a:ext>
            </a:extLst>
          </p:cNvPr>
          <p:cNvSpPr/>
          <p:nvPr/>
        </p:nvSpPr>
        <p:spPr>
          <a:xfrm>
            <a:off x="301625" y="5387975"/>
            <a:ext cx="5486400" cy="996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id-ID" dirty="0">
                <a:solidFill>
                  <a:srgbClr val="000000"/>
                </a:solidFill>
              </a:rPr>
              <a:t>Checksheet IPQC belum ada point perhatian terkait pengecheckan sampling secara berkala setiap 1 jam sekali</a:t>
            </a:r>
            <a:endParaRPr lang="en-ID" dirty="0">
              <a:solidFill>
                <a:srgbClr val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0D199-CE03-0CA0-62F1-125462341205}"/>
              </a:ext>
            </a:extLst>
          </p:cNvPr>
          <p:cNvSpPr/>
          <p:nvPr/>
        </p:nvSpPr>
        <p:spPr>
          <a:xfrm>
            <a:off x="5940425" y="5434013"/>
            <a:ext cx="5562600" cy="989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id-ID" dirty="0">
                <a:solidFill>
                  <a:srgbClr val="000000"/>
                </a:solidFill>
              </a:rPr>
              <a:t>Penambahan point perhatian terkait pengecheckan sampling secara berkala setiap 1 jam sekali di checksheet IPQC</a:t>
            </a:r>
            <a:endParaRPr lang="en-ID" dirty="0">
              <a:solidFill>
                <a:srgbClr val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1D4A28-C77D-D008-3B02-445A6A9D88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582" t="97291" r="30024" b="553"/>
          <a:stretch>
            <a:fillRect/>
          </a:stretch>
        </p:blipFill>
        <p:spPr>
          <a:xfrm>
            <a:off x="6484720" y="3846511"/>
            <a:ext cx="4817843" cy="4889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05CCD2F-924D-00B0-6F7E-17327CFCE5A1}"/>
              </a:ext>
            </a:extLst>
          </p:cNvPr>
          <p:cNvSpPr/>
          <p:nvPr/>
        </p:nvSpPr>
        <p:spPr>
          <a:xfrm>
            <a:off x="8074025" y="4867825"/>
            <a:ext cx="1600200" cy="97326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D2C1C5E8-1F0C-9185-0F22-823A745A2ACF}"/>
              </a:ext>
            </a:extLst>
          </p:cNvPr>
          <p:cNvSpPr/>
          <p:nvPr/>
        </p:nvSpPr>
        <p:spPr>
          <a:xfrm>
            <a:off x="8721725" y="4416193"/>
            <a:ext cx="266700" cy="3952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302269-E596-C73E-8557-E38DB330CF86}"/>
              </a:ext>
            </a:extLst>
          </p:cNvPr>
          <p:cNvSpPr/>
          <p:nvPr/>
        </p:nvSpPr>
        <p:spPr>
          <a:xfrm>
            <a:off x="6546851" y="3846512"/>
            <a:ext cx="4755712" cy="48894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/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id-ID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Arial" panose="020B0604020202020204" pitchFamily="34" charset="0"/>
              </a:rPr>
              <a:t>Yokotenkei</a:t>
            </a:r>
            <a:endParaRPr kumimoji="0" lang="en-US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Action Button: Home 11">
            <a:hlinkClick r:id="rId2" action="ppaction://hlinksldjump" highlightClick="1"/>
          </p:cNvPr>
          <p:cNvSpPr/>
          <p:nvPr/>
        </p:nvSpPr>
        <p:spPr>
          <a:xfrm>
            <a:off x="5210990" y="6803074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012220-3454-7D1A-94FF-7FE6E8D7862D}"/>
              </a:ext>
            </a:extLst>
          </p:cNvPr>
          <p:cNvSpPr txBox="1"/>
          <p:nvPr/>
        </p:nvSpPr>
        <p:spPr>
          <a:xfrm>
            <a:off x="3216296" y="1027098"/>
            <a:ext cx="4343400" cy="646331"/>
          </a:xfrm>
          <a:prstGeom prst="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id-ID" dirty="0"/>
              <a:t>Air gun wajib tersedia di masing-masing mesin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68A319-5D71-6990-E36D-60DE84FD3F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503" y="1790802"/>
            <a:ext cx="8001000" cy="458708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1EC724F0-8AED-FC43-0920-4F992F1CBA39}"/>
              </a:ext>
            </a:extLst>
          </p:cNvPr>
          <p:cNvSpPr/>
          <p:nvPr/>
        </p:nvSpPr>
        <p:spPr>
          <a:xfrm>
            <a:off x="5925058" y="2529681"/>
            <a:ext cx="2286000" cy="2514600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3576-618D-7E9E-F28E-EDAE6254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90DFC7A-28F2-75A3-1CF2-4A9CF0E56BEE}"/>
              </a:ext>
            </a:extLst>
          </p:cNvPr>
          <p:cNvSpPr/>
          <p:nvPr/>
        </p:nvSpPr>
        <p:spPr>
          <a:xfrm>
            <a:off x="113312" y="1452881"/>
            <a:ext cx="47244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C4649A13-016D-71A0-2A3E-EF281CBDC3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id-ID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Arial" panose="020B0604020202020204" pitchFamily="34" charset="0"/>
              </a:rPr>
              <a:t>Sosialisasi &amp; Evaluasi</a:t>
            </a:r>
            <a:endParaRPr kumimoji="0" lang="en-US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13BB9419-7331-D745-70D7-5454502E8BC8}"/>
              </a:ext>
            </a:extLst>
          </p:cNvPr>
          <p:cNvSpPr/>
          <p:nvPr/>
        </p:nvSpPr>
        <p:spPr>
          <a:xfrm>
            <a:off x="5940425" y="1446849"/>
            <a:ext cx="55626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Action Button: Home 11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C63ACEE-8C34-0580-1F78-6C29C0566AD4}"/>
              </a:ext>
            </a:extLst>
          </p:cNvPr>
          <p:cNvSpPr/>
          <p:nvPr/>
        </p:nvSpPr>
        <p:spPr>
          <a:xfrm>
            <a:off x="5210990" y="6803074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105706-0F71-701F-DA78-346CFC7C8A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4" t="4366" b="3544"/>
          <a:stretch>
            <a:fillRect/>
          </a:stretch>
        </p:blipFill>
        <p:spPr>
          <a:xfrm>
            <a:off x="554567" y="1697832"/>
            <a:ext cx="3805061" cy="51966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5048AB-D177-9899-F89E-C22AA79FA7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382" y="1688465"/>
            <a:ext cx="5291243" cy="3968432"/>
          </a:xfrm>
          <a:prstGeom prst="rect">
            <a:avLst/>
          </a:prstGeom>
        </p:spPr>
      </p:pic>
      <p:sp>
        <p:nvSpPr>
          <p:cNvPr id="6" name="TextBox 50">
            <a:extLst>
              <a:ext uri="{FF2B5EF4-FFF2-40B4-BE49-F238E27FC236}">
                <a16:creationId xmlns:a16="http://schemas.microsoft.com/office/drawing/2014/main" id="{9C634854-7EAC-7740-CA33-F88452C364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225" y="942478"/>
            <a:ext cx="2653357" cy="387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id-ID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Daftar Hadir Sosialisasi</a:t>
            </a:r>
            <a:endParaRPr lang="en-US" altLang="en-US" sz="1800" b="1" u="sng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50">
            <a:extLst>
              <a:ext uri="{FF2B5EF4-FFF2-40B4-BE49-F238E27FC236}">
                <a16:creationId xmlns:a16="http://schemas.microsoft.com/office/drawing/2014/main" id="{32B00AB3-A13B-A375-72D6-63D57344FB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59625" y="954731"/>
            <a:ext cx="2755436" cy="387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id-ID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Dokumentasi Sosialisasi</a:t>
            </a:r>
            <a:endParaRPr lang="en-US" altLang="en-US" sz="1800" b="1" u="sng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B70115-8452-2845-B598-B0C998F6BB6E}"/>
              </a:ext>
            </a:extLst>
          </p:cNvPr>
          <p:cNvSpPr txBox="1"/>
          <p:nvPr/>
        </p:nvSpPr>
        <p:spPr>
          <a:xfrm>
            <a:off x="6550025" y="5980104"/>
            <a:ext cx="4343400" cy="646331"/>
          </a:xfrm>
          <a:prstGeom prst="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id-ID" dirty="0"/>
              <a:t>Sosialisasi terkait penambahan point sampling pada check sheet IPQC</a:t>
            </a:r>
          </a:p>
        </p:txBody>
      </p:sp>
    </p:spTree>
    <p:extLst>
      <p:ext uri="{BB962C8B-B14F-4D97-AF65-F5344CB8AC3E}">
        <p14:creationId xmlns:p14="http://schemas.microsoft.com/office/powerpoint/2010/main" val="2934896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4527-EB47-4749-2B74-ECFFEF6B7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6E03AF4-8C86-447F-B6EE-1897A64B42CF}"/>
              </a:ext>
            </a:extLst>
          </p:cNvPr>
          <p:cNvSpPr/>
          <p:nvPr/>
        </p:nvSpPr>
        <p:spPr>
          <a:xfrm>
            <a:off x="113312" y="1452881"/>
            <a:ext cx="47244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2D706B0C-389E-B49B-5734-BE57491072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880850" cy="48895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txBody>
          <a:bodyPr wrap="none" lIns="109856" tIns="54928" rIns="109856" bIns="54928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id-ID" altLang="en-US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Arial" panose="020B0604020202020204" pitchFamily="34" charset="0"/>
              </a:rPr>
              <a:t>Sosialisasi &amp; Evaluasi</a:t>
            </a:r>
            <a:endParaRPr kumimoji="0" lang="en-US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1D36DDBD-6256-B516-24F4-8403715A9D05}"/>
              </a:ext>
            </a:extLst>
          </p:cNvPr>
          <p:cNvSpPr/>
          <p:nvPr/>
        </p:nvSpPr>
        <p:spPr>
          <a:xfrm>
            <a:off x="5940425" y="1446849"/>
            <a:ext cx="55626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Action Button: Home 11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7BB25A7-FF26-A8E8-8EB9-09982E731070}"/>
              </a:ext>
            </a:extLst>
          </p:cNvPr>
          <p:cNvSpPr/>
          <p:nvPr/>
        </p:nvSpPr>
        <p:spPr>
          <a:xfrm>
            <a:off x="5210990" y="6803074"/>
            <a:ext cx="354013" cy="26035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0">
            <a:extLst>
              <a:ext uri="{FF2B5EF4-FFF2-40B4-BE49-F238E27FC236}">
                <a16:creationId xmlns:a16="http://schemas.microsoft.com/office/drawing/2014/main" id="{468E5E80-1246-8D45-2C2D-F5B767C658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225" y="942478"/>
            <a:ext cx="2653357" cy="387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id-ID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Daftar Hadir Sosialisasi</a:t>
            </a:r>
            <a:endParaRPr lang="en-US" altLang="en-US" sz="1800" b="1" u="sng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50">
            <a:extLst>
              <a:ext uri="{FF2B5EF4-FFF2-40B4-BE49-F238E27FC236}">
                <a16:creationId xmlns:a16="http://schemas.microsoft.com/office/drawing/2014/main" id="{179F2CEF-FBB6-1EF1-7553-826F824FF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59625" y="954731"/>
            <a:ext cx="2755436" cy="387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09856" tIns="54928" rIns="109856" bIns="54928">
            <a:spAutoFit/>
          </a:bodyPr>
          <a:lstStyle>
            <a:lvl1pPr marL="171450" indent="-171450">
              <a:spcBef>
                <a:spcPct val="20000"/>
              </a:spcBef>
              <a:buChar char="•"/>
              <a:defRPr sz="3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3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id-ID" altLang="en-US" sz="1800" b="1" u="sng" dirty="0">
                <a:solidFill>
                  <a:srgbClr val="000000"/>
                </a:solidFill>
                <a:latin typeface="Calibri" panose="020F0502020204030204" pitchFamily="34" charset="0"/>
              </a:rPr>
              <a:t>Dokumentasi Sosialisasi</a:t>
            </a:r>
            <a:endParaRPr lang="en-US" altLang="en-US" sz="1800" b="1" u="sng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12147-0633-5094-C68C-0A568429EF09}"/>
              </a:ext>
            </a:extLst>
          </p:cNvPr>
          <p:cNvSpPr txBox="1"/>
          <p:nvPr/>
        </p:nvSpPr>
        <p:spPr>
          <a:xfrm>
            <a:off x="6641837" y="6112216"/>
            <a:ext cx="4191000" cy="646331"/>
          </a:xfrm>
          <a:prstGeom prst="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id-ID" dirty="0"/>
              <a:t>Re Edukasi terkait penggunaan air gun setiap 1 shoot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22ED5F-6775-85D2-29C9-667A48EF55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09" b="3767"/>
          <a:stretch>
            <a:fillRect/>
          </a:stretch>
        </p:blipFill>
        <p:spPr>
          <a:xfrm>
            <a:off x="377825" y="1585035"/>
            <a:ext cx="3950777" cy="5295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BEA80E-7C15-D3E5-39F7-783654985F5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49"/>
          <a:stretch>
            <a:fillRect/>
          </a:stretch>
        </p:blipFill>
        <p:spPr>
          <a:xfrm>
            <a:off x="6321425" y="1554714"/>
            <a:ext cx="4801829" cy="4235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901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/>
          <p:nvPr/>
        </p:nvSpPr>
        <p:spPr>
          <a:xfrm>
            <a:off x="0" y="2693988"/>
            <a:ext cx="11880850" cy="1549400"/>
          </a:xfrm>
          <a:prstGeom prst="rect">
            <a:avLst/>
          </a:prstGeom>
          <a:solidFill>
            <a:srgbClr val="336699"/>
          </a:solidFill>
          <a:ln w="9525">
            <a:noFill/>
          </a:ln>
        </p:spPr>
        <p:txBody>
          <a:bodyPr wrap="none" lIns="109856" tIns="54928" rIns="109856" bIns="54928" anchor="ctr" anchorCtr="0"/>
          <a:lstStyle>
            <a:lvl1pPr marL="411480" indent="-41148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2175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350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2780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72055" indent="-27495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ctr" eaLnBrk="1" hangingPunct="1">
              <a:spcBef>
                <a:spcPct val="0"/>
              </a:spcBef>
              <a:buNone/>
            </a:pPr>
            <a:r>
              <a:rPr lang="id-ID" altLang="en-US" sz="5300" b="1" dirty="0">
                <a:solidFill>
                  <a:srgbClr val="D9D9D9"/>
                </a:solidFill>
                <a:latin typeface="Trebuchet MS" panose="020B0603020202020204" pitchFamily="34" charset="0"/>
              </a:rPr>
              <a:t>TERIMAKASIH</a:t>
            </a:r>
            <a:endParaRPr lang="en-US" altLang="en-US" sz="5300" b="1" dirty="0">
              <a:solidFill>
                <a:srgbClr val="D9D9D9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98*192"/>
  <p:tag name="TABLE_ENDDRAG_RECT" val="5*281*498*192"/>
</p:tagLst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859</Words>
  <Application>Microsoft Office PowerPoint</Application>
  <PresentationFormat>Custom</PresentationFormat>
  <Paragraphs>198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 Unicode MS</vt:lpstr>
      <vt:lpstr>Meiryo UI</vt:lpstr>
      <vt:lpstr>Arial</vt:lpstr>
      <vt:lpstr>Arial Black</vt:lpstr>
      <vt:lpstr>Calibri</vt:lpstr>
      <vt:lpstr>Franklin Gothic Book</vt:lpstr>
      <vt:lpstr>Trebuchet MS</vt:lpstr>
      <vt:lpstr>Wingdings</vt:lpstr>
      <vt:lpstr>Default Design</vt:lpstr>
      <vt:lpstr>Problem Analysis &amp; Countermeasure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xj38576</dc:creator>
  <cp:lastModifiedBy>miftakhulyanan14@gmail.com</cp:lastModifiedBy>
  <cp:revision>992</cp:revision>
  <cp:lastPrinted>2026-01-22T02:53:42Z</cp:lastPrinted>
  <dcterms:created xsi:type="dcterms:W3CDTF">2014-04-02T03:34:12Z</dcterms:created>
  <dcterms:modified xsi:type="dcterms:W3CDTF">2026-03-07T03:01:28Z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9C07BAA26FC74439A17408F16E25D8D9_12</vt:lpwstr>
  </property>
  <property fmtid="{D5CDD505-2E9C-101B-9397-08002B2CF9AE}" pid="3" name="KSOProductBuildVer">
    <vt:lpwstr>1057-12.2.0.23196</vt:lpwstr>
  </property>
</Properties>
</file>